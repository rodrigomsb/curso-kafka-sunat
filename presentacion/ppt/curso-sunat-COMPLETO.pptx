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Lst>
  <p:notesMasterIdLst>
    <p:notesMasterId r:id="rId175"/>
  </p:notesMasterIdLst>
  <p:sldIdLst>
    <p:sldId id="256" r:id="rId28"/>
    <p:sldId id="257" r:id="rId29"/>
    <p:sldId id="258" r:id="rId30"/>
    <p:sldId id="259" r:id="rId31"/>
    <p:sldId id="260" r:id="rId32"/>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80" r:id="rId52"/>
    <p:sldId id="281" r:id="rId53"/>
    <p:sldId id="282" r:id="rId54"/>
    <p:sldId id="283" r:id="rId55"/>
    <p:sldId id="284" r:id="rId56"/>
    <p:sldId id="285" r:id="rId57"/>
    <p:sldId id="286" r:id="rId58"/>
    <p:sldId id="287" r:id="rId59"/>
    <p:sldId id="288" r:id="rId60"/>
    <p:sldId id="289" r:id="rId61"/>
    <p:sldId id="290" r:id="rId62"/>
    <p:sldId id="291" r:id="rId63"/>
    <p:sldId id="292" r:id="rId64"/>
    <p:sldId id="293" r:id="rId65"/>
    <p:sldId id="294" r:id="rId66"/>
    <p:sldId id="295" r:id="rId67"/>
    <p:sldId id="296" r:id="rId68"/>
    <p:sldId id="297" r:id="rId69"/>
    <p:sldId id="298" r:id="rId70"/>
    <p:sldId id="299" r:id="rId71"/>
    <p:sldId id="300" r:id="rId72"/>
    <p:sldId id="301" r:id="rId73"/>
    <p:sldId id="302" r:id="rId74"/>
    <p:sldId id="303" r:id="rId75"/>
    <p:sldId id="304" r:id="rId76"/>
    <p:sldId id="305" r:id="rId77"/>
    <p:sldId id="306" r:id="rId78"/>
    <p:sldId id="307" r:id="rId79"/>
    <p:sldId id="308" r:id="rId80"/>
    <p:sldId id="309" r:id="rId81"/>
    <p:sldId id="310" r:id="rId82"/>
    <p:sldId id="311" r:id="rId83"/>
    <p:sldId id="312" r:id="rId84"/>
    <p:sldId id="313" r:id="rId85"/>
    <p:sldId id="314" r:id="rId86"/>
    <p:sldId id="315" r:id="rId87"/>
    <p:sldId id="316" r:id="rId88"/>
    <p:sldId id="317" r:id="rId89"/>
    <p:sldId id="318" r:id="rId90"/>
    <p:sldId id="319" r:id="rId91"/>
    <p:sldId id="320" r:id="rId92"/>
    <p:sldId id="321" r:id="rId93"/>
    <p:sldId id="322" r:id="rId94"/>
    <p:sldId id="323" r:id="rId95"/>
    <p:sldId id="324" r:id="rId96"/>
    <p:sldId id="325" r:id="rId97"/>
    <p:sldId id="326" r:id="rId98"/>
    <p:sldId id="327" r:id="rId99"/>
    <p:sldId id="328" r:id="rId100"/>
    <p:sldId id="329" r:id="rId101"/>
    <p:sldId id="330" r:id="rId102"/>
    <p:sldId id="331" r:id="rId103"/>
    <p:sldId id="332" r:id="rId104"/>
    <p:sldId id="333" r:id="rId105"/>
    <p:sldId id="334" r:id="rId106"/>
    <p:sldId id="335" r:id="rId107"/>
    <p:sldId id="336" r:id="rId108"/>
    <p:sldId id="337" r:id="rId109"/>
    <p:sldId id="338" r:id="rId110"/>
    <p:sldId id="339" r:id="rId111"/>
    <p:sldId id="340" r:id="rId112"/>
    <p:sldId id="341" r:id="rId113"/>
    <p:sldId id="342" r:id="rId114"/>
    <p:sldId id="343" r:id="rId115"/>
    <p:sldId id="344" r:id="rId116"/>
    <p:sldId id="345" r:id="rId117"/>
    <p:sldId id="346" r:id="rId118"/>
    <p:sldId id="347" r:id="rId119"/>
    <p:sldId id="348" r:id="rId120"/>
    <p:sldId id="349" r:id="rId121"/>
    <p:sldId id="350" r:id="rId122"/>
    <p:sldId id="351" r:id="rId123"/>
    <p:sldId id="352" r:id="rId124"/>
    <p:sldId id="353" r:id="rId125"/>
    <p:sldId id="354" r:id="rId126"/>
    <p:sldId id="355" r:id="rId127"/>
    <p:sldId id="356" r:id="rId128"/>
    <p:sldId id="357" r:id="rId129"/>
    <p:sldId id="358" r:id="rId130"/>
    <p:sldId id="359" r:id="rId131"/>
    <p:sldId id="360" r:id="rId132"/>
    <p:sldId id="361" r:id="rId133"/>
    <p:sldId id="362" r:id="rId134"/>
    <p:sldId id="363" r:id="rId135"/>
    <p:sldId id="364" r:id="rId136"/>
    <p:sldId id="365" r:id="rId137"/>
    <p:sldId id="366" r:id="rId138"/>
    <p:sldId id="367" r:id="rId139"/>
    <p:sldId id="368" r:id="rId140"/>
    <p:sldId id="369" r:id="rId141"/>
    <p:sldId id="370" r:id="rId142"/>
    <p:sldId id="371" r:id="rId143"/>
    <p:sldId id="372" r:id="rId144"/>
    <p:sldId id="373" r:id="rId145"/>
    <p:sldId id="374" r:id="rId146"/>
    <p:sldId id="375" r:id="rId147"/>
    <p:sldId id="376" r:id="rId148"/>
    <p:sldId id="377" r:id="rId149"/>
    <p:sldId id="378" r:id="rId150"/>
    <p:sldId id="379" r:id="rId151"/>
    <p:sldId id="380" r:id="rId152"/>
    <p:sldId id="381" r:id="rId153"/>
    <p:sldId id="382" r:id="rId154"/>
    <p:sldId id="383" r:id="rId155"/>
    <p:sldId id="384" r:id="rId156"/>
    <p:sldId id="385" r:id="rId157"/>
    <p:sldId id="386" r:id="rId158"/>
    <p:sldId id="387" r:id="rId159"/>
    <p:sldId id="388" r:id="rId160"/>
    <p:sldId id="389" r:id="rId161"/>
    <p:sldId id="390" r:id="rId162"/>
    <p:sldId id="391" r:id="rId163"/>
    <p:sldId id="392" r:id="rId164"/>
    <p:sldId id="393" r:id="rId165"/>
    <p:sldId id="394" r:id="rId166"/>
    <p:sldId id="395" r:id="rId167"/>
    <p:sldId id="396" r:id="rId168"/>
    <p:sldId id="397" r:id="rId169"/>
    <p:sldId id="398" r:id="rId170"/>
    <p:sldId id="399" r:id="rId171"/>
    <p:sldId id="400" r:id="rId172"/>
    <p:sldId id="401" r:id="rId173"/>
    <p:sldId id="402" r:id="rId174"/>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90.xml"/><Relationship Id="rId21" Type="http://schemas.openxmlformats.org/officeDocument/2006/relationships/slideMaster" Target="slideMasters/slideMaster21.xml"/><Relationship Id="rId42" Type="http://schemas.openxmlformats.org/officeDocument/2006/relationships/slide" Target="slides/slide15.xml"/><Relationship Id="rId63" Type="http://schemas.openxmlformats.org/officeDocument/2006/relationships/slide" Target="slides/slide36.xml"/><Relationship Id="rId84" Type="http://schemas.openxmlformats.org/officeDocument/2006/relationships/slide" Target="slides/slide57.xml"/><Relationship Id="rId138" Type="http://schemas.openxmlformats.org/officeDocument/2006/relationships/slide" Target="slides/slide111.xml"/><Relationship Id="rId159" Type="http://schemas.openxmlformats.org/officeDocument/2006/relationships/slide" Target="slides/slide132.xml"/><Relationship Id="rId170" Type="http://schemas.openxmlformats.org/officeDocument/2006/relationships/slide" Target="slides/slide143.xml"/><Relationship Id="rId107" Type="http://schemas.openxmlformats.org/officeDocument/2006/relationships/slide" Target="slides/slide80.xml"/><Relationship Id="rId11" Type="http://schemas.openxmlformats.org/officeDocument/2006/relationships/slideMaster" Target="slideMasters/slideMaster11.xml"/><Relationship Id="rId32" Type="http://schemas.openxmlformats.org/officeDocument/2006/relationships/slide" Target="slides/slide5.xml"/><Relationship Id="rId53" Type="http://schemas.openxmlformats.org/officeDocument/2006/relationships/slide" Target="slides/slide26.xml"/><Relationship Id="rId74" Type="http://schemas.openxmlformats.org/officeDocument/2006/relationships/slide" Target="slides/slide47.xml"/><Relationship Id="rId128" Type="http://schemas.openxmlformats.org/officeDocument/2006/relationships/slide" Target="slides/slide101.xml"/><Relationship Id="rId149" Type="http://schemas.openxmlformats.org/officeDocument/2006/relationships/slide" Target="slides/slide122.xml"/><Relationship Id="rId5" Type="http://schemas.openxmlformats.org/officeDocument/2006/relationships/slideMaster" Target="slideMasters/slideMaster5.xml"/><Relationship Id="rId95" Type="http://schemas.openxmlformats.org/officeDocument/2006/relationships/slide" Target="slides/slide68.xml"/><Relationship Id="rId160" Type="http://schemas.openxmlformats.org/officeDocument/2006/relationships/slide" Target="slides/slide133.xml"/><Relationship Id="rId22" Type="http://schemas.openxmlformats.org/officeDocument/2006/relationships/slideMaster" Target="slideMasters/slideMaster22.xml"/><Relationship Id="rId43" Type="http://schemas.openxmlformats.org/officeDocument/2006/relationships/slide" Target="slides/slide16.xml"/><Relationship Id="rId64" Type="http://schemas.openxmlformats.org/officeDocument/2006/relationships/slide" Target="slides/slide37.xml"/><Relationship Id="rId118" Type="http://schemas.openxmlformats.org/officeDocument/2006/relationships/slide" Target="slides/slide91.xml"/><Relationship Id="rId139" Type="http://schemas.openxmlformats.org/officeDocument/2006/relationships/slide" Target="slides/slide112.xml"/><Relationship Id="rId85" Type="http://schemas.openxmlformats.org/officeDocument/2006/relationships/slide" Target="slides/slide58.xml"/><Relationship Id="rId150" Type="http://schemas.openxmlformats.org/officeDocument/2006/relationships/slide" Target="slides/slide123.xml"/><Relationship Id="rId171" Type="http://schemas.openxmlformats.org/officeDocument/2006/relationships/slide" Target="slides/slide144.xml"/><Relationship Id="rId12" Type="http://schemas.openxmlformats.org/officeDocument/2006/relationships/slideMaster" Target="slideMasters/slideMaster12.xml"/><Relationship Id="rId33" Type="http://schemas.openxmlformats.org/officeDocument/2006/relationships/slide" Target="slides/slide6.xml"/><Relationship Id="rId108" Type="http://schemas.openxmlformats.org/officeDocument/2006/relationships/slide" Target="slides/slide81.xml"/><Relationship Id="rId129" Type="http://schemas.openxmlformats.org/officeDocument/2006/relationships/slide" Target="slides/slide102.xml"/><Relationship Id="rId54" Type="http://schemas.openxmlformats.org/officeDocument/2006/relationships/slide" Target="slides/slide27.xml"/><Relationship Id="rId75" Type="http://schemas.openxmlformats.org/officeDocument/2006/relationships/slide" Target="slides/slide48.xml"/><Relationship Id="rId96" Type="http://schemas.openxmlformats.org/officeDocument/2006/relationships/slide" Target="slides/slide69.xml"/><Relationship Id="rId140" Type="http://schemas.openxmlformats.org/officeDocument/2006/relationships/slide" Target="slides/slide113.xml"/><Relationship Id="rId161" Type="http://schemas.openxmlformats.org/officeDocument/2006/relationships/slide" Target="slides/slide134.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 Target="slides/slide1.xml"/><Relationship Id="rId49" Type="http://schemas.openxmlformats.org/officeDocument/2006/relationships/slide" Target="slides/slide22.xml"/><Relationship Id="rId114" Type="http://schemas.openxmlformats.org/officeDocument/2006/relationships/slide" Target="slides/slide87.xml"/><Relationship Id="rId119" Type="http://schemas.openxmlformats.org/officeDocument/2006/relationships/slide" Target="slides/slide92.xml"/><Relationship Id="rId44" Type="http://schemas.openxmlformats.org/officeDocument/2006/relationships/slide" Target="slides/slide17.xml"/><Relationship Id="rId60" Type="http://schemas.openxmlformats.org/officeDocument/2006/relationships/slide" Target="slides/slide33.xml"/><Relationship Id="rId65" Type="http://schemas.openxmlformats.org/officeDocument/2006/relationships/slide" Target="slides/slide38.xml"/><Relationship Id="rId81" Type="http://schemas.openxmlformats.org/officeDocument/2006/relationships/slide" Target="slides/slide54.xml"/><Relationship Id="rId86" Type="http://schemas.openxmlformats.org/officeDocument/2006/relationships/slide" Target="slides/slide59.xml"/><Relationship Id="rId130" Type="http://schemas.openxmlformats.org/officeDocument/2006/relationships/slide" Target="slides/slide103.xml"/><Relationship Id="rId135" Type="http://schemas.openxmlformats.org/officeDocument/2006/relationships/slide" Target="slides/slide108.xml"/><Relationship Id="rId151" Type="http://schemas.openxmlformats.org/officeDocument/2006/relationships/slide" Target="slides/slide124.xml"/><Relationship Id="rId156" Type="http://schemas.openxmlformats.org/officeDocument/2006/relationships/slide" Target="slides/slide129.xml"/><Relationship Id="rId177" Type="http://schemas.openxmlformats.org/officeDocument/2006/relationships/viewProps" Target="viewProps.xml"/><Relationship Id="rId172" Type="http://schemas.openxmlformats.org/officeDocument/2006/relationships/slide" Target="slides/slide145.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109" Type="http://schemas.openxmlformats.org/officeDocument/2006/relationships/slide" Target="slides/slide8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slide" Target="slides/slide49.xml"/><Relationship Id="rId97" Type="http://schemas.openxmlformats.org/officeDocument/2006/relationships/slide" Target="slides/slide70.xml"/><Relationship Id="rId104" Type="http://schemas.openxmlformats.org/officeDocument/2006/relationships/slide" Target="slides/slide77.xml"/><Relationship Id="rId120" Type="http://schemas.openxmlformats.org/officeDocument/2006/relationships/slide" Target="slides/slide93.xml"/><Relationship Id="rId125" Type="http://schemas.openxmlformats.org/officeDocument/2006/relationships/slide" Target="slides/slide98.xml"/><Relationship Id="rId141" Type="http://schemas.openxmlformats.org/officeDocument/2006/relationships/slide" Target="slides/slide114.xml"/><Relationship Id="rId146" Type="http://schemas.openxmlformats.org/officeDocument/2006/relationships/slide" Target="slides/slide119.xml"/><Relationship Id="rId167" Type="http://schemas.openxmlformats.org/officeDocument/2006/relationships/slide" Target="slides/slide140.xml"/><Relationship Id="rId7" Type="http://schemas.openxmlformats.org/officeDocument/2006/relationships/slideMaster" Target="slideMasters/slideMaster7.xml"/><Relationship Id="rId71" Type="http://schemas.openxmlformats.org/officeDocument/2006/relationships/slide" Target="slides/slide44.xml"/><Relationship Id="rId92" Type="http://schemas.openxmlformats.org/officeDocument/2006/relationships/slide" Target="slides/slide65.xml"/><Relationship Id="rId162" Type="http://schemas.openxmlformats.org/officeDocument/2006/relationships/slide" Target="slides/slide135.xml"/><Relationship Id="rId2" Type="http://schemas.openxmlformats.org/officeDocument/2006/relationships/slideMaster" Target="slideMasters/slideMaster2.xml"/><Relationship Id="rId29" Type="http://schemas.openxmlformats.org/officeDocument/2006/relationships/slide" Target="slides/slide2.xml"/><Relationship Id="rId24" Type="http://schemas.openxmlformats.org/officeDocument/2006/relationships/slideMaster" Target="slideMasters/slideMaster24.xml"/><Relationship Id="rId40" Type="http://schemas.openxmlformats.org/officeDocument/2006/relationships/slide" Target="slides/slide13.xml"/><Relationship Id="rId45" Type="http://schemas.openxmlformats.org/officeDocument/2006/relationships/slide" Target="slides/slide18.xml"/><Relationship Id="rId66" Type="http://schemas.openxmlformats.org/officeDocument/2006/relationships/slide" Target="slides/slide39.xml"/><Relationship Id="rId87" Type="http://schemas.openxmlformats.org/officeDocument/2006/relationships/slide" Target="slides/slide60.xml"/><Relationship Id="rId110" Type="http://schemas.openxmlformats.org/officeDocument/2006/relationships/slide" Target="slides/slide83.xml"/><Relationship Id="rId115" Type="http://schemas.openxmlformats.org/officeDocument/2006/relationships/slide" Target="slides/slide88.xml"/><Relationship Id="rId131" Type="http://schemas.openxmlformats.org/officeDocument/2006/relationships/slide" Target="slides/slide104.xml"/><Relationship Id="rId136" Type="http://schemas.openxmlformats.org/officeDocument/2006/relationships/slide" Target="slides/slide109.xml"/><Relationship Id="rId157" Type="http://schemas.openxmlformats.org/officeDocument/2006/relationships/slide" Target="slides/slide130.xml"/><Relationship Id="rId178" Type="http://schemas.openxmlformats.org/officeDocument/2006/relationships/theme" Target="theme/theme1.xml"/><Relationship Id="rId61" Type="http://schemas.openxmlformats.org/officeDocument/2006/relationships/slide" Target="slides/slide34.xml"/><Relationship Id="rId82" Type="http://schemas.openxmlformats.org/officeDocument/2006/relationships/slide" Target="slides/slide55.xml"/><Relationship Id="rId152" Type="http://schemas.openxmlformats.org/officeDocument/2006/relationships/slide" Target="slides/slide125.xml"/><Relationship Id="rId173" Type="http://schemas.openxmlformats.org/officeDocument/2006/relationships/slide" Target="slides/slide146.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3.xml"/><Relationship Id="rId35" Type="http://schemas.openxmlformats.org/officeDocument/2006/relationships/slide" Target="slides/slide8.xml"/><Relationship Id="rId56" Type="http://schemas.openxmlformats.org/officeDocument/2006/relationships/slide" Target="slides/slide29.xml"/><Relationship Id="rId77" Type="http://schemas.openxmlformats.org/officeDocument/2006/relationships/slide" Target="slides/slide50.xml"/><Relationship Id="rId100" Type="http://schemas.openxmlformats.org/officeDocument/2006/relationships/slide" Target="slides/slide73.xml"/><Relationship Id="rId105" Type="http://schemas.openxmlformats.org/officeDocument/2006/relationships/slide" Target="slides/slide78.xml"/><Relationship Id="rId126" Type="http://schemas.openxmlformats.org/officeDocument/2006/relationships/slide" Target="slides/slide99.xml"/><Relationship Id="rId147" Type="http://schemas.openxmlformats.org/officeDocument/2006/relationships/slide" Target="slides/slide120.xml"/><Relationship Id="rId168" Type="http://schemas.openxmlformats.org/officeDocument/2006/relationships/slide" Target="slides/slide141.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93" Type="http://schemas.openxmlformats.org/officeDocument/2006/relationships/slide" Target="slides/slide66.xml"/><Relationship Id="rId98" Type="http://schemas.openxmlformats.org/officeDocument/2006/relationships/slide" Target="slides/slide71.xml"/><Relationship Id="rId121" Type="http://schemas.openxmlformats.org/officeDocument/2006/relationships/slide" Target="slides/slide94.xml"/><Relationship Id="rId142" Type="http://schemas.openxmlformats.org/officeDocument/2006/relationships/slide" Target="slides/slide115.xml"/><Relationship Id="rId163" Type="http://schemas.openxmlformats.org/officeDocument/2006/relationships/slide" Target="slides/slide136.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19.xml"/><Relationship Id="rId67" Type="http://schemas.openxmlformats.org/officeDocument/2006/relationships/slide" Target="slides/slide40.xml"/><Relationship Id="rId116" Type="http://schemas.openxmlformats.org/officeDocument/2006/relationships/slide" Target="slides/slide89.xml"/><Relationship Id="rId137" Type="http://schemas.openxmlformats.org/officeDocument/2006/relationships/slide" Target="slides/slide110.xml"/><Relationship Id="rId158" Type="http://schemas.openxmlformats.org/officeDocument/2006/relationships/slide" Target="slides/slide131.xml"/><Relationship Id="rId20" Type="http://schemas.openxmlformats.org/officeDocument/2006/relationships/slideMaster" Target="slideMasters/slideMaster20.xml"/><Relationship Id="rId41" Type="http://schemas.openxmlformats.org/officeDocument/2006/relationships/slide" Target="slides/slide14.xml"/><Relationship Id="rId62" Type="http://schemas.openxmlformats.org/officeDocument/2006/relationships/slide" Target="slides/slide35.xml"/><Relationship Id="rId83" Type="http://schemas.openxmlformats.org/officeDocument/2006/relationships/slide" Target="slides/slide56.xml"/><Relationship Id="rId88" Type="http://schemas.openxmlformats.org/officeDocument/2006/relationships/slide" Target="slides/slide61.xml"/><Relationship Id="rId111" Type="http://schemas.openxmlformats.org/officeDocument/2006/relationships/slide" Target="slides/slide84.xml"/><Relationship Id="rId132" Type="http://schemas.openxmlformats.org/officeDocument/2006/relationships/slide" Target="slides/slide105.xml"/><Relationship Id="rId153" Type="http://schemas.openxmlformats.org/officeDocument/2006/relationships/slide" Target="slides/slide126.xml"/><Relationship Id="rId174" Type="http://schemas.openxmlformats.org/officeDocument/2006/relationships/slide" Target="slides/slide147.xml"/><Relationship Id="rId179" Type="http://schemas.openxmlformats.org/officeDocument/2006/relationships/tableStyles" Target="tableStyles.xml"/><Relationship Id="rId15" Type="http://schemas.openxmlformats.org/officeDocument/2006/relationships/slideMaster" Target="slideMasters/slideMaster15.xml"/><Relationship Id="rId36" Type="http://schemas.openxmlformats.org/officeDocument/2006/relationships/slide" Target="slides/slide9.xml"/><Relationship Id="rId57" Type="http://schemas.openxmlformats.org/officeDocument/2006/relationships/slide" Target="slides/slide30.xml"/><Relationship Id="rId106" Type="http://schemas.openxmlformats.org/officeDocument/2006/relationships/slide" Target="slides/slide79.xml"/><Relationship Id="rId127" Type="http://schemas.openxmlformats.org/officeDocument/2006/relationships/slide" Target="slides/slide100.xml"/><Relationship Id="rId10" Type="http://schemas.openxmlformats.org/officeDocument/2006/relationships/slideMaster" Target="slideMasters/slideMaster10.xml"/><Relationship Id="rId31" Type="http://schemas.openxmlformats.org/officeDocument/2006/relationships/slide" Target="slides/slide4.xml"/><Relationship Id="rId52" Type="http://schemas.openxmlformats.org/officeDocument/2006/relationships/slide" Target="slides/slide25.xml"/><Relationship Id="rId73" Type="http://schemas.openxmlformats.org/officeDocument/2006/relationships/slide" Target="slides/slide46.xml"/><Relationship Id="rId78" Type="http://schemas.openxmlformats.org/officeDocument/2006/relationships/slide" Target="slides/slide51.xml"/><Relationship Id="rId94" Type="http://schemas.openxmlformats.org/officeDocument/2006/relationships/slide" Target="slides/slide67.xml"/><Relationship Id="rId99" Type="http://schemas.openxmlformats.org/officeDocument/2006/relationships/slide" Target="slides/slide72.xml"/><Relationship Id="rId101" Type="http://schemas.openxmlformats.org/officeDocument/2006/relationships/slide" Target="slides/slide74.xml"/><Relationship Id="rId122" Type="http://schemas.openxmlformats.org/officeDocument/2006/relationships/slide" Target="slides/slide95.xml"/><Relationship Id="rId143" Type="http://schemas.openxmlformats.org/officeDocument/2006/relationships/slide" Target="slides/slide116.xml"/><Relationship Id="rId148" Type="http://schemas.openxmlformats.org/officeDocument/2006/relationships/slide" Target="slides/slide121.xml"/><Relationship Id="rId164" Type="http://schemas.openxmlformats.org/officeDocument/2006/relationships/slide" Target="slides/slide137.xml"/><Relationship Id="rId169" Type="http://schemas.openxmlformats.org/officeDocument/2006/relationships/slide" Target="slides/slide142.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Master" Target="slideMasters/slideMaster26.xml"/><Relationship Id="rId47" Type="http://schemas.openxmlformats.org/officeDocument/2006/relationships/slide" Target="slides/slide20.xml"/><Relationship Id="rId68" Type="http://schemas.openxmlformats.org/officeDocument/2006/relationships/slide" Target="slides/slide41.xml"/><Relationship Id="rId89" Type="http://schemas.openxmlformats.org/officeDocument/2006/relationships/slide" Target="slides/slide62.xml"/><Relationship Id="rId112" Type="http://schemas.openxmlformats.org/officeDocument/2006/relationships/slide" Target="slides/slide85.xml"/><Relationship Id="rId133" Type="http://schemas.openxmlformats.org/officeDocument/2006/relationships/slide" Target="slides/slide106.xml"/><Relationship Id="rId154" Type="http://schemas.openxmlformats.org/officeDocument/2006/relationships/slide" Target="slides/slide127.xml"/><Relationship Id="rId175" Type="http://schemas.openxmlformats.org/officeDocument/2006/relationships/notesMaster" Target="notesMasters/notesMaster1.xml"/><Relationship Id="rId16" Type="http://schemas.openxmlformats.org/officeDocument/2006/relationships/slideMaster" Target="slideMasters/slideMaster16.xml"/><Relationship Id="rId37" Type="http://schemas.openxmlformats.org/officeDocument/2006/relationships/slide" Target="slides/slide10.xml"/><Relationship Id="rId58" Type="http://schemas.openxmlformats.org/officeDocument/2006/relationships/slide" Target="slides/slide31.xml"/><Relationship Id="rId79" Type="http://schemas.openxmlformats.org/officeDocument/2006/relationships/slide" Target="slides/slide52.xml"/><Relationship Id="rId102" Type="http://schemas.openxmlformats.org/officeDocument/2006/relationships/slide" Target="slides/slide75.xml"/><Relationship Id="rId123" Type="http://schemas.openxmlformats.org/officeDocument/2006/relationships/slide" Target="slides/slide96.xml"/><Relationship Id="rId144" Type="http://schemas.openxmlformats.org/officeDocument/2006/relationships/slide" Target="slides/slide117.xml"/><Relationship Id="rId90" Type="http://schemas.openxmlformats.org/officeDocument/2006/relationships/slide" Target="slides/slide63.xml"/><Relationship Id="rId165" Type="http://schemas.openxmlformats.org/officeDocument/2006/relationships/slide" Target="slides/slide138.xml"/><Relationship Id="rId27" Type="http://schemas.openxmlformats.org/officeDocument/2006/relationships/slideMaster" Target="slideMasters/slideMaster27.xml"/><Relationship Id="rId48" Type="http://schemas.openxmlformats.org/officeDocument/2006/relationships/slide" Target="slides/slide21.xml"/><Relationship Id="rId69" Type="http://schemas.openxmlformats.org/officeDocument/2006/relationships/slide" Target="slides/slide42.xml"/><Relationship Id="rId113" Type="http://schemas.openxmlformats.org/officeDocument/2006/relationships/slide" Target="slides/slide86.xml"/><Relationship Id="rId134" Type="http://schemas.openxmlformats.org/officeDocument/2006/relationships/slide" Target="slides/slide107.xml"/><Relationship Id="rId80" Type="http://schemas.openxmlformats.org/officeDocument/2006/relationships/slide" Target="slides/slide53.xml"/><Relationship Id="rId155" Type="http://schemas.openxmlformats.org/officeDocument/2006/relationships/slide" Target="slides/slide128.xml"/><Relationship Id="rId176" Type="http://schemas.openxmlformats.org/officeDocument/2006/relationships/presProps" Target="presProps.xml"/><Relationship Id="rId17" Type="http://schemas.openxmlformats.org/officeDocument/2006/relationships/slideMaster" Target="slideMasters/slideMaster17.xml"/><Relationship Id="rId38" Type="http://schemas.openxmlformats.org/officeDocument/2006/relationships/slide" Target="slides/slide11.xml"/><Relationship Id="rId59" Type="http://schemas.openxmlformats.org/officeDocument/2006/relationships/slide" Target="slides/slide32.xml"/><Relationship Id="rId103" Type="http://schemas.openxmlformats.org/officeDocument/2006/relationships/slide" Target="slides/slide76.xml"/><Relationship Id="rId124" Type="http://schemas.openxmlformats.org/officeDocument/2006/relationships/slide" Target="slides/slide97.xml"/><Relationship Id="rId70" Type="http://schemas.openxmlformats.org/officeDocument/2006/relationships/slide" Target="slides/slide43.xml"/><Relationship Id="rId91" Type="http://schemas.openxmlformats.org/officeDocument/2006/relationships/slide" Target="slides/slide64.xml"/><Relationship Id="rId145" Type="http://schemas.openxmlformats.org/officeDocument/2006/relationships/slide" Target="slides/slide118.xml"/><Relationship Id="rId166" Type="http://schemas.openxmlformats.org/officeDocument/2006/relationships/slide" Target="slides/slide13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s-MX" sz="1800" b="0" strike="noStrike" spc="-1">
                <a:solidFill>
                  <a:schemeClr val="dk1"/>
                </a:solidFill>
                <a:latin typeface="Calibri"/>
              </a:rPr>
              <a:t>Click to move the slide</a:t>
            </a:r>
          </a:p>
        </p:txBody>
      </p:sp>
      <p:sp>
        <p:nvSpPr>
          <p:cNvPr id="14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14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4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4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4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9764898E-6C9F-4549-A7E6-EDAA7968557F}" type="slidenum">
              <a:rPr lang="en-US" sz="1400" b="0" strike="noStrike" spc="-1">
                <a:solidFill>
                  <a:srgbClr val="000000"/>
                </a:solidFill>
                <a:latin typeface="Times New Roman"/>
              </a:rPr>
              <a:t>‹Nº›</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Presentación personal breve. CCAAK + experiencia dictando Kafka. Encuadre senior: "ya administran infraestructura; acá operamos Kafka 4.2 en KRaft, sin ZooKeeper".</a:t>
            </a:r>
          </a:p>
        </p:txBody>
      </p:sp>
      <p:sp>
        <p:nvSpPr>
          <p:cNvPr id="48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33C17E4-59FA-4ED9-999B-013ECCF0C697}" type="slidenum">
              <a:rPr lang="es-MX" sz="1200" b="0" strike="noStrike" spc="-1">
                <a:solidFill>
                  <a:srgbClr val="000000"/>
                </a:solidFill>
                <a:latin typeface="Times New Roman"/>
              </a:rPr>
              <a:t>13</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Vender el arco completo. Aclarar: la Unidad 1 es la única de teoría pura; desde la Unidad 2 cada capítulo cierra con laboratorios.</a:t>
            </a:r>
          </a:p>
        </p:txBody>
      </p:sp>
      <p:sp>
        <p:nvSpPr>
          <p:cNvPr id="48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F7D3F19-3ABB-4EF0-8E74-52E4AE3EF18C}" type="slidenum">
              <a:rPr lang="es-MX" sz="1200" b="0" strike="noStrike" spc="-1">
                <a:solidFill>
                  <a:srgbClr val="000000"/>
                </a:solidFill>
                <a:latin typeface="Times New Roman"/>
              </a:rPr>
              <a:t>14</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Apertura de la primera sesión teórica. El "porqué" de Kafka antes del "cómo".</a:t>
            </a:r>
          </a:p>
        </p:txBody>
      </p:sp>
      <p:sp>
        <p:nvSpPr>
          <p:cNvPr id="48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FD40E6A-E405-4949-A8FE-21374ADE8F48}" type="slidenum">
              <a:rPr lang="es-MX" sz="1200" b="0" strike="noStrike" spc="-1">
                <a:solidFill>
                  <a:srgbClr val="000000"/>
                </a:solidFill>
                <a:latin typeface="Times New Roman"/>
              </a:rPr>
              <a:t>15</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NovaTech opera una flota de miles de vehículos. Sus sistemas se hablan directo y frágil. Decisión: una Plataforma de Eventos sobre Kafka. Tópicos: novatech.fleet.events, novatech.fleet.gps.</a:t>
            </a:r>
          </a:p>
        </p:txBody>
      </p:sp>
      <p:sp>
        <p:nvSpPr>
          <p:cNvPr id="48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45B147C-5A46-4452-9B34-B43674A3989C}" type="slidenum">
              <a:rPr lang="es-MX" sz="1200" b="0" strike="noStrike" spc="-1">
                <a:solidFill>
                  <a:srgbClr val="000000"/>
                </a:solidFill>
                <a:latin typeface="Times New Roman"/>
              </a:rPr>
              <a:t>16</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noRot="1" noChangeAspect="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la centralita telefónica de los años 20 — una operadora conectaba cables a mano. Kafka es la central automática: marcas un número (un tópico) sin importar quién contesta.</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49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7931810-B547-4678-8224-CAF4386C8610}" type="slidenum">
              <a:rPr lang="es-MX" sz="1200" b="0" strike="noStrike" spc="-1">
                <a:solidFill>
                  <a:srgbClr val="000000"/>
                </a:solidFill>
                <a:latin typeface="Times New Roman"/>
              </a:rPr>
              <a:t>17</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NovaTech: si registrar un evento GPS exige respuesta de facturación y esta se cae, la flota deja de reportar. Pregunta: ¿cuántos incidentes suyos fueron un timeout en cascada?</a:t>
            </a:r>
          </a:p>
        </p:txBody>
      </p:sp>
      <p:sp>
        <p:nvSpPr>
          <p:cNvPr id="49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ABB0219-10CC-4F82-88D4-EAE5E69DF0FE}" type="slidenum">
              <a:rPr lang="es-MX" sz="1200" b="0" strike="noStrike" spc="-1">
                <a:solidFill>
                  <a:srgbClr val="000000"/>
                </a:solidFill>
                <a:latin typeface="Times New Roman"/>
              </a:rPr>
              <a:t>18</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Recalcar el de flujo: productor rápido + consumidor lento coexisten porque el log amortigua. Reaparece en el Lab 07.</a:t>
            </a:r>
          </a:p>
        </p:txBody>
      </p:sp>
      <p:sp>
        <p:nvSpPr>
          <p:cNvPr id="49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3094FF3-5656-462A-BA2C-6699B5315634}" type="slidenum">
              <a:rPr lang="es-MX" sz="1200" b="0" strike="noStrike" spc="-1">
                <a:solidFill>
                  <a:srgbClr val="000000"/>
                </a:solidFill>
                <a:latin typeface="Times New Roman"/>
              </a:rPr>
              <a:t>19</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malentendido #1. La cola es un buzón (sacas la carta y ya no está); el log es el diario mural (la noticia queda, cada lector recuerda por dónde iba). El offset es ese "por dónde iba".</a:t>
            </a:r>
          </a:p>
        </p:txBody>
      </p:sp>
      <p:sp>
        <p:nvSpPr>
          <p:cNvPr id="50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8A2F2E8-CBFD-4339-917B-A491E31B34C3}" type="slidenum">
              <a:rPr lang="es-MX" sz="1200" b="0" strike="noStrike" spc="-1">
                <a:solidFill>
                  <a:srgbClr val="000000"/>
                </a:solidFill>
                <a:latin typeface="Times New Roman"/>
              </a:rPr>
              <a:t>20</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Sembrar para Unidad 3: la clave decide la partición.</a:t>
            </a:r>
          </a:p>
        </p:txBody>
      </p:sp>
      <p:sp>
        <p:nvSpPr>
          <p:cNvPr id="50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A646951F-7307-4748-80DB-AD9129A30EE2}" type="slidenum">
              <a:rPr lang="es-MX" sz="1200" b="0" strike="noStrike" spc="-1">
                <a:solidFill>
                  <a:srgbClr val="000000"/>
                </a:solidFill>
                <a:latin typeface="Times New Roman"/>
              </a:rPr>
              <a:t>21</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libro de bitácora de un barco — nadie borra ni reordena. Cierre de la sesión 1 en el último bullet: recoger 2-3 respuestas de "¿qué sistema suyo se beneficiaría más de desacoplar?"</a:t>
            </a:r>
          </a:p>
        </p:txBody>
      </p:sp>
      <p:sp>
        <p:nvSpPr>
          <p:cNvPr id="50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81B4683-8100-4D7B-BE81-7167BA55B11B}" type="slidenum">
              <a:rPr lang="es-MX" sz="1200" b="0" strike="noStrike" spc="-1">
                <a:solidFill>
                  <a:srgbClr val="000000"/>
                </a:solidFill>
                <a:latin typeface="Times New Roman"/>
              </a:rPr>
              <a:t>22</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Segunda sesión teórica: del concepto del log a la arquitectura distribuida real.</a:t>
            </a:r>
          </a:p>
        </p:txBody>
      </p:sp>
      <p:sp>
        <p:nvSpPr>
          <p:cNvPr id="51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A2DD8CBD-39C6-4F0E-963F-6BA5D64F4807}" type="slidenum">
              <a:rPr lang="es-MX" sz="1200" b="0" strike="noStrike" spc="-1">
                <a:solidFill>
                  <a:srgbClr val="000000"/>
                </a:solidFill>
                <a:latin typeface="Times New Roman"/>
              </a:rPr>
              <a:t>23</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noRot="1" noChangeAspect="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Presentar el elenco completo antes de ir pieza por pieza. Todo lo que aparezca lo levantan con sus manos desde la Unidad 2. Mapa maestro del plano de datos.</a:t>
            </a:r>
          </a:p>
        </p:txBody>
      </p:sp>
      <p:sp>
        <p:nvSpPr>
          <p:cNvPr id="51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7C0DC4D-9A8E-45FC-9108-E6848C9D3095}" type="slidenum">
              <a:rPr lang="es-MX" sz="1200" b="0" strike="noStrike" spc="-1">
                <a:solidFill>
                  <a:srgbClr val="000000"/>
                </a:solidFill>
                <a:latin typeface="Times New Roman"/>
              </a:rPr>
              <a:t>24</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noRot="1" noChangeAspect="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las cajas de un supermercado — más cajas atienden en paralelo, pero el orden solo existe dentro de la fila de cada caja; la clave decide a qué caja va. Dibujar novatech.fleet.events en 3 particiones.</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51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C3880CB-DFBC-4FAD-81FA-594ED78A3601}" type="slidenum">
              <a:rPr lang="es-MX" sz="1200" b="0" strike="noStrike" spc="-1">
                <a:solidFill>
                  <a:srgbClr val="000000"/>
                </a:solidFill>
                <a:latin typeface="Times New Roman"/>
              </a:rPr>
              <a:t>25</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Sembrar el consumer group sin agotarlo: un grupo es un equipo que se reparte las particiones; entra un miembro y Kafka reasigna solo.</a:t>
            </a:r>
          </a:p>
        </p:txBody>
      </p:sp>
      <p:sp>
        <p:nvSpPr>
          <p:cNvPr id="519"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0D75395-1372-4374-B761-70540251753E}" type="slidenum">
              <a:rPr lang="es-MX" sz="1200" b="0" strike="noStrike" spc="-1">
                <a:solidFill>
                  <a:srgbClr val="000000"/>
                </a:solidFill>
                <a:latin typeface="Times New Roman"/>
              </a:rPr>
              <a:t>26</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PlaceHolder 1"/>
          <p:cNvSpPr>
            <a:spLocks noGrp="1" noRot="1" noChangeAspect="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En operación: un consumidor cae y vuelve → retoma desde su último offset confirmado. Base de la resiliencia prometida.</a:t>
            </a:r>
          </a:p>
        </p:txBody>
      </p:sp>
      <p:sp>
        <p:nvSpPr>
          <p:cNvPr id="522"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2DA7396-FF7D-4430-B7F1-AAE442E71034}" type="slidenum">
              <a:rPr lang="es-MX" sz="1200" b="0" strike="noStrike" spc="-1">
                <a:solidFill>
                  <a:srgbClr val="000000"/>
                </a:solidFill>
                <a:latin typeface="Times New Roman"/>
              </a:rPr>
              <a:t>27</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noRot="1" noChangeAspect="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el escriba y sus copistas — el escriba (líder) redacta; los copistas al día (ISR) transcriben; si el escriba enferma, un copista AL DÍA toma la pluma. Estar replicado no basta: hay que estar replicado Y al día.</a:t>
            </a:r>
          </a:p>
        </p:txBody>
      </p:sp>
      <p:sp>
        <p:nvSpPr>
          <p:cNvPr id="525"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0A57C67-5534-440A-B3FD-1AAD0DF73190}" type="slidenum">
              <a:rPr lang="es-MX" sz="1200" b="0" strike="noStrike" spc="-1">
                <a:solidFill>
                  <a:srgbClr val="000000"/>
                </a:solidFill>
                <a:latin typeface="Times New Roman"/>
              </a:rPr>
              <a:t>28</a:t>
            </a:fld>
            <a:endParaRPr lang="en-US"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PlaceHolder 1"/>
          <p:cNvSpPr>
            <a:spLocks noGrp="1" noRot="1" noChangeAspect="1"/>
          </p:cNvSpPr>
          <p:nvPr>
            <p:ph type="sldImg"/>
          </p:nvPr>
        </p:nvSpPr>
        <p:spPr>
          <a:xfrm>
            <a:off x="685800" y="1143000"/>
            <a:ext cx="5486040" cy="3085920"/>
          </a:xfrm>
          <a:prstGeom prst="rect">
            <a:avLst/>
          </a:prstGeom>
          <a:ln w="0">
            <a:noFill/>
          </a:ln>
        </p:spPr>
      </p:sp>
      <p:sp>
        <p:nvSpPr>
          <p:cNvPr id="5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NO agotar números (Unidad 3 / Lab 14). Modelo mental: durabilidad y disponibilidad son una balanza. Dibujar la balanza. Prometer el experimento del capstone.</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52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F37A0B9-5943-44EB-8D2D-A499DB1D9484}" type="slidenum">
              <a:rPr lang="es-MX" sz="1200" b="0" strike="noStrike" spc="-1">
                <a:solidFill>
                  <a:srgbClr val="000000"/>
                </a:solidFill>
                <a:latin typeface="Times New Roman"/>
              </a:rPr>
              <a:t>29</a:t>
            </a:fld>
            <a:endParaRPr lang="en-US"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PlaceHolder 1"/>
          <p:cNvSpPr>
            <a:spLocks noGrp="1" noRot="1" noChangeAspect="1"/>
          </p:cNvSpPr>
          <p:nvPr>
            <p:ph type="sldImg"/>
          </p:nvPr>
        </p:nvSpPr>
        <p:spPr>
          <a:xfrm>
            <a:off x="685800" y="1143000"/>
            <a:ext cx="5486040" cy="3085920"/>
          </a:xfrm>
          <a:prstGeom prst="rect">
            <a:avLst/>
          </a:prstGeom>
          <a:ln w="0">
            <a:noFill/>
          </a:ln>
        </p:spPr>
      </p:sp>
      <p:sp>
        <p:nvSpPr>
          <p:cNvPr id="5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"wow" honesto. NovaTech: el broker de la zona norte se apaga; en segundos otro es líder y los camiones siguen reportando. Este flujo se prueba en el Lab 14. Dibujar 3 viñetas: sano → líder tachado → nuevo líder.</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531"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AC50EAE-D352-4FEA-86CD-A54161231224}" type="slidenum">
              <a:rPr lang="es-MX" sz="1200" b="0" strike="noStrike" spc="-1">
                <a:solidFill>
                  <a:srgbClr val="000000"/>
                </a:solidFill>
                <a:latin typeface="Times New Roman"/>
              </a:rPr>
              <a:t>30</a:t>
            </a:fld>
            <a:endParaRPr lang="en-US" sz="12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noRot="1" noChangeAspect="1"/>
          </p:cNvSpPr>
          <p:nvPr>
            <p:ph type="sldImg"/>
          </p:nvPr>
        </p:nvSpPr>
        <p:spPr>
          <a:xfrm>
            <a:off x="685800" y="1143000"/>
            <a:ext cx="5486040" cy="3085920"/>
          </a:xfrm>
          <a:prstGeom prst="rect">
            <a:avLst/>
          </a:prstGeom>
          <a:ln w="0">
            <a:noFill/>
          </a:ln>
        </p:spPr>
      </p:sp>
      <p:sp>
        <p:nvSpPr>
          <p:cNvPr id="5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de la sesión 2 con hambre: en la Unidad 2 encendemos el primer clúster. Honestidad de ingeniería: no vender Kafka como indestructible.</a:t>
            </a:r>
          </a:p>
        </p:txBody>
      </p:sp>
      <p:sp>
        <p:nvSpPr>
          <p:cNvPr id="534"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BE92931-28FC-4566-A79B-DD19707F5761}" type="slidenum">
              <a:rPr lang="es-MX" sz="1200" b="0" strike="noStrike" spc="-1">
                <a:solidFill>
                  <a:srgbClr val="000000"/>
                </a:solidFill>
                <a:latin typeface="Times New Roman"/>
              </a:rPr>
              <a:t>31</a:t>
            </a:fld>
            <a:endParaRPr lang="en-US" sz="12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PlaceHolder 1"/>
          <p:cNvSpPr>
            <a:spLocks noGrp="1" noRot="1" noChangeAspect="1"/>
          </p:cNvSpPr>
          <p:nvPr>
            <p:ph type="sldImg"/>
          </p:nvPr>
        </p:nvSpPr>
        <p:spPr>
          <a:xfrm>
            <a:off x="685800" y="1143000"/>
            <a:ext cx="5486040" cy="3085920"/>
          </a:xfrm>
          <a:prstGeom prst="rect">
            <a:avLst/>
          </a:prstGeom>
          <a:ln w="0">
            <a:noFill/>
          </a:ln>
        </p:spPr>
      </p:sp>
      <p:sp>
        <p:nvSpPr>
          <p:cNvPr id="5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Tercera sesión teórica: el ecosistema que rodea el núcleo.</a:t>
            </a:r>
          </a:p>
        </p:txBody>
      </p:sp>
      <p:sp>
        <p:nvSpPr>
          <p:cNvPr id="537"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1CD3E64-02B5-4E56-9DB4-5B400C5AE2E6}" type="slidenum">
              <a:rPr lang="es-MX" sz="1200" b="0" strike="noStrike" spc="-1">
                <a:solidFill>
                  <a:srgbClr val="000000"/>
                </a:solidFill>
                <a:latin typeface="Times New Roman"/>
              </a:rPr>
              <a:t>32</a:t>
            </a:fld>
            <a:endParaRPr lang="en-US" sz="12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PlaceHolder 1"/>
          <p:cNvSpPr>
            <a:spLocks noGrp="1" noRot="1" noChangeAspect="1"/>
          </p:cNvSpPr>
          <p:nvPr>
            <p:ph type="sldImg"/>
          </p:nvPr>
        </p:nvSpPr>
        <p:spPr>
          <a:xfrm>
            <a:off x="685800" y="1143000"/>
            <a:ext cx="5486040" cy="3085920"/>
          </a:xfrm>
          <a:prstGeom prst="rect">
            <a:avLst/>
          </a:prstGeom>
          <a:ln w="0">
            <a:noFill/>
          </a:ln>
        </p:spPr>
      </p:sp>
      <p:sp>
        <p:nvSpPr>
          <p:cNvPr id="5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Transparencia: el corazón es Apache Kafka; Confluent es la distro que lo rodea, como una distro de Linux empaqueta el kernel.</a:t>
            </a:r>
          </a:p>
        </p:txBody>
      </p:sp>
      <p:sp>
        <p:nvSpPr>
          <p:cNvPr id="540"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317CC55-A4E8-40E0-AED0-E177E2D1E47A}" type="slidenum">
              <a:rPr lang="es-MX" sz="1200" b="0" strike="noStrike" spc="-1">
                <a:solidFill>
                  <a:srgbClr val="000000"/>
                </a:solidFill>
                <a:latin typeface="Times New Roman"/>
              </a:rPr>
              <a:t>33</a:t>
            </a:fld>
            <a:endParaRPr lang="en-US" sz="12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PlaceHolder 1"/>
          <p:cNvSpPr>
            <a:spLocks noGrp="1" noRot="1" noChangeAspect="1"/>
          </p:cNvSpPr>
          <p:nvPr>
            <p:ph type="sldImg"/>
          </p:nvPr>
        </p:nvSpPr>
        <p:spPr>
          <a:xfrm>
            <a:off x="685800" y="1143000"/>
            <a:ext cx="5486040" cy="3085920"/>
          </a:xfrm>
          <a:prstGeom prst="rect">
            <a:avLst/>
          </a:prstGeom>
          <a:ln w="0">
            <a:noFill/>
          </a:ln>
        </p:spPr>
      </p:sp>
      <p:sp>
        <p:nvSpPr>
          <p:cNvPr id="5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Mapa de las Unidades 3 y 4. Cada anillo es uno o más labs. Reaparece al inicio de la Unidad 4.</a:t>
            </a:r>
          </a:p>
        </p:txBody>
      </p:sp>
      <p:sp>
        <p:nvSpPr>
          <p:cNvPr id="543"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6EBD6AA-77F9-4D82-AB21-BF81C8EA677A}" type="slidenum">
              <a:rPr lang="es-MX" sz="1200" b="0" strike="noStrike" spc="-1">
                <a:solidFill>
                  <a:srgbClr val="000000"/>
                </a:solidFill>
                <a:latin typeface="Times New Roman"/>
              </a:rPr>
              <a:t>34</a:t>
            </a:fld>
            <a:endParaRPr lang="en-US" sz="12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PlaceHolder 1"/>
          <p:cNvSpPr>
            <a:spLocks noGrp="1" noRot="1" noChangeAspect="1"/>
          </p:cNvSpPr>
          <p:nvPr>
            <p:ph type="sldImg"/>
          </p:nvPr>
        </p:nvSpPr>
        <p:spPr>
          <a:xfrm>
            <a:off x="685800" y="1143000"/>
            <a:ext cx="5486040" cy="3085920"/>
          </a:xfrm>
          <a:prstGeom prst="rect">
            <a:avLst/>
          </a:prstGeom>
          <a:ln w="0">
            <a:noFill/>
          </a:ln>
        </p:spPr>
      </p:sp>
      <p:sp>
        <p:nvSpPr>
          <p:cNvPr id="5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Idea ancla: el ecosistema es un mercado y Kafka es la plaza central — cada puesto con su especialidad, todos comercian en la misma plaza.</a:t>
            </a:r>
          </a:p>
        </p:txBody>
      </p:sp>
      <p:sp>
        <p:nvSpPr>
          <p:cNvPr id="546"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52FE68DC-4896-4AEE-92CD-B95B26D493B6}" type="slidenum">
              <a:rPr lang="es-MX" sz="1200" b="0" strike="noStrike" spc="-1">
                <a:solidFill>
                  <a:srgbClr val="000000"/>
                </a:solidFill>
                <a:latin typeface="Times New Roman"/>
              </a:rPr>
              <a:t>35</a:t>
            </a:fld>
            <a:endParaRPr lang="en-US" sz="1200" b="0" strike="noStrike" spc="-1">
              <a:solidFill>
                <a:srgbClr val="000000"/>
              </a:solidFill>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PlaceHolder 1"/>
          <p:cNvSpPr>
            <a:spLocks noGrp="1" noRot="1" noChangeAspect="1"/>
          </p:cNvSpPr>
          <p:nvPr>
            <p:ph type="sldImg"/>
          </p:nvPr>
        </p:nvSpPr>
        <p:spPr>
          <a:xfrm>
            <a:off x="685800" y="1143000"/>
            <a:ext cx="5486040" cy="3085920"/>
          </a:xfrm>
          <a:prstGeom prst="rect">
            <a:avLst/>
          </a:prstGeom>
          <a:ln w="0">
            <a:noFill/>
          </a:ln>
        </p:spPr>
      </p:sp>
      <p:sp>
        <p:nvSpPr>
          <p:cNvPr id="5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NovaTech: el core legado vive en una BD; un source connector lleva sus cambios a Kafka sin programar. Anunciar Lab 13. Connect es el equipo de mudanzas.</a:t>
            </a:r>
          </a:p>
        </p:txBody>
      </p:sp>
      <p:sp>
        <p:nvSpPr>
          <p:cNvPr id="549"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FF729AE-A722-4C74-B7BA-DE200E467E07}" type="slidenum">
              <a:rPr lang="es-MX" sz="1200" b="0" strike="noStrike" spc="-1">
                <a:solidFill>
                  <a:srgbClr val="000000"/>
                </a:solidFill>
                <a:latin typeface="Times New Roman"/>
              </a:rPr>
              <a:t>36</a:t>
            </a:fld>
            <a:endParaRPr lang="en-US" sz="12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noRot="1" noChangeAspect="1"/>
          </p:cNvSpPr>
          <p:nvPr>
            <p:ph type="sldImg"/>
          </p:nvPr>
        </p:nvSpPr>
        <p:spPr>
          <a:xfrm>
            <a:off x="685800" y="1143000"/>
            <a:ext cx="5486040" cy="3085920"/>
          </a:xfrm>
          <a:prstGeom prst="rect">
            <a:avLst/>
          </a:prstGeom>
          <a:ln w="0">
            <a:noFill/>
          </a:ln>
        </p:spPr>
      </p:sp>
      <p:sp>
        <p:nvSpPr>
          <p:cNvPr id="5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notario: antes de que un productor cambie la forma de sus eventos, verifica que no deje "sin poder leer" a nadie. Anunciar Lab 11.</a:t>
            </a:r>
          </a:p>
        </p:txBody>
      </p:sp>
      <p:sp>
        <p:nvSpPr>
          <p:cNvPr id="552"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E83AD7E-A7FC-45E6-9A0B-B33E695DFDE3}" type="slidenum">
              <a:rPr lang="es-MX" sz="1200" b="0" strike="noStrike" spc="-1">
                <a:solidFill>
                  <a:srgbClr val="000000"/>
                </a:solidFill>
                <a:latin typeface="Times New Roman"/>
              </a:rPr>
              <a:t>37</a:t>
            </a:fld>
            <a:endParaRPr lang="en-US" sz="1200" b="0" strike="noStrike" spc="-1">
              <a:solidFill>
                <a:srgbClr val="000000"/>
              </a:solidFill>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PlaceHolder 1"/>
          <p:cNvSpPr>
            <a:spLocks noGrp="1" noRot="1" noChangeAspect="1"/>
          </p:cNvSpPr>
          <p:nvPr>
            <p:ph type="sldImg"/>
          </p:nvPr>
        </p:nvSpPr>
        <p:spPr>
          <a:xfrm>
            <a:off x="685800" y="1143000"/>
            <a:ext cx="5486040" cy="3085920"/>
          </a:xfrm>
          <a:prstGeom prst="rect">
            <a:avLst/>
          </a:prstGeom>
          <a:ln w="0">
            <a:noFill/>
          </a:ln>
        </p:spPr>
      </p:sp>
      <p:sp>
        <p:nvSpPr>
          <p:cNvPr id="5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ksqlDB: la foto vs la película. REST Proxy: no para alto throughput.</a:t>
            </a:r>
          </a:p>
        </p:txBody>
      </p:sp>
      <p:sp>
        <p:nvSpPr>
          <p:cNvPr id="555"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845956B-F51C-4828-AF06-2AB1936241BC}" type="slidenum">
              <a:rPr lang="es-MX" sz="1200" b="0" strike="noStrike" spc="-1">
                <a:solidFill>
                  <a:srgbClr val="000000"/>
                </a:solidFill>
                <a:latin typeface="Times New Roman"/>
              </a:rPr>
              <a:t>38</a:t>
            </a:fld>
            <a:endParaRPr lang="en-US" sz="1200" b="0" strike="noStrike" spc="-1">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PlaceHolder 1"/>
          <p:cNvSpPr>
            <a:spLocks noGrp="1" noRot="1" noChangeAspect="1"/>
          </p:cNvSpPr>
          <p:nvPr>
            <p:ph type="sldImg"/>
          </p:nvPr>
        </p:nvSpPr>
        <p:spPr>
          <a:xfrm>
            <a:off x="685800" y="1143000"/>
            <a:ext cx="5486040" cy="3085920"/>
          </a:xfrm>
          <a:prstGeom prst="rect">
            <a:avLst/>
          </a:prstGeom>
          <a:ln w="0">
            <a:noFill/>
          </a:ln>
        </p:spPr>
      </p:sp>
      <p:sp>
        <p:nvSpPr>
          <p:cNvPr id="5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Transparencia técnica: separa un curso actualizado de uno copiado.</a:t>
            </a:r>
          </a:p>
        </p:txBody>
      </p:sp>
      <p:sp>
        <p:nvSpPr>
          <p:cNvPr id="558"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F384DEF-7B8C-4E2C-91CC-EFE41BD4C6B9}" type="slidenum">
              <a:rPr lang="es-MX" sz="1200" b="0" strike="noStrike" spc="-1">
                <a:solidFill>
                  <a:srgbClr val="000000"/>
                </a:solidFill>
                <a:latin typeface="Times New Roman"/>
              </a:rPr>
              <a:t>39</a:t>
            </a:fld>
            <a:endParaRPr lang="en-US" sz="1200" b="0" strike="noStrike" spc="-1">
              <a:solidFill>
                <a:srgbClr val="000000"/>
              </a:solidFill>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PlaceHolder 1"/>
          <p:cNvSpPr>
            <a:spLocks noGrp="1" noRot="1" noChangeAspect="1"/>
          </p:cNvSpPr>
          <p:nvPr>
            <p:ph type="sldImg"/>
          </p:nvPr>
        </p:nvSpPr>
        <p:spPr>
          <a:xfrm>
            <a:off x="685800" y="1143000"/>
            <a:ext cx="5486040" cy="3085920"/>
          </a:xfrm>
          <a:prstGeom prst="rect">
            <a:avLst/>
          </a:prstGeom>
          <a:ln w="0">
            <a:noFill/>
          </a:ln>
        </p:spPr>
      </p:sp>
      <p:sp>
        <p:nvSpPr>
          <p:cNvPr id="5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de credibilidad: versiones reales y verificadas. Stack: Kafka 4.2, CP 8.2.0, KRaft, Java 21, Docker, cp-kafka:8.2.0, Kafbat UI. Anticipa que cada componente del catálogo tiene su lab en las Unidades 3-4.</a:t>
            </a:r>
          </a:p>
        </p:txBody>
      </p:sp>
      <p:sp>
        <p:nvSpPr>
          <p:cNvPr id="561"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392FB69-A98A-4D5F-9B37-BD89ADD03CAA}" type="slidenum">
              <a:rPr lang="es-MX" sz="1200" b="0" strike="noStrike" spc="-1">
                <a:solidFill>
                  <a:srgbClr val="000000"/>
                </a:solidFill>
                <a:latin typeface="Times New Roman"/>
              </a:rPr>
              <a:t>40</a:t>
            </a:fld>
            <a:endParaRPr lang="en-US" sz="1200" b="0" strike="noStrike" spc="-1">
              <a:solidFill>
                <a:srgbClr val="000000"/>
              </a:solidFill>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noRot="1" noChangeAspect="1"/>
          </p:cNvSpPr>
          <p:nvPr>
            <p:ph type="sldImg"/>
          </p:nvPr>
        </p:nvSpPr>
        <p:spPr>
          <a:xfrm>
            <a:off x="685800" y="1143000"/>
            <a:ext cx="5486040" cy="3085920"/>
          </a:xfrm>
          <a:prstGeom prst="rect">
            <a:avLst/>
          </a:prstGeom>
          <a:ln w="0">
            <a:noFill/>
          </a:ln>
        </p:spPr>
      </p:sp>
      <p:sp>
        <p:nvSpPr>
          <p:cNvPr id="5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Único resumen del capítulo, al cierre. Preguntas de discusión: ¿qué integran hoy de forma síncrona que dolería desacoplar? ¿Quién operó ZooKeeper y quiere contrastar? Recordar prerrequisitos de lab (Docker listo) antes de la Unidad 2.</a:t>
            </a:r>
          </a:p>
        </p:txBody>
      </p:sp>
      <p:sp>
        <p:nvSpPr>
          <p:cNvPr id="564"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AAAF7F5-74D8-4827-B5A9-09DFFFF580C1}" type="slidenum">
              <a:rPr lang="es-MX" sz="1200" b="0" strike="noStrike" spc="-1">
                <a:solidFill>
                  <a:srgbClr val="000000"/>
                </a:solidFill>
                <a:latin typeface="Times New Roman"/>
              </a:rPr>
              <a:t>41</a:t>
            </a:fld>
            <a:endParaRPr lang="en-US" sz="1200" b="0" strike="noStrike" spc="-1">
              <a:solidFill>
                <a:srgbClr val="000000"/>
              </a:solidFill>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noRot="1" noChangeAspect="1"/>
          </p:cNvSpPr>
          <p:nvPr>
            <p:ph type="sldImg"/>
          </p:nvPr>
        </p:nvSpPr>
        <p:spPr>
          <a:xfrm>
            <a:off x="685800" y="1143000"/>
            <a:ext cx="5486040" cy="3085920"/>
          </a:xfrm>
          <a:prstGeom prst="rect">
            <a:avLst/>
          </a:prstGeom>
          <a:ln w="0">
            <a:noFill/>
          </a:ln>
        </p:spPr>
      </p:sp>
      <p:sp>
        <p:nvSpPr>
          <p:cNvPr id="5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 única práctica de la U1 (sin lab numerado según temario): certificar el entorno. Guiar en vivo: docker --version, docker compose version, docker run hello-world, recursos asignados en Docker Desktop. Sin esto, el Lab 01 no arranca.</a:t>
            </a:r>
          </a:p>
        </p:txBody>
      </p:sp>
      <p:sp>
        <p:nvSpPr>
          <p:cNvPr id="56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673409D-B3C5-41E1-BACE-0DF36DECA5E9}" type="slidenum">
              <a:rPr lang="es-MX" sz="1200" b="0" strike="noStrike" spc="-1">
                <a:solidFill>
                  <a:srgbClr val="000000"/>
                </a:solidFill>
                <a:latin typeface="Times New Roman"/>
              </a:rPr>
              <a:t>42</a:t>
            </a:fld>
            <a:endParaRPr lang="en-US" sz="1200" b="0" strike="noStrike" spc="-1">
              <a:solidFill>
                <a:srgbClr val="000000"/>
              </a:solidFill>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p:cNvSpPr>
            <a:spLocks noGrp="1" noRot="1" noChangeAspect="1"/>
          </p:cNvSpPr>
          <p:nvPr>
            <p:ph type="sldImg"/>
          </p:nvPr>
        </p:nvSpPr>
        <p:spPr>
          <a:xfrm>
            <a:off x="685800" y="1143000"/>
            <a:ext cx="5486040" cy="3085920"/>
          </a:xfrm>
          <a:prstGeom prst="rect">
            <a:avLst/>
          </a:prstGeom>
          <a:ln w="0">
            <a:noFill/>
          </a:ln>
        </p:spPr>
      </p:sp>
      <p:sp>
        <p:nvSpPr>
          <p:cNvPr id="5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Checklist de cierre. El alumno que termina esta validación tiene garantizado que los 14 labs corren en su máquina. Recoger manos levantadas: ¿alguien con Docker en versión vieja o recursos cortos? Resolver AHORA, no en el Lab 01.</a:t>
            </a:r>
          </a:p>
        </p:txBody>
      </p:sp>
      <p:sp>
        <p:nvSpPr>
          <p:cNvPr id="570"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E71C8F5-C535-47D5-8BB7-03640544DEF2}" type="slidenum">
              <a:rPr lang="es-MX" sz="1200" b="0" strike="noStrike" spc="-1">
                <a:solidFill>
                  <a:srgbClr val="000000"/>
                </a:solidFill>
                <a:latin typeface="Times New Roman"/>
              </a:rPr>
              <a:t>43</a:t>
            </a:fld>
            <a:endParaRPr lang="en-US" sz="1200" b="0" strike="noStrike" spc="-1">
              <a:solidFill>
                <a:srgbClr val="000000"/>
              </a:solidFill>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PlaceHolder 1"/>
          <p:cNvSpPr>
            <a:spLocks noGrp="1" noRot="1" noChangeAspect="1"/>
          </p:cNvSpPr>
          <p:nvPr>
            <p:ph type="sldImg"/>
          </p:nvPr>
        </p:nvSpPr>
        <p:spPr>
          <a:xfrm>
            <a:off x="685800" y="1143000"/>
            <a:ext cx="5486040" cy="3085920"/>
          </a:xfrm>
          <a:prstGeom prst="rect">
            <a:avLst/>
          </a:prstGeom>
          <a:ln w="0">
            <a:noFill/>
          </a:ln>
        </p:spPr>
      </p:sp>
      <p:sp>
        <p:nvSpPr>
          <p:cNvPr id="5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Referencias validadas: repos y docs verificados en línea (julio 2026).</a:t>
            </a:r>
          </a:p>
        </p:txBody>
      </p:sp>
      <p:sp>
        <p:nvSpPr>
          <p:cNvPr id="573"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EB784C3-09B2-425F-A7D6-50A639638F88}" type="slidenum">
              <a:rPr lang="es-MX" sz="1200" b="0" strike="noStrike" spc="-1">
                <a:solidFill>
                  <a:srgbClr val="000000"/>
                </a:solidFill>
                <a:latin typeface="Times New Roman"/>
              </a:rPr>
              <a:t>44</a:t>
            </a:fld>
            <a:endParaRPr lang="en-US" sz="1200" b="0" strike="noStrike" spc="-1">
              <a:solidFill>
                <a:srgbClr val="000000"/>
              </a:solidFill>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PlaceHolder 1"/>
          <p:cNvSpPr>
            <a:spLocks noGrp="1" noRot="1" noChangeAspect="1"/>
          </p:cNvSpPr>
          <p:nvPr>
            <p:ph type="sldImg"/>
          </p:nvPr>
        </p:nvSpPr>
        <p:spPr>
          <a:xfrm>
            <a:off x="685800" y="1143000"/>
            <a:ext cx="5486040" cy="3085920"/>
          </a:xfrm>
          <a:prstGeom prst="rect">
            <a:avLst/>
          </a:prstGeom>
          <a:ln w="0">
            <a:noFill/>
          </a:ln>
        </p:spPr>
      </p:sp>
      <p:sp>
        <p:nvSpPr>
          <p:cNvPr id="5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Retomar el cierre del Cap 1: "alguien lleva la cuenta de quién es líder de qué. Hoy conocemos a ese alguien — y ya no es un inquilino externo". Primer capítulo con laboratorios.</a:t>
            </a:r>
          </a:p>
        </p:txBody>
      </p:sp>
      <p:sp>
        <p:nvSpPr>
          <p:cNvPr id="576"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8F1E9BF-A5B8-4FEC-A8F5-31821E97EECB}" type="slidenum">
              <a:rPr lang="es-MX" sz="1200" b="0" strike="noStrike" spc="-1">
                <a:solidFill>
                  <a:srgbClr val="000000"/>
                </a:solidFill>
                <a:latin typeface="Times New Roman"/>
              </a:rPr>
              <a:t>45</a:t>
            </a:fld>
            <a:endParaRPr lang="en-US" sz="1200" b="0" strike="noStrike" spc="-1">
              <a:solidFill>
                <a:srgbClr val="000000"/>
              </a:solidFill>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noRot="1" noChangeAspect="1"/>
          </p:cNvSpPr>
          <p:nvPr>
            <p:ph type="sldImg"/>
          </p:nvPr>
        </p:nvSpPr>
        <p:spPr>
          <a:xfrm>
            <a:off x="685800" y="1143000"/>
            <a:ext cx="5486040" cy="3085920"/>
          </a:xfrm>
          <a:prstGeom prst="rect">
            <a:avLst/>
          </a:prstGeom>
          <a:ln w="0">
            <a:noFill/>
          </a:ln>
        </p:spPr>
      </p:sp>
      <p:sp>
        <p:nvSpPr>
          <p:cNvPr id="5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Primera sesión del capítulo: el porqué de KRaft y su anatomía.</a:t>
            </a:r>
          </a:p>
        </p:txBody>
      </p:sp>
      <p:sp>
        <p:nvSpPr>
          <p:cNvPr id="57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86CE0D0-3B27-49BA-9FB6-1106F792428E}" type="slidenum">
              <a:rPr lang="es-MX" sz="1200" b="0" strike="noStrike" spc="-1">
                <a:solidFill>
                  <a:srgbClr val="000000"/>
                </a:solidFill>
                <a:latin typeface="Times New Roman"/>
              </a:rPr>
              <a:t>46</a:t>
            </a:fld>
            <a:endParaRPr lang="en-US" sz="1200" b="0" strike="noStrike" spc="-1">
              <a:solidFill>
                <a:srgbClr val="000000"/>
              </a:solidFill>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PlaceHolder 1"/>
          <p:cNvSpPr>
            <a:spLocks noGrp="1" noRot="1" noChangeAspect="1"/>
          </p:cNvSpPr>
          <p:nvPr>
            <p:ph type="sldImg"/>
          </p:nvPr>
        </p:nvSpPr>
        <p:spPr>
          <a:xfrm>
            <a:off x="685800" y="1143000"/>
            <a:ext cx="5486040" cy="3085920"/>
          </a:xfrm>
          <a:prstGeom prst="rect">
            <a:avLst/>
          </a:prstGeom>
          <a:ln w="0">
            <a:noFill/>
          </a:ln>
        </p:spPr>
      </p:sp>
      <p:sp>
        <p:nvSpPr>
          <p:cNvPr id="5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2 min de enganche. La metadata no es un detalle administrativo: sin consenso sobre ella, parálisis.</a:t>
            </a:r>
          </a:p>
        </p:txBody>
      </p:sp>
      <p:sp>
        <p:nvSpPr>
          <p:cNvPr id="58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E1A5118-4C41-4BE1-8D2A-7C404096878C}" type="slidenum">
              <a:rPr lang="es-MX" sz="1200" b="0" strike="noStrike" spc="-1">
                <a:solidFill>
                  <a:srgbClr val="000000"/>
                </a:solidFill>
                <a:latin typeface="Times New Roman"/>
              </a:rPr>
              <a:t>47</a:t>
            </a:fld>
            <a:endParaRPr lang="en-US" sz="1200" b="0" strike="noStrike" spc="-1">
              <a:solidFill>
                <a:srgbClr val="000000"/>
              </a:solidFill>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noRot="1" noChangeAspect="1"/>
          </p:cNvSpPr>
          <p:nvPr>
            <p:ph type="sldImg"/>
          </p:nvPr>
        </p:nvSpPr>
        <p:spPr>
          <a:xfrm>
            <a:off x="685800" y="1143000"/>
            <a:ext cx="5486040" cy="3085920"/>
          </a:xfrm>
          <a:prstGeom prst="rect">
            <a:avLst/>
          </a:prstGeom>
          <a:ln w="0">
            <a:noFill/>
          </a:ln>
        </p:spPr>
      </p:sp>
      <p:sp>
        <p:nvSpPr>
          <p:cNvPr id="5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ancla: la empresa que arrienda su bóveda en el banco de enfrente. Cada consulta crítica implica cruzar la calle; si el banco cierra o la calle se corta, tu operación se detiene. KRaft = construir la bóveda DENTRO. Validar a los veteranos de ZooKeeper de la sala: split-brain, zookeeper.connect.</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58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03BD211-4E37-4B12-ACA4-AEE340626544}" type="slidenum">
              <a:rPr lang="es-MX" sz="1200" b="0" strike="noStrike" spc="-1">
                <a:solidFill>
                  <a:srgbClr val="000000"/>
                </a:solidFill>
                <a:latin typeface="Times New Roman"/>
              </a:rPr>
              <a:t>48</a:t>
            </a:fld>
            <a:endParaRPr lang="en-US" sz="1200" b="0" strike="noStrike" spc="-1">
              <a:solidFill>
                <a:srgbClr val="000000"/>
              </a:solidFill>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noRot="1" noChangeAspect="1"/>
          </p:cNvSpPr>
          <p:nvPr>
            <p:ph type="sldImg"/>
          </p:nvPr>
        </p:nvSpPr>
        <p:spPr>
          <a:xfrm>
            <a:off x="685800" y="1143000"/>
            <a:ext cx="5486040" cy="3085920"/>
          </a:xfrm>
          <a:prstGeom prst="rect">
            <a:avLst/>
          </a:prstGeom>
          <a:ln w="0">
            <a:noFill/>
          </a:ln>
        </p:spPr>
      </p:sp>
      <p:sp>
        <p:nvSpPr>
          <p:cNvPr id="5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"aha" de la sesión: Kafka toma su propia medicina — la metadata es un topic interno replicado, gobernado con Raft. "El mismo log que aprendieron ayer ahora también gobierna el clúster".</a:t>
            </a:r>
          </a:p>
        </p:txBody>
      </p:sp>
      <p:sp>
        <p:nvSpPr>
          <p:cNvPr id="58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C8F997A-F457-4017-9945-FCD7AB7B3380}" type="slidenum">
              <a:rPr lang="es-MX" sz="1200" b="0" strike="noStrike" spc="-1">
                <a:solidFill>
                  <a:srgbClr val="000000"/>
                </a:solidFill>
                <a:latin typeface="Times New Roman"/>
              </a:rPr>
              <a:t>49</a:t>
            </a:fld>
            <a:endParaRPr lang="en-US" sz="1200" b="0" strike="noStrike" spc="-1">
              <a:solidFill>
                <a:srgbClr val="000000"/>
              </a:solidFill>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PlaceHolder 1"/>
          <p:cNvSpPr>
            <a:spLocks noGrp="1" noRot="1" noChangeAspect="1"/>
          </p:cNvSpPr>
          <p:nvPr>
            <p:ph type="sldImg"/>
          </p:nvPr>
        </p:nvSpPr>
        <p:spPr>
          <a:xfrm>
            <a:off x="685800" y="1143000"/>
            <a:ext cx="5486040" cy="3085920"/>
          </a:xfrm>
          <a:prstGeom prst="rect">
            <a:avLst/>
          </a:prstGeom>
          <a:ln w="0">
            <a:noFill/>
          </a:ln>
        </p:spPr>
      </p:sp>
      <p:sp>
        <p:nvSpPr>
          <p:cNvPr id="5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controller (gobierna metadata, producción seria), broker (sirve datos), o combinado (labs y entornos chicos). En producción, controladores dedicados aíslan el plano de control del ruido de datos. En el Lab 01 levantarán controladores de verdad.</a:t>
            </a:r>
          </a:p>
        </p:txBody>
      </p:sp>
      <p:sp>
        <p:nvSpPr>
          <p:cNvPr id="59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2D84A26-AE02-4593-A4C9-AF40F8051814}" type="slidenum">
              <a:rPr lang="es-MX" sz="1200" b="0" strike="noStrike" spc="-1">
                <a:solidFill>
                  <a:srgbClr val="000000"/>
                </a:solidFill>
                <a:latin typeface="Times New Roman"/>
              </a:rPr>
              <a:t>50</a:t>
            </a:fld>
            <a:endParaRPr lang="en-US" sz="1200" b="0" strike="noStrike" spc="-1">
              <a:solidFill>
                <a:srgbClr val="000000"/>
              </a:solidFill>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685800" y="1143000"/>
            <a:ext cx="5486040" cy="308592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Explotar el paralelo: lo que aprendieron del líder/réplicas/ISR de datos, KRaft lo aplica a la metadata. Un solo modelo mental. Dibujar 3 controladores, tachar el líder, mostrar la reelección — reusar visualmente el failover del Cap 1.</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59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F7629BB-A25B-41B8-9103-C921555B1D73}" type="slidenum">
              <a:rPr lang="es-MX" sz="1200" b="0" strike="noStrike" spc="-1">
                <a:solidFill>
                  <a:srgbClr val="000000"/>
                </a:solidFill>
                <a:latin typeface="Times New Roman"/>
              </a:rPr>
              <a:t>51</a:t>
            </a:fld>
            <a:endParaRPr lang="en-US" sz="1200" b="0" strike="noStrike" spc="-1">
              <a:solidFill>
                <a:srgbClr val="000000"/>
              </a:solidFill>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PlaceHolder 1"/>
          <p:cNvSpPr>
            <a:spLocks noGrp="1" noRot="1" noChangeAspect="1"/>
          </p:cNvSpPr>
          <p:nvPr>
            <p:ph type="sldImg"/>
          </p:nvPr>
        </p:nvSpPr>
        <p:spPr>
          <a:xfrm>
            <a:off x="685800" y="1143000"/>
            <a:ext cx="5486040" cy="3085920"/>
          </a:xfrm>
          <a:prstGeom prst="rect">
            <a:avLst/>
          </a:prstGeom>
          <a:ln w="0">
            <a:noFill/>
          </a:ln>
        </p:spPr>
      </p:sp>
      <p:sp>
        <p:nvSpPr>
          <p:cNvPr id="5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NO entrar al paper. Analogía: un directorio que solo aprueba acuerdos por mayoría — un director ausente no bloquea, pero sin mayoría no hay acuerdo válido (a propósito: mejor no decidir que decidir en falso).</a:t>
            </a:r>
          </a:p>
        </p:txBody>
      </p:sp>
      <p:sp>
        <p:nvSpPr>
          <p:cNvPr id="59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1F7DBB7-BF9C-4AFB-A30D-2C8C993D83A5}" type="slidenum">
              <a:rPr lang="es-MX" sz="1200" b="0" strike="noStrike" spc="-1">
                <a:solidFill>
                  <a:srgbClr val="000000"/>
                </a:solidFill>
                <a:latin typeface="Times New Roman"/>
              </a:rPr>
              <a:t>52</a:t>
            </a:fld>
            <a:endParaRPr lang="en-US" sz="1200" b="0" strike="noStrike" spc="-1">
              <a:solidFill>
                <a:srgbClr val="000000"/>
              </a:solidFill>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laceHolder 1"/>
          <p:cNvSpPr>
            <a:spLocks noGrp="1" noRot="1" noChangeAspect="1"/>
          </p:cNvSpPr>
          <p:nvPr>
            <p:ph type="sldImg"/>
          </p:nvPr>
        </p:nvSpPr>
        <p:spPr>
          <a:xfrm>
            <a:off x="685800" y="1143000"/>
            <a:ext cx="5486040" cy="3085920"/>
          </a:xfrm>
          <a:prstGeom prst="rect">
            <a:avLst/>
          </a:prstGeom>
          <a:ln w="0">
            <a:noFill/>
          </a:ln>
        </p:spPr>
      </p:sp>
      <p:sp>
        <p:nvSpPr>
          <p:cNvPr id="5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Quorum de N tolera perder (N-1)/2: 3 tolera 1; 5 tolera 2. Perder la mayoría = el plano de control se DETIENE a propósito para no arriesgar inconsistencia. Conectar con "el límite honesto" del Cap 1: la resiliencia se dimensiona.</a:t>
            </a:r>
          </a:p>
        </p:txBody>
      </p:sp>
      <p:sp>
        <p:nvSpPr>
          <p:cNvPr id="60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6576C7F-F7B8-4AAC-8ECF-65321CD91207}" type="slidenum">
              <a:rPr lang="es-MX" sz="1200" b="0" strike="noStrike" spc="-1">
                <a:solidFill>
                  <a:srgbClr val="000000"/>
                </a:solidFill>
                <a:latin typeface="Times New Roman"/>
              </a:rPr>
              <a:t>53</a:t>
            </a:fld>
            <a:endParaRPr lang="en-US" sz="1200" b="0" strike="noStrike" spc="-1">
              <a:solidFill>
                <a:srgbClr val="000000"/>
              </a:solidFill>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noRot="1" noChangeAspect="1"/>
          </p:cNvSpPr>
          <p:nvPr>
            <p:ph type="sldImg"/>
          </p:nvPr>
        </p:nvSpPr>
        <p:spPr>
          <a:xfrm>
            <a:off x="685800" y="1143000"/>
            <a:ext cx="5486040" cy="308592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Dato de credibilidad: KRaft es el presente. Kafka 4.x eliminó ZooKeeper por completo. Este curso trabaja el mundo real de 2026, no el legado.</a:t>
            </a:r>
          </a:p>
        </p:txBody>
      </p:sp>
      <p:sp>
        <p:nvSpPr>
          <p:cNvPr id="60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F113807-513F-4640-B81E-4275D0322151}" type="slidenum">
              <a:rPr lang="es-MX" sz="1200" b="0" strike="noStrike" spc="-1">
                <a:solidFill>
                  <a:srgbClr val="000000"/>
                </a:solidFill>
                <a:latin typeface="Times New Roman"/>
              </a:rPr>
              <a:t>54</a:t>
            </a:fld>
            <a:endParaRPr lang="en-US" sz="1200" b="0" strike="noStrike" spc="-1">
              <a:solidFill>
                <a:srgbClr val="000000"/>
              </a:solidFill>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PlaceHolder 1"/>
          <p:cNvSpPr>
            <a:spLocks noGrp="1" noRot="1" noChangeAspect="1"/>
          </p:cNvSpPr>
          <p:nvPr>
            <p:ph type="sldImg"/>
          </p:nvPr>
        </p:nvSpPr>
        <p:spPr>
          <a:xfrm>
            <a:off x="685800" y="1143000"/>
            <a:ext cx="5486040" cy="308592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Segunda sesión: del concepto a los parámetros que van a escribir con sus manos.</a:t>
            </a:r>
          </a:p>
        </p:txBody>
      </p:sp>
      <p:sp>
        <p:nvSpPr>
          <p:cNvPr id="60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49598E9-C70F-44FA-9670-AE9269310204}" type="slidenum">
              <a:rPr lang="es-MX" sz="1200" b="0" strike="noStrike" spc="-1">
                <a:solidFill>
                  <a:srgbClr val="000000"/>
                </a:solidFill>
                <a:latin typeface="Times New Roman"/>
              </a:rPr>
              <a:t>55</a:t>
            </a:fld>
            <a:endParaRPr lang="en-US" sz="1200" b="0" strike="noStrike" spc="-1">
              <a:solidFill>
                <a:srgbClr val="000000"/>
              </a:solidFill>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685800" y="1143000"/>
            <a:ext cx="5486040" cy="308592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carnet + domicilio + libreta de socios. node.id es el RUT; process.roles la profesión; controller.quorum.voters la libreta del directorio; los listeners, la dirección donde te encuentran. Comparar el carnet del controlador vs el del broker.</a:t>
            </a:r>
          </a:p>
        </p:txBody>
      </p:sp>
      <p:sp>
        <p:nvSpPr>
          <p:cNvPr id="60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0590514-5C7B-48D9-98B2-7ABE2A9176DF}" type="slidenum">
              <a:rPr lang="es-MX" sz="1200" b="0" strike="noStrike" spc="-1">
                <a:solidFill>
                  <a:srgbClr val="000000"/>
                </a:solidFill>
                <a:latin typeface="Times New Roman"/>
              </a:rPr>
              <a:t>56</a:t>
            </a:fld>
            <a:endParaRPr lang="en-US" sz="1200" b="0" strike="noStrike" spc="-1">
              <a:solidFill>
                <a:srgbClr val="000000"/>
              </a:solidFill>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 name="PlaceHolder 1"/>
          <p:cNvSpPr>
            <a:spLocks noGrp="1" noRot="1" noChangeAspect="1"/>
          </p:cNvSpPr>
          <p:nvPr>
            <p:ph type="sldImg"/>
          </p:nvPr>
        </p:nvSpPr>
        <p:spPr>
          <a:xfrm>
            <a:off x="685800" y="1143000"/>
            <a:ext cx="5486040" cy="3085920"/>
          </a:xfrm>
          <a:prstGeom prst="rect">
            <a:avLst/>
          </a:prstGeom>
          <a:ln w="0">
            <a:noFill/>
          </a:ln>
        </p:spPr>
      </p:sp>
      <p:sp>
        <p:nvSpPr>
          <p:cNvPr id="6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Punto de dolor frecuente: listas que no calzan = quorum que no nace. Es el heredero del viejo zookeeper.connect, apuntando a los propios controladores. El último bullet anticipa la sesión 3: el modo dinámico reemplaza la libreta fija por un bootstrap, igual que los clientes.</a:t>
            </a:r>
          </a:p>
        </p:txBody>
      </p:sp>
      <p:sp>
        <p:nvSpPr>
          <p:cNvPr id="61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A8F171F-531B-46A0-8E62-9CD58836CFD0}" type="slidenum">
              <a:rPr lang="es-MX" sz="1200" b="0" strike="noStrike" spc="-1">
                <a:solidFill>
                  <a:srgbClr val="000000"/>
                </a:solidFill>
                <a:latin typeface="Times New Roman"/>
              </a:rPr>
              <a:t>57</a:t>
            </a:fld>
            <a:endParaRPr lang="en-US" sz="1200" b="0" strike="noStrike" spc="-1">
              <a:solidFill>
                <a:srgbClr val="000000"/>
              </a:solidFill>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PlaceHolder 1"/>
          <p:cNvSpPr>
            <a:spLocks noGrp="1" noRot="1" noChangeAspect="1"/>
          </p:cNvSpPr>
          <p:nvPr>
            <p:ph type="sldImg"/>
          </p:nvPr>
        </p:nvSpPr>
        <p:spPr>
          <a:xfrm>
            <a:off x="685800" y="1143000"/>
            <a:ext cx="5486040" cy="3085920"/>
          </a:xfrm>
          <a:prstGeom prst="rect">
            <a:avLst/>
          </a:prstGeom>
          <a:ln w="0">
            <a:noFill/>
          </a:ln>
        </p:spPr>
      </p:sp>
      <p:sp>
        <p:nvSpPr>
          <p:cNvPr id="6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la línea telefónica privada del directorio, separada de la centralita del público. Conectar con advertised.listeners del Lab 04: los listeners son tema transversal del curso.</a:t>
            </a:r>
          </a:p>
        </p:txBody>
      </p:sp>
      <p:sp>
        <p:nvSpPr>
          <p:cNvPr id="61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32444E6-7621-48FF-B3C9-FBC37846430A}" type="slidenum">
              <a:rPr lang="es-MX" sz="1200" b="0" strike="noStrike" spc="-1">
                <a:solidFill>
                  <a:srgbClr val="000000"/>
                </a:solidFill>
                <a:latin typeface="Times New Roman"/>
              </a:rPr>
              <a:t>58</a:t>
            </a:fld>
            <a:endParaRPr lang="en-US" sz="1200" b="0" strike="noStrike" spc="-1">
              <a:solidFill>
                <a:srgbClr val="000000"/>
              </a:solidFill>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 name="PlaceHolder 1"/>
          <p:cNvSpPr>
            <a:spLocks noGrp="1" noRot="1" noChangeAspect="1"/>
          </p:cNvSpPr>
          <p:nvPr>
            <p:ph type="sldImg"/>
          </p:nvPr>
        </p:nvSpPr>
        <p:spPr>
          <a:xfrm>
            <a:off x="685800" y="1143000"/>
            <a:ext cx="5486040" cy="3085920"/>
          </a:xfrm>
          <a:prstGeom prst="rect">
            <a:avLst/>
          </a:prstGeom>
          <a:ln w="0">
            <a:noFill/>
          </a:ln>
        </p:spPr>
      </p:sp>
      <p:sp>
        <p:nvSpPr>
          <p:cNvPr id="6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ancla: el acta de nacimiento con número de folio. El cluster id es el folio; formatear es inscribir a cada nodo bajo ese folio. Sembrar el error del Lab 01: dos nodos con folios distintos se rechazan (InconsistentClusterIdException) — hermanos con actas de familias distintas.</a:t>
            </a: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[PIZARRA] Dibuja el esquema en vivo.</a:t>
            </a:r>
          </a:p>
        </p:txBody>
      </p:sp>
      <p:sp>
        <p:nvSpPr>
          <p:cNvPr id="61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6180A19-3A83-4079-90AC-03F359D8EE60}" type="slidenum">
              <a:rPr lang="es-MX" sz="1200" b="0" strike="noStrike" spc="-1">
                <a:solidFill>
                  <a:srgbClr val="000000"/>
                </a:solidFill>
                <a:latin typeface="Times New Roman"/>
              </a:rPr>
              <a:t>59</a:t>
            </a:fld>
            <a:endParaRPr lang="en-US" sz="1200" b="0" strike="noStrike" spc="-1">
              <a:solidFill>
                <a:srgbClr val="000000"/>
              </a:solidFill>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PlaceHolder 1"/>
          <p:cNvSpPr>
            <a:spLocks noGrp="1" noRot="1" noChangeAspect="1"/>
          </p:cNvSpPr>
          <p:nvPr>
            <p:ph type="sldImg"/>
          </p:nvPr>
        </p:nvSpPr>
        <p:spPr>
          <a:xfrm>
            <a:off x="685800" y="1143000"/>
            <a:ext cx="5486040" cy="3085920"/>
          </a:xfrm>
          <a:prstGeom prst="rect">
            <a:avLst/>
          </a:prstGeom>
          <a:ln w="0">
            <a:noFill/>
          </a:ln>
        </p:spPr>
      </p:sp>
      <p:sp>
        <p:nvSpPr>
          <p:cNvPr id="6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Este es el mapa EXACTO del Lab 01: estos cinco pasos son lo que van a teclear. Recorrerlo prometiendo la terminal. El recuadro naranja es el error que van a provocar a propósito para entenderlo.</a:t>
            </a:r>
          </a:p>
        </p:txBody>
      </p:sp>
      <p:sp>
        <p:nvSpPr>
          <p:cNvPr id="62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D6EB50A-61A9-48BB-8B75-2E25112B946E}" type="slidenum">
              <a:rPr lang="es-MX" sz="1200" b="0" strike="noStrike" spc="-1">
                <a:solidFill>
                  <a:srgbClr val="000000"/>
                </a:solidFill>
                <a:latin typeface="Times New Roman"/>
              </a:rPr>
              <a:t>60</a:t>
            </a:fld>
            <a:endParaRPr lang="en-US" sz="1200" b="0" strike="noStrike" spc="-1">
              <a:solidFill>
                <a:srgbClr val="000000"/>
              </a:solidFill>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685800" y="1143000"/>
            <a:ext cx="5486040" cy="308592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Tercera sesión: decidir con criterio y cambiar el directorio en caliente.</a:t>
            </a:r>
          </a:p>
        </p:txBody>
      </p:sp>
      <p:sp>
        <p:nvSpPr>
          <p:cNvPr id="62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856F333-B01B-47AF-B5F3-E9D7236F779E}" type="slidenum">
              <a:rPr lang="es-MX" sz="1200" b="0" strike="noStrike" spc="-1">
                <a:solidFill>
                  <a:srgbClr val="000000"/>
                </a:solidFill>
                <a:latin typeface="Times New Roman"/>
              </a:rPr>
              <a:t>61</a:t>
            </a:fld>
            <a:endParaRPr lang="en-US" sz="1200" b="0" strike="noStrike" spc="-1">
              <a:solidFill>
                <a:srgbClr val="000000"/>
              </a:solidFill>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685800" y="1143000"/>
            <a:ext cx="5486040" cy="308592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Regla práctica: 3 es el estándar; 5 cuando tolerar 2 fallos simultáneos es requisito. Más de 5 rara vez paga el costo de consenso.</a:t>
            </a:r>
          </a:p>
        </p:txBody>
      </p:sp>
      <p:sp>
        <p:nvSpPr>
          <p:cNvPr id="62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AC15BCE-7941-464F-980F-4724725B280B}" type="slidenum">
              <a:rPr lang="es-MX" sz="1200" b="0" strike="noStrike" spc="-1">
                <a:solidFill>
                  <a:srgbClr val="000000"/>
                </a:solidFill>
                <a:latin typeface="Times New Roman"/>
              </a:rPr>
              <a:t>62</a:t>
            </a:fld>
            <a:endParaRPr lang="en-US" sz="1200" b="0" strike="noStrike" spc="-1">
              <a:solidFill>
                <a:srgbClr val="000000"/>
              </a:solidFill>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noRot="1" noChangeAspect="1"/>
          </p:cNvSpPr>
          <p:nvPr>
            <p:ph type="sldImg"/>
          </p:nvPr>
        </p:nvSpPr>
        <p:spPr>
          <a:xfrm>
            <a:off x="685800" y="1143000"/>
            <a:ext cx="5486040" cy="308592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dato contraintuitivo que engancha: 4 = misma tolerancia que 3, más overhead. Analogía: un jurado con número impar para que nunca haya empate.</a:t>
            </a:r>
          </a:p>
        </p:txBody>
      </p:sp>
      <p:sp>
        <p:nvSpPr>
          <p:cNvPr id="63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72A08E7-ED00-431C-8364-AD49C7A503AA}" type="slidenum">
              <a:rPr lang="es-MX" sz="1200" b="0" strike="noStrike" spc="-1">
                <a:solidFill>
                  <a:srgbClr val="000000"/>
                </a:solidFill>
                <a:latin typeface="Times New Roman"/>
              </a:rPr>
              <a:t>63</a:t>
            </a:fld>
            <a:endParaRPr lang="en-US" sz="1200" b="0" strike="noStrike" spc="-1">
              <a:solidFill>
                <a:srgbClr val="000000"/>
              </a:solidFill>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PlaceHolder 1"/>
          <p:cNvSpPr>
            <a:spLocks noGrp="1" noRot="1" noChangeAspect="1"/>
          </p:cNvSpPr>
          <p:nvPr>
            <p:ph type="sldImg"/>
          </p:nvPr>
        </p:nvSpPr>
        <p:spPr>
          <a:xfrm>
            <a:off x="685800" y="1143000"/>
            <a:ext cx="5486040" cy="308592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Validado contra la doc oficial: KIP-853 introduce la membresía dinámica; el nuevo controlador replica primero como observador y recién entonces vota — así nunca se arriesga la mayoría. NovaTech: pasar de 3 a 5 controladores sin reconstruir. Conecta directo con el Lab 02.</a:t>
            </a:r>
          </a:p>
        </p:txBody>
      </p:sp>
      <p:sp>
        <p:nvSpPr>
          <p:cNvPr id="63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34A3C0D-494E-4FED-86BB-306780165DF9}" type="slidenum">
              <a:rPr lang="es-MX" sz="1200" b="0" strike="noStrike" spc="-1">
                <a:solidFill>
                  <a:srgbClr val="000000"/>
                </a:solidFill>
                <a:latin typeface="Times New Roman"/>
              </a:rPr>
              <a:t>64</a:t>
            </a:fld>
            <a:endParaRPr lang="en-US" sz="1200" b="0" strike="noStrike" spc="-1">
              <a:solidFill>
                <a:srgbClr val="000000"/>
              </a:solidFill>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PlaceHolder 1"/>
          <p:cNvSpPr>
            <a:spLocks noGrp="1" noRot="1" noChangeAspect="1"/>
          </p:cNvSpPr>
          <p:nvPr>
            <p:ph type="sldImg"/>
          </p:nvPr>
        </p:nvSpPr>
        <p:spPr>
          <a:xfrm>
            <a:off x="685800" y="1143000"/>
            <a:ext cx="5486040" cy="308592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teórico de la Unidad 2. Transición: "dejamos la pizarra; vamos a inicializar un clúster KRaft de verdad y a romperlo a propósito para verlo resistir".</a:t>
            </a:r>
          </a:p>
        </p:txBody>
      </p:sp>
      <p:sp>
        <p:nvSpPr>
          <p:cNvPr id="63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EF1E867-2DA6-4A47-8EAA-F460DA623E68}" type="slidenum">
              <a:rPr lang="es-MX" sz="1200" b="0" strike="noStrike" spc="-1">
                <a:solidFill>
                  <a:srgbClr val="000000"/>
                </a:solidFill>
                <a:latin typeface="Times New Roman"/>
              </a:rPr>
              <a:t>65</a:t>
            </a:fld>
            <a:endParaRPr lang="en-US" sz="1200" b="0" strike="noStrike" spc="-1">
              <a:solidFill>
                <a:srgbClr val="000000"/>
              </a:solidFill>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PlaceHolder 1"/>
          <p:cNvSpPr>
            <a:spLocks noGrp="1" noRot="1" noChangeAspect="1"/>
          </p:cNvSpPr>
          <p:nvPr>
            <p:ph type="sldImg"/>
          </p:nvPr>
        </p:nvSpPr>
        <p:spPr>
          <a:xfrm>
            <a:off x="685800" y="1143000"/>
            <a:ext cx="5486040" cy="308592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 abre la terminal por primera vez. Conectar: el acta de nacimiento (2.2) y los 5 pasos del arranque son EXACTAMENTE lo que van a teclear. El error del cluster id se provoca a propósito: verlo en frío evita sufrirlo en producción.</a:t>
            </a:r>
          </a:p>
        </p:txBody>
      </p:sp>
      <p:sp>
        <p:nvSpPr>
          <p:cNvPr id="63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F6AE723-40FD-422B-BA8A-5C4CF4C357EF}" type="slidenum">
              <a:rPr lang="es-MX" sz="1200" b="0" strike="noStrike" spc="-1">
                <a:solidFill>
                  <a:srgbClr val="000000"/>
                </a:solidFill>
                <a:latin typeface="Times New Roman"/>
              </a:rPr>
              <a:t>66</a:t>
            </a:fld>
            <a:endParaRPr lang="en-US" sz="1200" b="0" strike="noStrike" spc="-1">
              <a:solidFill>
                <a:srgbClr val="000000"/>
              </a:solidFill>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PlaceHolder 1"/>
          <p:cNvSpPr>
            <a:spLocks noGrp="1" noRot="1" noChangeAspect="1"/>
          </p:cNvSpPr>
          <p:nvPr>
            <p:ph type="sldImg"/>
          </p:nvPr>
        </p:nvSpPr>
        <p:spPr>
          <a:xfrm>
            <a:off x="685800" y="1143000"/>
            <a:ext cx="5486040" cy="308592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alumno sale con un clúster KRaft vivo, inicializado por sus manos. La comprensión del error de cluster id es parte del resultado, no un accidente.</a:t>
            </a:r>
          </a:p>
        </p:txBody>
      </p:sp>
      <p:sp>
        <p:nvSpPr>
          <p:cNvPr id="64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64DD611-D2CB-4DC6-92E3-9BAC2375AF4A}" type="slidenum">
              <a:rPr lang="es-MX" sz="1200" b="0" strike="noStrike" spc="-1">
                <a:solidFill>
                  <a:srgbClr val="000000"/>
                </a:solidFill>
                <a:latin typeface="Times New Roman"/>
              </a:rPr>
              <a:t>67</a:t>
            </a:fld>
            <a:endParaRPr lang="en-US" sz="1200" b="0" strike="noStrike" spc="-1">
              <a:solidFill>
                <a:srgbClr val="000000"/>
              </a:solidFill>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PlaceHolder 1"/>
          <p:cNvSpPr>
            <a:spLocks noGrp="1" noRot="1" noChangeAspect="1"/>
          </p:cNvSpPr>
          <p:nvPr>
            <p:ph type="sldImg"/>
          </p:nvPr>
        </p:nvSpPr>
        <p:spPr>
          <a:xfrm>
            <a:off x="685800" y="1143000"/>
            <a:ext cx="5486040" cy="3085920"/>
          </a:xfrm>
          <a:prstGeom prst="rect">
            <a:avLst/>
          </a:prstGeom>
          <a:ln w="0">
            <a:noFill/>
          </a:ln>
        </p:spPr>
      </p:sp>
      <p:sp>
        <p:nvSpPr>
          <p:cNvPr id="6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"wow" honesto de la Unidad 2 hecho realidad. Lo que dibujamos en pizarra (quorum de 3 tolera 1) ahora pasa de verdad. Guiar la lectura del describe: quién era líder antes y después. Cierre de la unidad: "inicializaron un clúster y lo vieron sobrevivir — sin ZooKeeper, sin intervención manual".</a:t>
            </a:r>
          </a:p>
        </p:txBody>
      </p:sp>
      <p:sp>
        <p:nvSpPr>
          <p:cNvPr id="64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17A2790-015E-4EC9-AC07-E58B7CF968EC}" type="slidenum">
              <a:rPr lang="es-MX" sz="1200" b="0" strike="noStrike" spc="-1">
                <a:solidFill>
                  <a:srgbClr val="000000"/>
                </a:solidFill>
                <a:latin typeface="Times New Roman"/>
              </a:rPr>
              <a:t>68</a:t>
            </a:fld>
            <a:endParaRPr lang="en-US" sz="1200" b="0" strike="noStrike" spc="-1">
              <a:solidFill>
                <a:srgbClr val="000000"/>
              </a:solidFill>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PlaceHolder 1"/>
          <p:cNvSpPr>
            <a:spLocks noGrp="1" noRot="1" noChangeAspect="1"/>
          </p:cNvSpPr>
          <p:nvPr>
            <p:ph type="sldImg"/>
          </p:nvPr>
        </p:nvSpPr>
        <p:spPr>
          <a:xfrm>
            <a:off x="685800" y="1143000"/>
            <a:ext cx="5486040" cy="308592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momento cumbre del capítulo: el failover del plano de control visto en vivo. Quien completa este lab entendió KRaft con las manos, no con slides.</a:t>
            </a:r>
          </a:p>
        </p:txBody>
      </p:sp>
      <p:sp>
        <p:nvSpPr>
          <p:cNvPr id="64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2C34D40-945E-45A1-8FF5-25D7AC9ED7EF}" type="slidenum">
              <a:rPr lang="es-MX" sz="1200" b="0" strike="noStrike" spc="-1">
                <a:solidFill>
                  <a:srgbClr val="000000"/>
                </a:solidFill>
                <a:latin typeface="Times New Roman"/>
              </a:rPr>
              <a:t>69</a:t>
            </a:fld>
            <a:endParaRPr lang="en-US" sz="1200" b="0" strike="noStrike" spc="-1">
              <a:solidFill>
                <a:srgbClr val="000000"/>
              </a:solidFill>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PlaceHolder 1"/>
          <p:cNvSpPr>
            <a:spLocks noGrp="1" noRot="1" noChangeAspect="1"/>
          </p:cNvSpPr>
          <p:nvPr>
            <p:ph type="sldImg"/>
          </p:nvPr>
        </p:nvSpPr>
        <p:spPr>
          <a:xfrm>
            <a:off x="685800" y="1143000"/>
            <a:ext cx="5486040" cy="308592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Referencias validadas en línea (julio 2026): KIP-853 confirmado en cwiki.apache.org; doc KRaft en kafka.apache.org. El paper de Raft para quien quiera el fundamento académico.</a:t>
            </a:r>
          </a:p>
        </p:txBody>
      </p:sp>
      <p:sp>
        <p:nvSpPr>
          <p:cNvPr id="65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A2F7998-EBEA-4944-A882-581A8BBE8178}" type="slidenum">
              <a:rPr lang="es-MX" sz="1200" b="0" strike="noStrike" spc="-1">
                <a:solidFill>
                  <a:srgbClr val="000000"/>
                </a:solidFill>
                <a:latin typeface="Times New Roman"/>
              </a:rPr>
              <a:t>70</a:t>
            </a:fld>
            <a:endParaRPr lang="en-US" sz="1200" b="0" strike="noStrike" spc="-1">
              <a:solidFill>
                <a:srgbClr val="000000"/>
              </a:solidFill>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PlaceHolder 1"/>
          <p:cNvSpPr>
            <a:spLocks noGrp="1" noRot="1" noChangeAspect="1"/>
          </p:cNvSpPr>
          <p:nvPr>
            <p:ph type="sldImg"/>
          </p:nvPr>
        </p:nvSpPr>
        <p:spPr>
          <a:xfrm>
            <a:off x="685800" y="1143000"/>
            <a:ext cx="5486040" cy="3085920"/>
          </a:xfrm>
          <a:prstGeom prst="rect">
            <a:avLst/>
          </a:prstGeom>
          <a:ln w="0">
            <a:noFill/>
          </a:ln>
        </p:spPr>
      </p:sp>
      <p:sp>
        <p:nvSpPr>
          <p:cNvPr id="6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Encuadre: "las Unidades 1 y 2 fueron para entender; esta es para operar. Seis laboratorios. Aquí se ensucian las manos de verdad". Ya tienen un clúster KRaft vivo del Cap 2.</a:t>
            </a:r>
          </a:p>
        </p:txBody>
      </p:sp>
      <p:sp>
        <p:nvSpPr>
          <p:cNvPr id="65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629CB65-8F28-4A6B-AF70-CB341CDDA5FB}" type="slidenum">
              <a:rPr lang="es-MX" sz="1200" b="0" strike="noStrike" spc="-1">
                <a:solidFill>
                  <a:srgbClr val="000000"/>
                </a:solidFill>
                <a:latin typeface="Times New Roman"/>
              </a:rPr>
              <a:t>71</a:t>
            </a:fld>
            <a:endParaRPr lang="en-US" sz="1200" b="0" strike="noStrike" spc="-1">
              <a:solidFill>
                <a:srgbClr val="000000"/>
              </a:solidFill>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PlaceHolder 1"/>
          <p:cNvSpPr>
            <a:spLocks noGrp="1" noRot="1" noChangeAspect="1"/>
          </p:cNvSpPr>
          <p:nvPr>
            <p:ph type="sldImg"/>
          </p:nvPr>
        </p:nvSpPr>
        <p:spPr>
          <a:xfrm>
            <a:off x="685800" y="1143000"/>
            <a:ext cx="5486040" cy="3085920"/>
          </a:xfrm>
          <a:prstGeom prst="rect">
            <a:avLst/>
          </a:prstGeom>
          <a:ln w="0">
            <a:noFill/>
          </a:ln>
        </p:spPr>
      </p:sp>
      <p:sp>
        <p:nvSpPr>
          <p:cNvPr id="6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Vender el arco: configurar → exponer → administrar → producir → medir → mantener. Cada bloque teórico desemboca en su lab. "No verán una slide sin después tocarla en la terminal".</a:t>
            </a:r>
          </a:p>
        </p:txBody>
      </p:sp>
      <p:sp>
        <p:nvSpPr>
          <p:cNvPr id="65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3B71530-B162-4CDA-A268-C61BFD8DE74B}" type="slidenum">
              <a:rPr lang="es-MX" sz="1200" b="0" strike="noStrike" spc="-1">
                <a:solidFill>
                  <a:srgbClr val="000000"/>
                </a:solidFill>
                <a:latin typeface="Times New Roman"/>
              </a:rPr>
              <a:t>72</a:t>
            </a:fld>
            <a:endParaRPr lang="en-US" sz="1200" b="0" strike="noStrike" spc="-1">
              <a:solidFill>
                <a:srgbClr val="000000"/>
              </a:solidFill>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 name="PlaceHolder 1"/>
          <p:cNvSpPr>
            <a:spLocks noGrp="1" noRot="1" noChangeAspect="1"/>
          </p:cNvSpPr>
          <p:nvPr>
            <p:ph type="sldImg"/>
          </p:nvPr>
        </p:nvSpPr>
        <p:spPr>
          <a:xfrm>
            <a:off x="685800" y="1143000"/>
            <a:ext cx="5486040" cy="3085920"/>
          </a:xfrm>
          <a:prstGeom prst="rect">
            <a:avLst/>
          </a:prstGeom>
          <a:ln w="0">
            <a:noFill/>
          </a:ln>
        </p:spPr>
      </p:sp>
      <p:sp>
        <p:nvSpPr>
          <p:cNvPr id="6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Bloque A: el broker por dentro. Desemboca en el Lab 03.</a:t>
            </a:r>
          </a:p>
        </p:txBody>
      </p:sp>
      <p:sp>
        <p:nvSpPr>
          <p:cNvPr id="66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32EC95B-71E0-4E61-A964-A778B66C67AE}" type="slidenum">
              <a:rPr lang="es-MX" sz="1200" b="0" strike="noStrike" spc="-1">
                <a:solidFill>
                  <a:srgbClr val="000000"/>
                </a:solidFill>
                <a:latin typeface="Times New Roman"/>
              </a:rPr>
              <a:t>73</a:t>
            </a:fld>
            <a:endParaRPr lang="en-US" sz="1200" b="0" strike="noStrike" spc="-1">
              <a:solidFill>
                <a:srgbClr val="000000"/>
              </a:solidFill>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PlaceHolder 1"/>
          <p:cNvSpPr>
            <a:spLocks noGrp="1" noRot="1" noChangeAspect="1"/>
          </p:cNvSpPr>
          <p:nvPr>
            <p:ph type="sldImg"/>
          </p:nvPr>
        </p:nvSpPr>
        <p:spPr>
          <a:xfrm>
            <a:off x="685800" y="1143000"/>
            <a:ext cx="5486040" cy="3085920"/>
          </a:xfrm>
          <a:prstGeom prst="rect">
            <a:avLst/>
          </a:prstGeom>
          <a:ln w="0">
            <a:noFill/>
          </a:ln>
        </p:spPr>
      </p:sp>
      <p:sp>
        <p:nvSpPr>
          <p:cNvPr id="6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el manual de puesto de un empleado nuevo — dónde se sienta (log.dirs), por qué teléfono lo llaman (listeners), su número de legajo (node.id), sus funciones. Sin manual claro, el empleado no sabe qué hacer.</a:t>
            </a:r>
          </a:p>
        </p:txBody>
      </p:sp>
      <p:sp>
        <p:nvSpPr>
          <p:cNvPr id="663"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6A801D5-B547-4CBD-8AC2-7DF355EEBDE7}" type="slidenum">
              <a:rPr lang="es-MX" sz="1200" b="0" strike="noStrike" spc="-1">
                <a:solidFill>
                  <a:srgbClr val="000000"/>
                </a:solidFill>
                <a:latin typeface="Times New Roman"/>
              </a:rPr>
              <a:t>74</a:t>
            </a:fld>
            <a:endParaRPr lang="en-US" sz="1200" b="0" strike="noStrike" spc="-1">
              <a:solidFill>
                <a:srgbClr val="000000"/>
              </a:solidFill>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PlaceHolder 1"/>
          <p:cNvSpPr>
            <a:spLocks noGrp="1" noRot="1" noChangeAspect="1"/>
          </p:cNvSpPr>
          <p:nvPr>
            <p:ph type="sldImg"/>
          </p:nvPr>
        </p:nvSpPr>
        <p:spPr>
          <a:xfrm>
            <a:off x="685800" y="1143000"/>
            <a:ext cx="5486040" cy="3085920"/>
          </a:xfrm>
          <a:prstGeom prst="rect">
            <a:avLst/>
          </a:prstGeom>
          <a:ln w="0">
            <a:noFill/>
          </a:ln>
        </p:spPr>
      </p:sp>
      <p:sp>
        <p:nvSpPr>
          <p:cNvPr id="6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Para esta audiencia DevOps/SRE, terreno familiar: infraestructura declarativa. La ventaja pedagógica es la impunidad para experimentar.</a:t>
            </a:r>
          </a:p>
        </p:txBody>
      </p:sp>
      <p:sp>
        <p:nvSpPr>
          <p:cNvPr id="666"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9743420-07C6-4611-A7C7-C04C4D6D5670}" type="slidenum">
              <a:rPr lang="es-MX" sz="1200" b="0" strike="noStrike" spc="-1">
                <a:solidFill>
                  <a:srgbClr val="000000"/>
                </a:solidFill>
                <a:latin typeface="Times New Roman"/>
              </a:rPr>
              <a:t>75</a:t>
            </a:fld>
            <a:endParaRPr lang="en-US" sz="1200" b="0" strike="noStrike" spc="-1">
              <a:solidFill>
                <a:srgbClr val="000000"/>
              </a:solidFill>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 name="PlaceHolder 1"/>
          <p:cNvSpPr>
            <a:spLocks noGrp="1" noRot="1" noChangeAspect="1"/>
          </p:cNvSpPr>
          <p:nvPr>
            <p:ph type="sldImg"/>
          </p:nvPr>
        </p:nvSpPr>
        <p:spPr>
          <a:xfrm>
            <a:off x="685800" y="1143000"/>
            <a:ext cx="5486040" cy="3085920"/>
          </a:xfrm>
          <a:prstGeom prst="rect">
            <a:avLst/>
          </a:prstGeom>
          <a:ln w="0">
            <a:noFill/>
          </a:ln>
        </p:spPr>
      </p:sp>
      <p:sp>
        <p:nvSpPr>
          <p:cNvPr id="6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Bloque B: EL parámetro que más dolores de cabeza da. Desemboca en el Lab 04.</a:t>
            </a:r>
          </a:p>
        </p:txBody>
      </p:sp>
      <p:sp>
        <p:nvSpPr>
          <p:cNvPr id="669"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ACA4D5C-595B-4CE2-8429-39AA95DDB333}" type="slidenum">
              <a:rPr lang="es-MX" sz="1200" b="0" strike="noStrike" spc="-1">
                <a:solidFill>
                  <a:srgbClr val="000000"/>
                </a:solidFill>
                <a:latin typeface="Times New Roman"/>
              </a:rPr>
              <a:t>76</a:t>
            </a:fld>
            <a:endParaRPr lang="en-US" sz="1200" b="0" strike="noStrike" spc="-1">
              <a:solidFill>
                <a:srgbClr val="000000"/>
              </a:solidFill>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PlaceHolder 1"/>
          <p:cNvSpPr>
            <a:spLocks noGrp="1" noRot="1" noChangeAspect="1"/>
          </p:cNvSpPr>
          <p:nvPr>
            <p:ph type="sldImg"/>
          </p:nvPr>
        </p:nvSpPr>
        <p:spPr>
          <a:xfrm>
            <a:off x="685800" y="1143000"/>
            <a:ext cx="5486040" cy="3085920"/>
          </a:xfrm>
          <a:prstGeom prst="rect">
            <a:avLst/>
          </a:prstGeom>
          <a:ln w="0">
            <a:noFill/>
          </a:ln>
        </p:spPr>
      </p:sp>
      <p:sp>
        <p:nvSpPr>
          <p:cNvPr id="6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drama clásico: llegas al edificio (bootstrap responde), preguntas por la sala 3, y el conserje te da una dirección que no existe desde donde tú estás. El broker vive, pero el cliente recibe Timeout. Este error EXACTO lo van a provocar y arreglar en el Lab 04.</a:t>
            </a:r>
          </a:p>
        </p:txBody>
      </p:sp>
      <p:sp>
        <p:nvSpPr>
          <p:cNvPr id="672"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EB633A7-ABCA-47BF-821B-FFFC072ADE92}" type="slidenum">
              <a:rPr lang="es-MX" sz="1200" b="0" strike="noStrike" spc="-1">
                <a:solidFill>
                  <a:srgbClr val="000000"/>
                </a:solidFill>
                <a:latin typeface="Times New Roman"/>
              </a:rPr>
              <a:t>77</a:t>
            </a:fld>
            <a:endParaRPr lang="en-US" sz="1200" b="0" strike="noStrike" spc="-1">
              <a:solidFill>
                <a:srgbClr val="000000"/>
              </a:solidFill>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PlaceHolder 1"/>
          <p:cNvSpPr>
            <a:spLocks noGrp="1" noRot="1" noChangeAspect="1"/>
          </p:cNvSpPr>
          <p:nvPr>
            <p:ph type="sldImg"/>
          </p:nvPr>
        </p:nvSpPr>
        <p:spPr>
          <a:xfrm>
            <a:off x="685800" y="1143000"/>
            <a:ext cx="5486040" cy="3085920"/>
          </a:xfrm>
          <a:prstGeom prst="rect">
            <a:avLst/>
          </a:prstGeom>
          <a:ln w="0">
            <a:noFill/>
          </a:ln>
        </p:spPr>
      </p:sp>
      <p:sp>
        <p:nvSpPr>
          <p:cNvPr id="6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Conectar con el plano de datos del Cap 1: las particiones se reparten entre estos brokers; aquí el foco es que el reparto sea ALCANZABLE.</a:t>
            </a:r>
          </a:p>
        </p:txBody>
      </p:sp>
      <p:sp>
        <p:nvSpPr>
          <p:cNvPr id="675"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425A4A6-4EC7-418F-A6BE-665867E1117D}" type="slidenum">
              <a:rPr lang="es-MX" sz="1200" b="0" strike="noStrike" spc="-1">
                <a:solidFill>
                  <a:srgbClr val="000000"/>
                </a:solidFill>
                <a:latin typeface="Times New Roman"/>
              </a:rPr>
              <a:t>78</a:t>
            </a:fld>
            <a:endParaRPr lang="en-US" sz="1200" b="0" strike="noStrike" spc="-1">
              <a:solidFill>
                <a:srgbClr val="000000"/>
              </a:solidFill>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 name="PlaceHolder 1"/>
          <p:cNvSpPr>
            <a:spLocks noGrp="1" noRot="1" noChangeAspect="1"/>
          </p:cNvSpPr>
          <p:nvPr>
            <p:ph type="sldImg"/>
          </p:nvPr>
        </p:nvSpPr>
        <p:spPr>
          <a:xfrm>
            <a:off x="685800" y="1143000"/>
            <a:ext cx="5486040" cy="3085920"/>
          </a:xfrm>
          <a:prstGeom prst="rect">
            <a:avLst/>
          </a:prstGeom>
          <a:ln w="0">
            <a:noFill/>
          </a:ln>
        </p:spPr>
      </p:sp>
      <p:sp>
        <p:nvSpPr>
          <p:cNvPr id="6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Bloque C: la administración diaria. Desemboca en los Labs 05 y 06.</a:t>
            </a:r>
          </a:p>
        </p:txBody>
      </p:sp>
      <p:sp>
        <p:nvSpPr>
          <p:cNvPr id="678"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1B00ADB-9005-46E7-96D8-8242F881370F}" type="slidenum">
              <a:rPr lang="es-MX" sz="1200" b="0" strike="noStrike" spc="-1">
                <a:solidFill>
                  <a:srgbClr val="000000"/>
                </a:solidFill>
                <a:latin typeface="Times New Roman"/>
              </a:rPr>
              <a:t>79</a:t>
            </a:fld>
            <a:endParaRPr lang="en-US" sz="1200" b="0" strike="noStrike" spc="-1">
              <a:solidFill>
                <a:srgbClr val="000000"/>
              </a:solidFill>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PlaceHolder 1"/>
          <p:cNvSpPr>
            <a:spLocks noGrp="1" noRot="1" noChangeAspect="1"/>
          </p:cNvSpPr>
          <p:nvPr>
            <p:ph type="sldImg"/>
          </p:nvPr>
        </p:nvSpPr>
        <p:spPr>
          <a:xfrm>
            <a:off x="685800" y="1143000"/>
            <a:ext cx="5486040" cy="3085920"/>
          </a:xfrm>
          <a:prstGeom prst="rect">
            <a:avLst/>
          </a:prstGeom>
          <a:ln w="0">
            <a:noFill/>
          </a:ln>
        </p:spPr>
      </p:sp>
      <p:sp>
        <p:nvSpPr>
          <p:cNvPr id="6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Retomar del Cap 1: particiones = cajas de supermercado, RF = escriba y copistas. El desafío del Lab 05: intentar reducir particiones y entender el rechazo.</a:t>
            </a:r>
          </a:p>
        </p:txBody>
      </p:sp>
      <p:sp>
        <p:nvSpPr>
          <p:cNvPr id="681"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BE033C4-E2F9-4FB9-BB98-DB70B591A4D9}" type="slidenum">
              <a:rPr lang="es-MX" sz="1200" b="0" strike="noStrike" spc="-1">
                <a:solidFill>
                  <a:srgbClr val="000000"/>
                </a:solidFill>
                <a:latin typeface="Times New Roman"/>
              </a:rPr>
              <a:t>80</a:t>
            </a:fld>
            <a:endParaRPr lang="en-US" sz="1200" b="0" strike="noStrike" spc="-1">
              <a:solidFill>
                <a:srgbClr val="000000"/>
              </a:solidFill>
              <a:latin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PlaceHolder 1"/>
          <p:cNvSpPr>
            <a:spLocks noGrp="1" noRot="1" noChangeAspect="1"/>
          </p:cNvSpPr>
          <p:nvPr>
            <p:ph type="sldImg"/>
          </p:nvPr>
        </p:nvSpPr>
        <p:spPr>
          <a:xfrm>
            <a:off x="685800" y="1143000"/>
            <a:ext cx="5486040" cy="3085920"/>
          </a:xfrm>
          <a:prstGeom prst="rect">
            <a:avLst/>
          </a:prstGeom>
          <a:ln w="0">
            <a:noFill/>
          </a:ln>
        </p:spPr>
      </p:sp>
      <p:sp>
        <p:nvSpPr>
          <p:cNvPr id="6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el archivo de oficina que se purga por cajas, no por hojas. retention.ms/bytes deciden cuánto vive; segment.ms el tamaño de la caja. Borrar el segmento completo es O(1). En el Lab 05 verán la retención eliminar datos EN VIVO.</a:t>
            </a:r>
          </a:p>
        </p:txBody>
      </p:sp>
      <p:sp>
        <p:nvSpPr>
          <p:cNvPr id="684"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AB46CE7E-6ADE-49E9-B39E-238AA8BD2663}" type="slidenum">
              <a:rPr lang="es-MX" sz="1200" b="0" strike="noStrike" spc="-1">
                <a:solidFill>
                  <a:srgbClr val="000000"/>
                </a:solidFill>
                <a:latin typeface="Times New Roman"/>
              </a:rPr>
              <a:t>81</a:t>
            </a:fld>
            <a:endParaRPr lang="en-US" sz="1200" b="0" strike="noStrike" spc="-1">
              <a:solidFill>
                <a:srgbClr val="000000"/>
              </a:solidFill>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PlaceHolder 1"/>
          <p:cNvSpPr>
            <a:spLocks noGrp="1" noRot="1" noChangeAspect="1"/>
          </p:cNvSpPr>
          <p:nvPr>
            <p:ph type="sldImg"/>
          </p:nvPr>
        </p:nvSpPr>
        <p:spPr>
          <a:xfrm>
            <a:off x="685800" y="1143000"/>
            <a:ext cx="5486040" cy="3085920"/>
          </a:xfrm>
          <a:prstGeom prst="rect">
            <a:avLst/>
          </a:prstGeom>
          <a:ln w="0">
            <a:noFill/>
          </a:ln>
        </p:spPr>
      </p:sp>
      <p:sp>
        <p:nvSpPr>
          <p:cNvPr id="6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Retomar el offset del Cap 1, ahora tangible: producir en una ventana, consumir en otra, ver el mensaje aparecer. Lab 06.</a:t>
            </a:r>
          </a:p>
        </p:txBody>
      </p:sp>
      <p:sp>
        <p:nvSpPr>
          <p:cNvPr id="687"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AE9D01F-5342-4C22-B5A7-B71DE84AB772}" type="slidenum">
              <a:rPr lang="es-MX" sz="1200" b="0" strike="noStrike" spc="-1">
                <a:solidFill>
                  <a:srgbClr val="000000"/>
                </a:solidFill>
                <a:latin typeface="Times New Roman"/>
              </a:rPr>
              <a:t>82</a:t>
            </a:fld>
            <a:endParaRPr lang="en-US" sz="1200" b="0" strike="noStrike" spc="-1">
              <a:solidFill>
                <a:srgbClr val="000000"/>
              </a:solidFill>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 name="PlaceHolder 1"/>
          <p:cNvSpPr>
            <a:spLocks noGrp="1" noRot="1" noChangeAspect="1"/>
          </p:cNvSpPr>
          <p:nvPr>
            <p:ph type="sldImg"/>
          </p:nvPr>
        </p:nvSpPr>
        <p:spPr>
          <a:xfrm>
            <a:off x="685800" y="1143000"/>
            <a:ext cx="5486040" cy="3085920"/>
          </a:xfrm>
          <a:prstGeom prst="rect">
            <a:avLst/>
          </a:prstGeom>
          <a:ln w="0">
            <a:noFill/>
          </a:ln>
        </p:spPr>
      </p:sp>
      <p:sp>
        <p:nvSpPr>
          <p:cNvPr id="6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Bloque D: medir antes de opinar. Desemboca en el Lab 07.</a:t>
            </a:r>
          </a:p>
        </p:txBody>
      </p:sp>
      <p:sp>
        <p:nvSpPr>
          <p:cNvPr id="690"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7938C4A-D2BB-4CAA-B611-E7804C598242}" type="slidenum">
              <a:rPr lang="es-MX" sz="1200" b="0" strike="noStrike" spc="-1">
                <a:solidFill>
                  <a:srgbClr val="000000"/>
                </a:solidFill>
                <a:latin typeface="Times New Roman"/>
              </a:rPr>
              <a:t>83</a:t>
            </a:fld>
            <a:endParaRPr lang="en-US" sz="1200" b="0" strike="noStrike" spc="-1">
              <a:solidFill>
                <a:srgbClr val="000000"/>
              </a:solidFill>
              <a:latin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 name="PlaceHolder 1"/>
          <p:cNvSpPr>
            <a:spLocks noGrp="1" noRot="1" noChangeAspect="1"/>
          </p:cNvSpPr>
          <p:nvPr>
            <p:ph type="sldImg"/>
          </p:nvPr>
        </p:nvSpPr>
        <p:spPr>
          <a:xfrm>
            <a:off x="685800" y="1143000"/>
            <a:ext cx="5486040" cy="3085920"/>
          </a:xfrm>
          <a:prstGeom prst="rect">
            <a:avLst/>
          </a:prstGeom>
          <a:ln w="0">
            <a:noFill/>
          </a:ln>
        </p:spPr>
      </p:sp>
      <p:sp>
        <p:nvSpPr>
          <p:cNvPr id="6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 despensa (disco/page cache), los mozos (red), la mesada (RAM), los cocineros (CPU). Si cualquiera es el cuello de botella, toda la cocina se atasca. El tuning balancea los cuatro, no optimiza uno.</a:t>
            </a:r>
          </a:p>
        </p:txBody>
      </p:sp>
      <p:sp>
        <p:nvSpPr>
          <p:cNvPr id="693"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3DBE62E-DA58-46E7-841A-54D74FD52281}" type="slidenum">
              <a:rPr lang="es-MX" sz="1200" b="0" strike="noStrike" spc="-1">
                <a:solidFill>
                  <a:srgbClr val="000000"/>
                </a:solidFill>
                <a:latin typeface="Times New Roman"/>
              </a:rPr>
              <a:t>84</a:t>
            </a:fld>
            <a:endParaRPr lang="en-US" sz="1200" b="0" strike="noStrike" spc="-1">
              <a:solidFill>
                <a:srgbClr val="000000"/>
              </a:solidFill>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PlaceHolder 1"/>
          <p:cNvSpPr>
            <a:spLocks noGrp="1" noRot="1" noChangeAspect="1"/>
          </p:cNvSpPr>
          <p:nvPr>
            <p:ph type="sldImg"/>
          </p:nvPr>
        </p:nvSpPr>
        <p:spPr>
          <a:xfrm>
            <a:off x="685800" y="1143000"/>
            <a:ext cx="5486040" cy="3085920"/>
          </a:xfrm>
          <a:prstGeom prst="rect">
            <a:avLst/>
          </a:prstGeom>
          <a:ln w="0">
            <a:noFill/>
          </a:ln>
        </p:spPr>
      </p:sp>
      <p:sp>
        <p:nvSpPr>
          <p:cNvPr id="6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dato que sorprende a admins: heap grande = menos page cache = peor rendimiento. Kafka QUIERE que el SO tenga RAM libre.</a:t>
            </a:r>
          </a:p>
        </p:txBody>
      </p:sp>
      <p:sp>
        <p:nvSpPr>
          <p:cNvPr id="696"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A432AC5A-1E40-4861-B9B7-461B17695336}" type="slidenum">
              <a:rPr lang="es-MX" sz="1200" b="0" strike="noStrike" spc="-1">
                <a:solidFill>
                  <a:srgbClr val="000000"/>
                </a:solidFill>
                <a:latin typeface="Times New Roman"/>
              </a:rPr>
              <a:t>85</a:t>
            </a:fld>
            <a:endParaRPr lang="en-US" sz="1200" b="0" strike="noStrike" spc="-1">
              <a:solidFill>
                <a:srgbClr val="000000"/>
              </a:solidFill>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 name="PlaceHolder 1"/>
          <p:cNvSpPr>
            <a:spLocks noGrp="1" noRot="1" noChangeAspect="1"/>
          </p:cNvSpPr>
          <p:nvPr>
            <p:ph type="sldImg"/>
          </p:nvPr>
        </p:nvSpPr>
        <p:spPr>
          <a:xfrm>
            <a:off x="685800" y="1143000"/>
            <a:ext cx="5486040" cy="3085920"/>
          </a:xfrm>
          <a:prstGeom prst="rect">
            <a:avLst/>
          </a:prstGeom>
          <a:ln w="0">
            <a:noFill/>
          </a:ln>
        </p:spPr>
      </p:sp>
      <p:sp>
        <p:nvSpPr>
          <p:cNvPr id="6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Bloque E: el clúster vivo que se reorganiza sin detenerse. Desemboca en el Lab 08.</a:t>
            </a:r>
          </a:p>
        </p:txBody>
      </p:sp>
      <p:sp>
        <p:nvSpPr>
          <p:cNvPr id="699"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5C70A1F-4504-4781-B0DB-57F5CFB75929}" type="slidenum">
              <a:rPr lang="es-MX" sz="1200" b="0" strike="noStrike" spc="-1">
                <a:solidFill>
                  <a:srgbClr val="000000"/>
                </a:solidFill>
                <a:latin typeface="Times New Roman"/>
              </a:rPr>
              <a:t>86</a:t>
            </a:fld>
            <a:endParaRPr lang="en-US" sz="1200" b="0" strike="noStrike" spc="-1">
              <a:solidFill>
                <a:srgbClr val="000000"/>
              </a:solidFill>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PlaceHolder 1"/>
          <p:cNvSpPr>
            <a:spLocks noGrp="1" noRot="1" noChangeAspect="1"/>
          </p:cNvSpPr>
          <p:nvPr>
            <p:ph type="sldImg"/>
          </p:nvPr>
        </p:nvSpPr>
        <p:spPr>
          <a:xfrm>
            <a:off x="685800" y="1143000"/>
            <a:ext cx="5486040" cy="3085920"/>
          </a:xfrm>
          <a:prstGeom prst="rect">
            <a:avLst/>
          </a:prstGeom>
          <a:ln w="0">
            <a:noFill/>
          </a:ln>
        </p:spPr>
      </p:sp>
      <p:sp>
        <p:nvSpPr>
          <p:cNvPr id="7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la distribución de turnos en un hospital — si todos los médicos senior quedan en el mismo turno, ese turno se sobrecarga y los demás quedan flojos.</a:t>
            </a:r>
          </a:p>
        </p:txBody>
      </p:sp>
      <p:sp>
        <p:nvSpPr>
          <p:cNvPr id="702"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59225F1-40D7-4A87-8063-4FC1155292FF}" type="slidenum">
              <a:rPr lang="es-MX" sz="1200" b="0" strike="noStrike" spc="-1">
                <a:solidFill>
                  <a:srgbClr val="000000"/>
                </a:solidFill>
                <a:latin typeface="Times New Roman"/>
              </a:rPr>
              <a:t>87</a:t>
            </a:fld>
            <a:endParaRPr lang="en-US" sz="1200" b="0" strike="noStrike" spc="-1">
              <a:solidFill>
                <a:srgbClr val="000000"/>
              </a:solidFill>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 name="PlaceHolder 1"/>
          <p:cNvSpPr>
            <a:spLocks noGrp="1" noRot="1" noChangeAspect="1"/>
          </p:cNvSpPr>
          <p:nvPr>
            <p:ph type="sldImg"/>
          </p:nvPr>
        </p:nvSpPr>
        <p:spPr>
          <a:xfrm>
            <a:off x="685800" y="1143000"/>
            <a:ext cx="5486040" cy="3085920"/>
          </a:xfrm>
          <a:prstGeom prst="rect">
            <a:avLst/>
          </a:prstGeom>
          <a:ln w="0">
            <a:noFill/>
          </a:ln>
        </p:spPr>
      </p:sp>
      <p:sp>
        <p:nvSpPr>
          <p:cNvPr id="7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kafka-reassign-partitions mueve réplicas entre brokers SIN parar el servicio. Conectar con el Dynamic Quorum del Cap 2: aquí es el equivalente para brokers de datos. El Lab 08 lo hace en vivo.</a:t>
            </a:r>
          </a:p>
        </p:txBody>
      </p:sp>
      <p:sp>
        <p:nvSpPr>
          <p:cNvPr id="705"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CBCFE99-5EBB-4591-AF1F-ACFCFB1DB242}" type="slidenum">
              <a:rPr lang="es-MX" sz="1200" b="0" strike="noStrike" spc="-1">
                <a:solidFill>
                  <a:srgbClr val="000000"/>
                </a:solidFill>
                <a:latin typeface="Times New Roman"/>
              </a:rPr>
              <a:t>88</a:t>
            </a:fld>
            <a:endParaRPr lang="en-US" sz="1200" b="0" strike="noStrike" spc="-1">
              <a:solidFill>
                <a:srgbClr val="000000"/>
              </a:solidFill>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PlaceHolder 1"/>
          <p:cNvSpPr>
            <a:spLocks noGrp="1" noRot="1" noChangeAspect="1"/>
          </p:cNvSpPr>
          <p:nvPr>
            <p:ph type="sldImg"/>
          </p:nvPr>
        </p:nvSpPr>
        <p:spPr>
          <a:xfrm>
            <a:off x="685800" y="1143000"/>
            <a:ext cx="5486040" cy="3085920"/>
          </a:xfrm>
          <a:prstGeom prst="rect">
            <a:avLst/>
          </a:prstGeom>
          <a:ln w="0">
            <a:noFill/>
          </a:ln>
        </p:spPr>
      </p:sp>
      <p:sp>
        <p:nvSpPr>
          <p:cNvPr id="7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teórico de la unidad más práctica del curso. Transición: seis labs encadenados, del broker a la operación en caliente.</a:t>
            </a:r>
          </a:p>
        </p:txBody>
      </p:sp>
      <p:sp>
        <p:nvSpPr>
          <p:cNvPr id="708"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58B95C1-261D-44EE-8ECC-B43DD46EF0AB}" type="slidenum">
              <a:rPr lang="es-MX" sz="1200" b="0" strike="noStrike" spc="-1">
                <a:solidFill>
                  <a:srgbClr val="000000"/>
                </a:solidFill>
                <a:latin typeface="Times New Roman"/>
              </a:rPr>
              <a:t>89</a:t>
            </a:fld>
            <a:endParaRPr lang="en-US" sz="1200" b="0" strike="noStrike" spc="-1">
              <a:solidFill>
                <a:srgbClr val="000000"/>
              </a:solidFill>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PlaceHolder 1"/>
          <p:cNvSpPr>
            <a:spLocks noGrp="1" noRot="1" noChangeAspect="1"/>
          </p:cNvSpPr>
          <p:nvPr>
            <p:ph type="sldImg"/>
          </p:nvPr>
        </p:nvSpPr>
        <p:spPr>
          <a:xfrm>
            <a:off x="685800" y="1143000"/>
            <a:ext cx="5486040" cy="3085920"/>
          </a:xfrm>
          <a:prstGeom prst="rect">
            <a:avLst/>
          </a:prstGeom>
          <a:ln w="0">
            <a:noFill/>
          </a:ln>
        </p:spPr>
      </p:sp>
      <p:sp>
        <p:nvSpPr>
          <p:cNvPr id="7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Primer lab de la unidad. Conectar con el "manual de puesto" (3.1): el manual que vieron en slides ahora lo leen en un broker real.</a:t>
            </a:r>
          </a:p>
        </p:txBody>
      </p:sp>
      <p:sp>
        <p:nvSpPr>
          <p:cNvPr id="711"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9B1FAB8-DAE4-4EBA-B06D-83A3DC3B0D90}" type="slidenum">
              <a:rPr lang="es-MX" sz="1200" b="0" strike="noStrike" spc="-1">
                <a:solidFill>
                  <a:srgbClr val="000000"/>
                </a:solidFill>
                <a:latin typeface="Times New Roman"/>
              </a:rPr>
              <a:t>90</a:t>
            </a:fld>
            <a:endParaRPr lang="en-US" sz="1200" b="0" strike="noStrike" spc="-1">
              <a:solidFill>
                <a:srgbClr val="000000"/>
              </a:solidFill>
              <a:latin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PlaceHolder 1"/>
          <p:cNvSpPr>
            <a:spLocks noGrp="1" noRot="1" noChangeAspect="1"/>
          </p:cNvSpPr>
          <p:nvPr>
            <p:ph type="sldImg"/>
          </p:nvPr>
        </p:nvSpPr>
        <p:spPr>
          <a:xfrm>
            <a:off x="685800" y="1143000"/>
            <a:ext cx="5486040" cy="3085920"/>
          </a:xfrm>
          <a:prstGeom prst="rect">
            <a:avLst/>
          </a:prstGeom>
          <a:ln w="0">
            <a:noFill/>
          </a:ln>
        </p:spPr>
      </p:sp>
      <p:sp>
        <p:nvSpPr>
          <p:cNvPr id="7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alumno sale leyendo la configuración de un broker como quien lee el manual de puesto: sabiendo qué hace cada línea.</a:t>
            </a:r>
          </a:p>
        </p:txBody>
      </p:sp>
      <p:sp>
        <p:nvSpPr>
          <p:cNvPr id="714"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D71DFB1-1505-456E-8968-A5C0A1729535}" type="slidenum">
              <a:rPr lang="es-MX" sz="1200" b="0" strike="noStrike" spc="-1">
                <a:solidFill>
                  <a:srgbClr val="000000"/>
                </a:solidFill>
                <a:latin typeface="Times New Roman"/>
              </a:rPr>
              <a:t>91</a:t>
            </a:fld>
            <a:endParaRPr lang="en-US" sz="1200" b="0" strike="noStrike" spc="-1">
              <a:solidFill>
                <a:srgbClr val="000000"/>
              </a:solidFill>
              <a:latin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PlaceHolder 1"/>
          <p:cNvSpPr>
            <a:spLocks noGrp="1" noRot="1" noChangeAspect="1"/>
          </p:cNvSpPr>
          <p:nvPr>
            <p:ph type="sldImg"/>
          </p:nvPr>
        </p:nvSpPr>
        <p:spPr>
          <a:xfrm>
            <a:off x="685800" y="1143000"/>
            <a:ext cx="5486040" cy="3085920"/>
          </a:xfrm>
          <a:prstGeom prst="rect">
            <a:avLst/>
          </a:prstGeom>
          <a:ln w="0">
            <a:noFill/>
          </a:ln>
        </p:spPr>
      </p:sp>
      <p:sp>
        <p:nvSpPr>
          <p:cNvPr id="7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parámetro que más incidentes genera en producción. Vivir el error en frío evita sufrirlo en caliente. Conectar cada Timeout con el diagrama del conserje (3.2).</a:t>
            </a:r>
          </a:p>
        </p:txBody>
      </p:sp>
      <p:sp>
        <p:nvSpPr>
          <p:cNvPr id="717"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973550A-1A34-434C-8E97-9C0F00384155}" type="slidenum">
              <a:rPr lang="es-MX" sz="1200" b="0" strike="noStrike" spc="-1">
                <a:solidFill>
                  <a:srgbClr val="000000"/>
                </a:solidFill>
                <a:latin typeface="Times New Roman"/>
              </a:rPr>
              <a:t>92</a:t>
            </a:fld>
            <a:endParaRPr lang="en-US" sz="1200" b="0" strike="noStrike" spc="-1">
              <a:solidFill>
                <a:srgbClr val="000000"/>
              </a:solidFill>
              <a:latin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PlaceHolder 1"/>
          <p:cNvSpPr>
            <a:spLocks noGrp="1" noRot="1" noChangeAspect="1"/>
          </p:cNvSpPr>
          <p:nvPr>
            <p:ph type="sldImg"/>
          </p:nvPr>
        </p:nvSpPr>
        <p:spPr>
          <a:xfrm>
            <a:off x="685800" y="1143000"/>
            <a:ext cx="5486040" cy="3085920"/>
          </a:xfrm>
          <a:prstGeom prst="rect">
            <a:avLst/>
          </a:prstGeom>
          <a:ln w="0">
            <a:noFill/>
          </a:ln>
        </p:spPr>
      </p:sp>
      <p:sp>
        <p:nvSpPr>
          <p:cNvPr id="7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Quien completa este lab queda vacunado contra el incidente #1 de conectividad Kafka en producción.</a:t>
            </a:r>
          </a:p>
        </p:txBody>
      </p:sp>
      <p:sp>
        <p:nvSpPr>
          <p:cNvPr id="720"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5163E589-AFA9-4D1B-87D2-C7CB90B80450}" type="slidenum">
              <a:rPr lang="es-MX" sz="1200" b="0" strike="noStrike" spc="-1">
                <a:solidFill>
                  <a:srgbClr val="000000"/>
                </a:solidFill>
                <a:latin typeface="Times New Roman"/>
              </a:rPr>
              <a:t>93</a:t>
            </a:fld>
            <a:endParaRPr lang="en-US" sz="1200" b="0" strike="noStrike" spc="-1">
              <a:solidFill>
                <a:srgbClr val="000000"/>
              </a:solidFill>
              <a:latin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PlaceHolder 1"/>
          <p:cNvSpPr>
            <a:spLocks noGrp="1" noRot="1" noChangeAspect="1"/>
          </p:cNvSpPr>
          <p:nvPr>
            <p:ph type="sldImg"/>
          </p:nvPr>
        </p:nvSpPr>
        <p:spPr>
          <a:xfrm>
            <a:off x="685800" y="1143000"/>
            <a:ext cx="5486040" cy="3085920"/>
          </a:xfrm>
          <a:prstGeom prst="rect">
            <a:avLst/>
          </a:prstGeom>
          <a:ln w="0">
            <a:noFill/>
          </a:ln>
        </p:spPr>
      </p:sp>
      <p:sp>
        <p:nvSpPr>
          <p:cNvPr id="7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momento didáctico: el tópico efímero (retención corta) pierde datos mientras el resiliente los conserva — la teoría de 3.3 hecha experimento observable.</a:t>
            </a:r>
          </a:p>
        </p:txBody>
      </p:sp>
      <p:sp>
        <p:nvSpPr>
          <p:cNvPr id="723"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2DC39FC-D862-4AF9-B245-A967BE1ED852}" type="slidenum">
              <a:rPr lang="es-MX" sz="1200" b="0" strike="noStrike" spc="-1">
                <a:solidFill>
                  <a:srgbClr val="000000"/>
                </a:solidFill>
                <a:latin typeface="Times New Roman"/>
              </a:rPr>
              <a:t>94</a:t>
            </a:fld>
            <a:endParaRPr lang="en-US" sz="1200" b="0" strike="noStrike" spc="-1">
              <a:solidFill>
                <a:srgbClr val="000000"/>
              </a:solidFill>
              <a:latin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 name="PlaceHolder 1"/>
          <p:cNvSpPr>
            <a:spLocks noGrp="1" noRot="1" noChangeAspect="1"/>
          </p:cNvSpPr>
          <p:nvPr>
            <p:ph type="sldImg"/>
          </p:nvPr>
        </p:nvSpPr>
        <p:spPr>
          <a:xfrm>
            <a:off x="685800" y="1143000"/>
            <a:ext cx="5486040" cy="3085920"/>
          </a:xfrm>
          <a:prstGeom prst="rect">
            <a:avLst/>
          </a:prstGeom>
          <a:ln w="0">
            <a:noFill/>
          </a:ln>
        </p:spPr>
      </p:sp>
      <p:sp>
        <p:nvSpPr>
          <p:cNvPr id="7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 regla "particiones solo crecen" deja de ser un dato memorizado: la vieron rebotar contra el broker.</a:t>
            </a:r>
          </a:p>
        </p:txBody>
      </p:sp>
      <p:sp>
        <p:nvSpPr>
          <p:cNvPr id="726"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CA0DF9B-3C26-4A0B-BDAF-EF596CBC6FA2}" type="slidenum">
              <a:rPr lang="es-MX" sz="1200" b="0" strike="noStrike" spc="-1">
                <a:solidFill>
                  <a:srgbClr val="000000"/>
                </a:solidFill>
                <a:latin typeface="Times New Roman"/>
              </a:rPr>
              <a:t>95</a:t>
            </a:fld>
            <a:endParaRPr lang="en-US" sz="1200" b="0" strike="noStrike" spc="-1">
              <a:solidFill>
                <a:srgbClr val="000000"/>
              </a:solidFill>
              <a:latin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PlaceHolder 1"/>
          <p:cNvSpPr>
            <a:spLocks noGrp="1" noRot="1" noChangeAspect="1"/>
          </p:cNvSpPr>
          <p:nvPr>
            <p:ph type="sldImg"/>
          </p:nvPr>
        </p:nvSpPr>
        <p:spPr>
          <a:xfrm>
            <a:off x="685800" y="1143000"/>
            <a:ext cx="5486040" cy="3085920"/>
          </a:xfrm>
          <a:prstGeom prst="rect">
            <a:avLst/>
          </a:prstGeom>
          <a:ln w="0">
            <a:noFill/>
          </a:ln>
        </p:spPr>
      </p:sp>
      <p:sp>
        <p:nvSpPr>
          <p:cNvPr id="7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offset del Cap 1, tangible: dos ventanas, un mensaje viajando, la memoria avanzando. Conectar con la narrativa NovaTech (eventos de flota entrando y siendo leídos).</a:t>
            </a:r>
          </a:p>
        </p:txBody>
      </p:sp>
      <p:sp>
        <p:nvSpPr>
          <p:cNvPr id="729" name="PlaceHolder 3"/>
          <p:cNvSpPr>
            <a:spLocks noGrp="1"/>
          </p:cNvSpPr>
          <p:nvPr>
            <p:ph type="sldNum" idx="8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0C862E7-B410-4A2E-83B8-0691A0354FB0}" type="slidenum">
              <a:rPr lang="es-MX" sz="1200" b="0" strike="noStrike" spc="-1">
                <a:solidFill>
                  <a:srgbClr val="000000"/>
                </a:solidFill>
                <a:latin typeface="Times New Roman"/>
              </a:rPr>
              <a:t>96</a:t>
            </a:fld>
            <a:endParaRPr lang="en-US" sz="1200" b="0" strike="noStrike" spc="-1">
              <a:solidFill>
                <a:srgbClr val="000000"/>
              </a:solidFill>
              <a:latin typeface="Times New Roman"/>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 name="PlaceHolder 1"/>
          <p:cNvSpPr>
            <a:spLocks noGrp="1" noRot="1" noChangeAspect="1"/>
          </p:cNvSpPr>
          <p:nvPr>
            <p:ph type="sldImg"/>
          </p:nvPr>
        </p:nvSpPr>
        <p:spPr>
          <a:xfrm>
            <a:off x="685800" y="1143000"/>
            <a:ext cx="5486040" cy="3085920"/>
          </a:xfrm>
          <a:prstGeom prst="rect">
            <a:avLst/>
          </a:prstGeom>
          <a:ln w="0">
            <a:noFill/>
          </a:ln>
        </p:spPr>
      </p:sp>
      <p:sp>
        <p:nvSpPr>
          <p:cNvPr id="7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modelo mental del log + offset queda cerrado con evidencia de primera mano.</a:t>
            </a:r>
          </a:p>
        </p:txBody>
      </p:sp>
      <p:sp>
        <p:nvSpPr>
          <p:cNvPr id="732" name="PlaceHolder 3"/>
          <p:cNvSpPr>
            <a:spLocks noGrp="1"/>
          </p:cNvSpPr>
          <p:nvPr>
            <p:ph type="sldNum" idx="8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5CF6C8A-E247-4101-BA8F-797635647F5E}" type="slidenum">
              <a:rPr lang="es-MX" sz="1200" b="0" strike="noStrike" spc="-1">
                <a:solidFill>
                  <a:srgbClr val="000000"/>
                </a:solidFill>
                <a:latin typeface="Times New Roman"/>
              </a:rPr>
              <a:t>97</a:t>
            </a:fld>
            <a:endParaRPr lang="en-US" sz="1200" b="0" strike="noStrike" spc="-1">
              <a:solidFill>
                <a:srgbClr val="000000"/>
              </a:solidFill>
              <a:latin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PlaceHolder 1"/>
          <p:cNvSpPr>
            <a:spLocks noGrp="1" noRot="1" noChangeAspect="1"/>
          </p:cNvSpPr>
          <p:nvPr>
            <p:ph type="sldImg"/>
          </p:nvPr>
        </p:nvSpPr>
        <p:spPr>
          <a:xfrm>
            <a:off x="685800" y="1143000"/>
            <a:ext cx="5486040" cy="3085920"/>
          </a:xfrm>
          <a:prstGeom prst="rect">
            <a:avLst/>
          </a:prstGeom>
          <a:ln w="0">
            <a:noFill/>
          </a:ln>
        </p:spPr>
      </p:sp>
      <p:sp>
        <p:nvSpPr>
          <p:cNvPr id="7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Advertir: los números absolutos dependen del hardware; lo que importa es el DELTA entre configuraciones. La cocina en hora punta (3.4), ahora con instrumentos.</a:t>
            </a:r>
          </a:p>
        </p:txBody>
      </p:sp>
      <p:sp>
        <p:nvSpPr>
          <p:cNvPr id="735" name="PlaceHolder 3"/>
          <p:cNvSpPr>
            <a:spLocks noGrp="1"/>
          </p:cNvSpPr>
          <p:nvPr>
            <p:ph type="sldNum" idx="8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915D9EC-1542-4A07-8CE1-4A8470DCFDFB}" type="slidenum">
              <a:rPr lang="es-MX" sz="1200" b="0" strike="noStrike" spc="-1">
                <a:solidFill>
                  <a:srgbClr val="000000"/>
                </a:solidFill>
                <a:latin typeface="Times New Roman"/>
              </a:rPr>
              <a:t>98</a:t>
            </a:fld>
            <a:endParaRPr lang="en-US" sz="1200" b="0" strike="noStrike" spc="-1">
              <a:solidFill>
                <a:srgbClr val="000000"/>
              </a:solidFill>
              <a:latin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PlaceHolder 1"/>
          <p:cNvSpPr>
            <a:spLocks noGrp="1" noRot="1" noChangeAspect="1"/>
          </p:cNvSpPr>
          <p:nvPr>
            <p:ph type="sldImg"/>
          </p:nvPr>
        </p:nvSpPr>
        <p:spPr>
          <a:xfrm>
            <a:off x="685800" y="1143000"/>
            <a:ext cx="5486040" cy="3085920"/>
          </a:xfrm>
          <a:prstGeom prst="rect">
            <a:avLst/>
          </a:prstGeom>
          <a:ln w="0">
            <a:noFill/>
          </a:ln>
        </p:spPr>
      </p:sp>
      <p:sp>
        <p:nvSpPr>
          <p:cNvPr id="7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alumno deja de opinar sobre rendimiento y empieza a medirlo: la diferencia entre un operador y un operador profesional.</a:t>
            </a:r>
          </a:p>
        </p:txBody>
      </p:sp>
      <p:sp>
        <p:nvSpPr>
          <p:cNvPr id="738" name="PlaceHolder 3"/>
          <p:cNvSpPr>
            <a:spLocks noGrp="1"/>
          </p:cNvSpPr>
          <p:nvPr>
            <p:ph type="sldNum" idx="9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5A2A77D6-9CDF-4AA4-9CEB-2FDB44202F8A}" type="slidenum">
              <a:rPr lang="es-MX" sz="1200" b="0" strike="noStrike" spc="-1">
                <a:solidFill>
                  <a:srgbClr val="000000"/>
                </a:solidFill>
                <a:latin typeface="Times New Roman"/>
              </a:rPr>
              <a:t>99</a:t>
            </a:fld>
            <a:endParaRPr lang="en-US" sz="1200" b="0" strike="noStrike" spc="-1">
              <a:solidFill>
                <a:srgbClr val="000000"/>
              </a:solidFill>
              <a:latin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 name="PlaceHolder 1"/>
          <p:cNvSpPr>
            <a:spLocks noGrp="1" noRot="1" noChangeAspect="1"/>
          </p:cNvSpPr>
          <p:nvPr>
            <p:ph type="sldImg"/>
          </p:nvPr>
        </p:nvSpPr>
        <p:spPr>
          <a:xfrm>
            <a:off x="685800" y="1143000"/>
            <a:ext cx="5486040" cy="3085920"/>
          </a:xfrm>
          <a:prstGeom prst="rect">
            <a:avLst/>
          </a:prstGeom>
          <a:ln w="0">
            <a:noFill/>
          </a:ln>
        </p:spPr>
      </p:sp>
      <p:sp>
        <p:nvSpPr>
          <p:cNvPr id="7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cierre operativo de la unidad: la redistribución de turnos (3.5) ejecutada con el hospital abierto. Conectar con el Dynamic Quorum del Cap 2 — el mismo espíritu, ahora en el plano de datos.</a:t>
            </a:r>
          </a:p>
        </p:txBody>
      </p:sp>
      <p:sp>
        <p:nvSpPr>
          <p:cNvPr id="741" name="PlaceHolder 3"/>
          <p:cNvSpPr>
            <a:spLocks noGrp="1"/>
          </p:cNvSpPr>
          <p:nvPr>
            <p:ph type="sldNum" idx="9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06A3716-3B75-4D83-9622-E70B4305A98A}" type="slidenum">
              <a:rPr lang="es-MX" sz="1200" b="0" strike="noStrike" spc="-1">
                <a:solidFill>
                  <a:srgbClr val="000000"/>
                </a:solidFill>
                <a:latin typeface="Times New Roman"/>
              </a:rPr>
              <a:t>100</a:t>
            </a:fld>
            <a:endParaRPr lang="en-US" sz="1200" b="0" strike="noStrike" spc="-1">
              <a:solidFill>
                <a:srgbClr val="000000"/>
              </a:solidFill>
              <a:latin typeface="Times New Roman"/>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PlaceHolder 1"/>
          <p:cNvSpPr>
            <a:spLocks noGrp="1" noRot="1" noChangeAspect="1"/>
          </p:cNvSpPr>
          <p:nvPr>
            <p:ph type="sldImg"/>
          </p:nvPr>
        </p:nvSpPr>
        <p:spPr>
          <a:xfrm>
            <a:off x="685800" y="1143000"/>
            <a:ext cx="5486040" cy="3085920"/>
          </a:xfrm>
          <a:prstGeom prst="rect">
            <a:avLst/>
          </a:prstGeom>
          <a:ln w="0">
            <a:noFill/>
          </a:ln>
        </p:spPr>
      </p:sp>
      <p:sp>
        <p:nvSpPr>
          <p:cNvPr id="7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de la Unidad 3: el alumno operó un clúster vivo de punta a punta, incluida su reorganización sin downtime.</a:t>
            </a:r>
          </a:p>
        </p:txBody>
      </p:sp>
      <p:sp>
        <p:nvSpPr>
          <p:cNvPr id="744" name="PlaceHolder 3"/>
          <p:cNvSpPr>
            <a:spLocks noGrp="1"/>
          </p:cNvSpPr>
          <p:nvPr>
            <p:ph type="sldNum" idx="9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C2BC826-C2B6-4EF6-8676-E89A7CA31C47}" type="slidenum">
              <a:rPr lang="es-MX" sz="1200" b="0" strike="noStrike" spc="-1">
                <a:solidFill>
                  <a:srgbClr val="000000"/>
                </a:solidFill>
                <a:latin typeface="Times New Roman"/>
              </a:rPr>
              <a:t>101</a:t>
            </a:fld>
            <a:endParaRPr lang="en-US" sz="1200" b="0" strike="noStrike" spc="-1">
              <a:solidFill>
                <a:srgbClr val="000000"/>
              </a:solidFill>
              <a:latin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PlaceHolder 1"/>
          <p:cNvSpPr>
            <a:spLocks noGrp="1" noRot="1" noChangeAspect="1"/>
          </p:cNvSpPr>
          <p:nvPr>
            <p:ph type="sldImg"/>
          </p:nvPr>
        </p:nvSpPr>
        <p:spPr>
          <a:xfrm>
            <a:off x="685800" y="1143000"/>
            <a:ext cx="5486040" cy="3085920"/>
          </a:xfrm>
          <a:prstGeom prst="rect">
            <a:avLst/>
          </a:prstGeom>
          <a:ln w="0">
            <a:noFill/>
          </a:ln>
        </p:spPr>
      </p:sp>
      <p:sp>
        <p:nvSpPr>
          <p:cNvPr id="7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Referencias del capítulo 3. Kafka: The Definitive Guide 2ª edición cubre operación, tuning y administración de tópicos en profundidad.</a:t>
            </a:r>
          </a:p>
        </p:txBody>
      </p:sp>
      <p:sp>
        <p:nvSpPr>
          <p:cNvPr id="747" name="PlaceHolder 3"/>
          <p:cNvSpPr>
            <a:spLocks noGrp="1"/>
          </p:cNvSpPr>
          <p:nvPr>
            <p:ph type="sldNum" idx="9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37B59012-8C57-4130-8C2D-02144B2E671E}" type="slidenum">
              <a:rPr lang="es-MX" sz="1200" b="0" strike="noStrike" spc="-1">
                <a:solidFill>
                  <a:srgbClr val="000000"/>
                </a:solidFill>
                <a:latin typeface="Times New Roman"/>
              </a:rPr>
              <a:t>102</a:t>
            </a:fld>
            <a:endParaRPr lang="en-US" sz="1200" b="0" strike="noStrike" spc="-1">
              <a:solidFill>
                <a:srgbClr val="000000"/>
              </a:solidFill>
              <a:latin typeface="Times New Roman"/>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PlaceHolder 1"/>
          <p:cNvSpPr>
            <a:spLocks noGrp="1" noRot="1" noChangeAspect="1"/>
          </p:cNvSpPr>
          <p:nvPr>
            <p:ph type="sldImg"/>
          </p:nvPr>
        </p:nvSpPr>
        <p:spPr>
          <a:xfrm>
            <a:off x="685800" y="1143000"/>
            <a:ext cx="5486040" cy="3085920"/>
          </a:xfrm>
          <a:prstGeom prst="rect">
            <a:avLst/>
          </a:prstGeom>
          <a:ln w="0">
            <a:noFill/>
          </a:ln>
        </p:spPr>
      </p:sp>
      <p:sp>
        <p:nvSpPr>
          <p:cNvPr id="7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Encuadre: "ya operan un clúster de punta a punta. Ahora lo rodeamos de su ecosistema: cómo se conectan las aplicaciones reales y cómo se gobierna la forma de los datos". Retomar el diagrama de capas del Cap 1 mostrando qué anillos se abren.</a:t>
            </a:r>
          </a:p>
        </p:txBody>
      </p:sp>
      <p:sp>
        <p:nvSpPr>
          <p:cNvPr id="750" name="PlaceHolder 3"/>
          <p:cNvSpPr>
            <a:spLocks noGrp="1"/>
          </p:cNvSpPr>
          <p:nvPr>
            <p:ph type="sldNum" idx="9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9EA8FF6-6179-47FE-934C-B28F6ADD4BC7}" type="slidenum">
              <a:rPr lang="es-MX" sz="1200" b="0" strike="noStrike" spc="-1">
                <a:solidFill>
                  <a:srgbClr val="000000"/>
                </a:solidFill>
                <a:latin typeface="Times New Roman"/>
              </a:rPr>
              <a:t>103</a:t>
            </a:fld>
            <a:endParaRPr lang="en-US" sz="1200" b="0" strike="noStrike" spc="-1">
              <a:solidFill>
                <a:srgbClr val="000000"/>
              </a:solidFill>
              <a:latin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 name="PlaceHolder 1"/>
          <p:cNvSpPr>
            <a:spLocks noGrp="1" noRot="1" noChangeAspect="1"/>
          </p:cNvSpPr>
          <p:nvPr>
            <p:ph type="sldImg"/>
          </p:nvPr>
        </p:nvSpPr>
        <p:spPr>
          <a:xfrm>
            <a:off x="685800" y="1143000"/>
            <a:ext cx="5486040" cy="3085920"/>
          </a:xfrm>
          <a:prstGeom prst="rect">
            <a:avLst/>
          </a:prstGeom>
          <a:ln w="0">
            <a:noFill/>
          </a:ln>
        </p:spPr>
      </p:sp>
      <p:sp>
        <p:nvSpPr>
          <p:cNvPr id="7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techo del paralelismo y las perillas del cliente.</a:t>
            </a:r>
          </a:p>
        </p:txBody>
      </p:sp>
      <p:sp>
        <p:nvSpPr>
          <p:cNvPr id="753" name="PlaceHolder 3"/>
          <p:cNvSpPr>
            <a:spLocks noGrp="1"/>
          </p:cNvSpPr>
          <p:nvPr>
            <p:ph type="sldNum" idx="9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6BEED0B-A1D0-4C02-A808-4EC0F891C12C}" type="slidenum">
              <a:rPr lang="es-MX" sz="1200" b="0" strike="noStrike" spc="-1">
                <a:solidFill>
                  <a:srgbClr val="000000"/>
                </a:solidFill>
                <a:latin typeface="Times New Roman"/>
              </a:rPr>
              <a:t>104</a:t>
            </a:fld>
            <a:endParaRPr lang="en-US" sz="1200" b="0" strike="noStrike" spc="-1">
              <a:solidFill>
                <a:srgbClr val="000000"/>
              </a:solidFill>
              <a:latin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 name="PlaceHolder 1"/>
          <p:cNvSpPr>
            <a:spLocks noGrp="1" noRot="1" noChangeAspect="1"/>
          </p:cNvSpPr>
          <p:nvPr>
            <p:ph type="sldImg"/>
          </p:nvPr>
        </p:nvSpPr>
        <p:spPr>
          <a:xfrm>
            <a:off x="685800" y="1143000"/>
            <a:ext cx="5486040" cy="3085920"/>
          </a:xfrm>
          <a:prstGeom prst="rect">
            <a:avLst/>
          </a:prstGeom>
          <a:ln w="0">
            <a:noFill/>
          </a:ln>
        </p:spPr>
      </p:sp>
      <p:sp>
        <p:nvSpPr>
          <p:cNvPr id="7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Regla dura: una partición la lee UN solo miembro del grupo a la vez. Más consumidores que particiones = cobradores mirando. Menos = cada uno atiende varias cajas. Dimensionar particiones es dimensionar el peaje.</a:t>
            </a:r>
          </a:p>
        </p:txBody>
      </p:sp>
      <p:sp>
        <p:nvSpPr>
          <p:cNvPr id="756" name="PlaceHolder 3"/>
          <p:cNvSpPr>
            <a:spLocks noGrp="1"/>
          </p:cNvSpPr>
          <p:nvPr>
            <p:ph type="sldNum" idx="9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AD8651A3-69CB-4A43-AC04-9DCAC4C57F53}" type="slidenum">
              <a:rPr lang="es-MX" sz="1200" b="0" strike="noStrike" spc="-1">
                <a:solidFill>
                  <a:srgbClr val="000000"/>
                </a:solidFill>
                <a:latin typeface="Times New Roman"/>
              </a:rPr>
              <a:t>105</a:t>
            </a:fld>
            <a:endParaRPr lang="en-US" sz="1200" b="0" strike="noStrike" spc="-1">
              <a:solidFill>
                <a:srgbClr val="000000"/>
              </a:solidFill>
              <a:latin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PlaceHolder 1"/>
          <p:cNvSpPr>
            <a:spLocks noGrp="1" noRot="1" noChangeAspect="1"/>
          </p:cNvSpPr>
          <p:nvPr>
            <p:ph type="sldImg"/>
          </p:nvPr>
        </p:nvSpPr>
        <p:spPr>
          <a:xfrm>
            <a:off x="685800" y="1143000"/>
            <a:ext cx="5486040" cy="3085920"/>
          </a:xfrm>
          <a:prstGeom prst="rect">
            <a:avLst/>
          </a:prstGeom>
          <a:ln w="0">
            <a:noFill/>
          </a:ln>
        </p:spPr>
      </p:sp>
      <p:sp>
        <p:nvSpPr>
          <p:cNvPr id="7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Retomar la tríada del Cap 1 (acks/RF/min.ISR) y sumar las perillas de rendimiento del cliente. Los deltas medidos en el Lab 07 les dan contexto empírico a estas perillas.</a:t>
            </a:r>
          </a:p>
        </p:txBody>
      </p:sp>
      <p:sp>
        <p:nvSpPr>
          <p:cNvPr id="759" name="PlaceHolder 3"/>
          <p:cNvSpPr>
            <a:spLocks noGrp="1"/>
          </p:cNvSpPr>
          <p:nvPr>
            <p:ph type="sldNum" idx="9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0F53EE6-A94F-469B-BD4C-D15B63EB2CEB}" type="slidenum">
              <a:rPr lang="es-MX" sz="1200" b="0" strike="noStrike" spc="-1">
                <a:solidFill>
                  <a:srgbClr val="000000"/>
                </a:solidFill>
                <a:latin typeface="Times New Roman"/>
              </a:rPr>
              <a:t>106</a:t>
            </a:fld>
            <a:endParaRPr lang="en-US" sz="1200" b="0" strike="noStrike" spc="-1">
              <a:solidFill>
                <a:srgbClr val="000000"/>
              </a:solidFill>
              <a:latin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 name="PlaceHolder 1"/>
          <p:cNvSpPr>
            <a:spLocks noGrp="1" noRot="1" noChangeAspect="1"/>
          </p:cNvSpPr>
          <p:nvPr>
            <p:ph type="sldImg"/>
          </p:nvPr>
        </p:nvSpPr>
        <p:spPr>
          <a:xfrm>
            <a:off x="685800" y="1143000"/>
            <a:ext cx="5486040" cy="3085920"/>
          </a:xfrm>
          <a:prstGeom prst="rect">
            <a:avLst/>
          </a:prstGeom>
          <a:ln w="0">
            <a:noFill/>
          </a:ln>
        </p:spPr>
      </p:sp>
      <p:sp>
        <p:nvSpPr>
          <p:cNvPr id="7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Analogía: repartir de nuevo las mesas entre los mozos cuando entra o sale uno — necesario, pero si pasa cada dos minutos, nadie atiende bien.</a:t>
            </a:r>
          </a:p>
        </p:txBody>
      </p:sp>
      <p:sp>
        <p:nvSpPr>
          <p:cNvPr id="762" name="PlaceHolder 3"/>
          <p:cNvSpPr>
            <a:spLocks noGrp="1"/>
          </p:cNvSpPr>
          <p:nvPr>
            <p:ph type="sldNum" idx="9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32F44A6-BC43-4747-ADC8-565F3784E712}" type="slidenum">
              <a:rPr lang="es-MX" sz="1200" b="0" strike="noStrike" spc="-1">
                <a:solidFill>
                  <a:srgbClr val="000000"/>
                </a:solidFill>
                <a:latin typeface="Times New Roman"/>
              </a:rPr>
              <a:t>107</a:t>
            </a:fld>
            <a:endParaRPr lang="en-US" sz="1200" b="0" strike="noStrike" spc="-1">
              <a:solidFill>
                <a:srgbClr val="000000"/>
              </a:solidFill>
              <a:latin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 name="PlaceHolder 1"/>
          <p:cNvSpPr>
            <a:spLocks noGrp="1" noRot="1" noChangeAspect="1"/>
          </p:cNvSpPr>
          <p:nvPr>
            <p:ph type="sldImg"/>
          </p:nvPr>
        </p:nvSpPr>
        <p:spPr>
          <a:xfrm>
            <a:off x="685800" y="1143000"/>
            <a:ext cx="5486040" cy="3085920"/>
          </a:xfrm>
          <a:prstGeom prst="rect">
            <a:avLst/>
          </a:prstGeom>
          <a:ln w="0">
            <a:noFill/>
          </a:ln>
        </p:spPr>
      </p:sp>
      <p:sp>
        <p:nvSpPr>
          <p:cNvPr id="7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De la consola al código. Desemboca en el Lab 09.</a:t>
            </a:r>
          </a:p>
        </p:txBody>
      </p:sp>
      <p:sp>
        <p:nvSpPr>
          <p:cNvPr id="765" name="PlaceHolder 3"/>
          <p:cNvSpPr>
            <a:spLocks noGrp="1"/>
          </p:cNvSpPr>
          <p:nvPr>
            <p:ph type="sldNum" idx="9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AB353DB-336E-4226-88DE-E145B9B0EB7C}" type="slidenum">
              <a:rPr lang="es-MX" sz="1200" b="0" strike="noStrike" spc="-1">
                <a:solidFill>
                  <a:srgbClr val="000000"/>
                </a:solidFill>
                <a:latin typeface="Times New Roman"/>
              </a:rPr>
              <a:t>108</a:t>
            </a:fld>
            <a:endParaRPr lang="en-US" sz="1200" b="0" strike="noStrike" spc="-1">
              <a:solidFill>
                <a:srgbClr val="000000"/>
              </a:solidFill>
              <a:latin typeface="Times New Roman"/>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 name="PlaceHolder 1"/>
          <p:cNvSpPr>
            <a:spLocks noGrp="1" noRot="1" noChangeAspect="1"/>
          </p:cNvSpPr>
          <p:nvPr>
            <p:ph type="sldImg"/>
          </p:nvPr>
        </p:nvSpPr>
        <p:spPr>
          <a:xfrm>
            <a:off x="685800" y="1143000"/>
            <a:ext cx="5486040" cy="3085920"/>
          </a:xfrm>
          <a:prstGeom prst="rect">
            <a:avLst/>
          </a:prstGeom>
          <a:ln w="0">
            <a:noFill/>
          </a:ln>
        </p:spPr>
      </p:sp>
      <p:sp>
        <p:nvSpPr>
          <p:cNvPr id="7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Puente natural: todo lo que hicieron con kafka-console-* tiene su equivalente programático. Para esta audiencia el salto es cómodo.</a:t>
            </a:r>
          </a:p>
        </p:txBody>
      </p:sp>
      <p:sp>
        <p:nvSpPr>
          <p:cNvPr id="768" name="PlaceHolder 3"/>
          <p:cNvSpPr>
            <a:spLocks noGrp="1"/>
          </p:cNvSpPr>
          <p:nvPr>
            <p:ph type="sldNum" idx="10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B36EE6D-F3D7-46E0-9C56-A1E5363FC260}" type="slidenum">
              <a:rPr lang="es-MX" sz="1200" b="0" strike="noStrike" spc="-1">
                <a:solidFill>
                  <a:srgbClr val="000000"/>
                </a:solidFill>
                <a:latin typeface="Times New Roman"/>
              </a:rPr>
              <a:t>109</a:t>
            </a:fld>
            <a:endParaRPr lang="en-US" sz="1200" b="0" strike="noStrike" spc="-1">
              <a:solidFill>
                <a:srgbClr val="000000"/>
              </a:solidFill>
              <a:latin typeface="Times New Roman"/>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PlaceHolder 1"/>
          <p:cNvSpPr>
            <a:spLocks noGrp="1" noRot="1" noChangeAspect="1"/>
          </p:cNvSpPr>
          <p:nvPr>
            <p:ph type="sldImg"/>
          </p:nvPr>
        </p:nvSpPr>
        <p:spPr>
          <a:xfrm>
            <a:off x="685800" y="1143000"/>
            <a:ext cx="5486040" cy="3085920"/>
          </a:xfrm>
          <a:prstGeom prst="rect">
            <a:avLst/>
          </a:prstGeom>
          <a:ln w="0">
            <a:noFill/>
          </a:ln>
        </p:spPr>
      </p:sp>
      <p:sp>
        <p:nvSpPr>
          <p:cNvPr id="7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kafka-clients es la caja manual (control total, más trabajo); Spring Kafka la automática (KafkaTemplate, @KafkaListener, serialización y reintentos gestionados). Ambas llegan al mismo lugar. Nota técnica honesta: Spring Boot moderno usa Jackson 3 y exige cuidar la serialización de tipos — se vive en el Lab 09.</a:t>
            </a:r>
          </a:p>
        </p:txBody>
      </p:sp>
      <p:sp>
        <p:nvSpPr>
          <p:cNvPr id="771" name="PlaceHolder 3"/>
          <p:cNvSpPr>
            <a:spLocks noGrp="1"/>
          </p:cNvSpPr>
          <p:nvPr>
            <p:ph type="sldNum" idx="10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057FB436-E2DB-4435-8F7B-98E81CB0D348}" type="slidenum">
              <a:rPr lang="es-MX" sz="1200" b="0" strike="noStrike" spc="-1">
                <a:solidFill>
                  <a:srgbClr val="000000"/>
                </a:solidFill>
                <a:latin typeface="Times New Roman"/>
              </a:rPr>
              <a:t>110</a:t>
            </a:fld>
            <a:endParaRPr lang="en-US" sz="1200" b="0" strike="noStrike" spc="-1">
              <a:solidFill>
                <a:srgbClr val="000000"/>
              </a:solidFill>
              <a:latin typeface="Times New Roman"/>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 name="PlaceHolder 1"/>
          <p:cNvSpPr>
            <a:spLocks noGrp="1" noRot="1" noChangeAspect="1"/>
          </p:cNvSpPr>
          <p:nvPr>
            <p:ph type="sldImg"/>
          </p:nvPr>
        </p:nvSpPr>
        <p:spPr>
          <a:xfrm>
            <a:off x="685800" y="1143000"/>
            <a:ext cx="5486040" cy="3085920"/>
          </a:xfrm>
          <a:prstGeom prst="rect">
            <a:avLst/>
          </a:prstGeom>
          <a:ln w="0">
            <a:noFill/>
          </a:ln>
        </p:spPr>
      </p:sp>
      <p:sp>
        <p:nvSpPr>
          <p:cNvPr id="7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Kafka para quien no habla protocolo Kafka. Desemboca en el Lab 10.</a:t>
            </a:r>
          </a:p>
        </p:txBody>
      </p:sp>
      <p:sp>
        <p:nvSpPr>
          <p:cNvPr id="774" name="PlaceHolder 3"/>
          <p:cNvSpPr>
            <a:spLocks noGrp="1"/>
          </p:cNvSpPr>
          <p:nvPr>
            <p:ph type="sldNum" idx="10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B2EE9E6-DDAC-4EAE-BAA6-ADA097815A35}" type="slidenum">
              <a:rPr lang="es-MX" sz="1200" b="0" strike="noStrike" spc="-1">
                <a:solidFill>
                  <a:srgbClr val="000000"/>
                </a:solidFill>
                <a:latin typeface="Times New Roman"/>
              </a:rPr>
              <a:t>111</a:t>
            </a:fld>
            <a:endParaRPr lang="en-US" sz="1200" b="0" strike="noStrike" spc="-1">
              <a:solidFill>
                <a:srgbClr val="000000"/>
              </a:solidFill>
              <a:latin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 name="PlaceHolder 1"/>
          <p:cNvSpPr>
            <a:spLocks noGrp="1" noRot="1" noChangeAspect="1"/>
          </p:cNvSpPr>
          <p:nvPr>
            <p:ph type="sldImg"/>
          </p:nvPr>
        </p:nvSpPr>
        <p:spPr>
          <a:xfrm>
            <a:off x="685800" y="1143000"/>
            <a:ext cx="5486040" cy="3085920"/>
          </a:xfrm>
          <a:prstGeom prst="rect">
            <a:avLst/>
          </a:prstGeom>
          <a:ln w="0">
            <a:noFill/>
          </a:ln>
        </p:spPr>
      </p:sp>
      <p:sp>
        <p:nvSpPr>
          <p:cNvPr id="7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Los delegados que no hablan el idioma común (protocolo nativo) hablan con el traductor en su idioma (HTTP). Producir es un POST, consumir un GET. Cómodo para integrar; cada traducción cuesta — no es para alto throughput.</a:t>
            </a:r>
          </a:p>
        </p:txBody>
      </p:sp>
      <p:sp>
        <p:nvSpPr>
          <p:cNvPr id="777" name="PlaceHolder 3"/>
          <p:cNvSpPr>
            <a:spLocks noGrp="1"/>
          </p:cNvSpPr>
          <p:nvPr>
            <p:ph type="sldNum" idx="10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B9870F2-B6E6-4302-9FC0-9C3A147D4051}" type="slidenum">
              <a:rPr lang="es-MX" sz="1200" b="0" strike="noStrike" spc="-1">
                <a:solidFill>
                  <a:srgbClr val="000000"/>
                </a:solidFill>
                <a:latin typeface="Times New Roman"/>
              </a:rPr>
              <a:t>112</a:t>
            </a:fld>
            <a:endParaRPr lang="en-US" sz="1200" b="0" strike="noStrike" spc="-1">
              <a:solidFill>
                <a:srgbClr val="000000"/>
              </a:solidFill>
              <a:latin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PlaceHolder 1"/>
          <p:cNvSpPr>
            <a:spLocks noGrp="1" noRot="1" noChangeAspect="1"/>
          </p:cNvSpPr>
          <p:nvPr>
            <p:ph type="sldImg"/>
          </p:nvPr>
        </p:nvSpPr>
        <p:spPr>
          <a:xfrm>
            <a:off x="685800" y="1143000"/>
            <a:ext cx="5486040" cy="3085920"/>
          </a:xfrm>
          <a:prstGeom prst="rect">
            <a:avLst/>
          </a:prstGeom>
          <a:ln w="0">
            <a:noFill/>
          </a:ln>
        </p:spPr>
      </p:sp>
      <p:sp>
        <p:nvSpPr>
          <p:cNvPr id="7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Transparencia técnica que esta audiencia agradece: separa un curso actualizado de uno copiado.</a:t>
            </a:r>
          </a:p>
        </p:txBody>
      </p:sp>
      <p:sp>
        <p:nvSpPr>
          <p:cNvPr id="780" name="PlaceHolder 3"/>
          <p:cNvSpPr>
            <a:spLocks noGrp="1"/>
          </p:cNvSpPr>
          <p:nvPr>
            <p:ph type="sldNum" idx="10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1AB3A10-1AD0-4467-A9FC-F6E13ADC979C}" type="slidenum">
              <a:rPr lang="es-MX" sz="1200" b="0" strike="noStrike" spc="-1">
                <a:solidFill>
                  <a:srgbClr val="000000"/>
                </a:solidFill>
                <a:latin typeface="Times New Roman"/>
              </a:rPr>
              <a:t>113</a:t>
            </a:fld>
            <a:endParaRPr lang="en-US" sz="1200" b="0" strike="noStrike" spc="-1">
              <a:solidFill>
                <a:srgbClr val="000000"/>
              </a:solidFill>
              <a:latin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PlaceHolder 1"/>
          <p:cNvSpPr>
            <a:spLocks noGrp="1" noRot="1" noChangeAspect="1"/>
          </p:cNvSpPr>
          <p:nvPr>
            <p:ph type="sldImg"/>
          </p:nvPr>
        </p:nvSpPr>
        <p:spPr>
          <a:xfrm>
            <a:off x="685800" y="1143000"/>
            <a:ext cx="5486040" cy="3085920"/>
          </a:xfrm>
          <a:prstGeom prst="rect">
            <a:avLst/>
          </a:prstGeom>
          <a:ln w="0">
            <a:noFill/>
          </a:ln>
        </p:spPr>
      </p:sp>
      <p:sp>
        <p:nvSpPr>
          <p:cNvPr id="7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notario que impide romper consumidores. Desemboca en el Lab 11.</a:t>
            </a:r>
          </a:p>
        </p:txBody>
      </p:sp>
      <p:sp>
        <p:nvSpPr>
          <p:cNvPr id="783" name="PlaceHolder 3"/>
          <p:cNvSpPr>
            <a:spLocks noGrp="1"/>
          </p:cNvSpPr>
          <p:nvPr>
            <p:ph type="sldNum" idx="10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DFC39FB-11C3-4AAE-B311-D421C2595E24}" type="slidenum">
              <a:rPr lang="es-MX" sz="1200" b="0" strike="noStrike" spc="-1">
                <a:solidFill>
                  <a:srgbClr val="000000"/>
                </a:solidFill>
                <a:latin typeface="Times New Roman"/>
              </a:rPr>
              <a:t>114</a:t>
            </a:fld>
            <a:endParaRPr lang="en-US" sz="1200" b="0" strike="noStrike" spc="-1">
              <a:solidFill>
                <a:srgbClr val="000000"/>
              </a:solidFill>
              <a:latin typeface="Times New Roman"/>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 name="PlaceHolder 1"/>
          <p:cNvSpPr>
            <a:spLocks noGrp="1" noRot="1" noChangeAspect="1"/>
          </p:cNvSpPr>
          <p:nvPr>
            <p:ph type="sldImg"/>
          </p:nvPr>
        </p:nvSpPr>
        <p:spPr>
          <a:xfrm>
            <a:off x="685800" y="1143000"/>
            <a:ext cx="5486040" cy="3085920"/>
          </a:xfrm>
          <a:prstGeom prst="rect">
            <a:avLst/>
          </a:prstGeom>
          <a:ln w="0">
            <a:noFill/>
          </a:ln>
        </p:spPr>
      </p:sp>
      <p:sp>
        <p:nvSpPr>
          <p:cNvPr id="7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Plantear el dolor antes de la solución. NovaTech: el equipo de GPS agrega el campo altitud; facturación, que no lo espera, falla al deserializar. Multiplicado por decenas de equipos: caos.</a:t>
            </a:r>
          </a:p>
        </p:txBody>
      </p:sp>
      <p:sp>
        <p:nvSpPr>
          <p:cNvPr id="786" name="PlaceHolder 3"/>
          <p:cNvSpPr>
            <a:spLocks noGrp="1"/>
          </p:cNvSpPr>
          <p:nvPr>
            <p:ph type="sldNum" idx="10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D2F7692-E524-4CCD-B2C9-43E666D1D8BD}" type="slidenum">
              <a:rPr lang="es-MX" sz="1200" b="0" strike="noStrike" spc="-1">
                <a:solidFill>
                  <a:srgbClr val="000000"/>
                </a:solidFill>
                <a:latin typeface="Times New Roman"/>
              </a:rPr>
              <a:t>115</a:t>
            </a:fld>
            <a:endParaRPr lang="en-US" sz="1200" b="0" strike="noStrike" spc="-1">
              <a:solidFill>
                <a:srgbClr val="000000"/>
              </a:solidFill>
              <a:latin typeface="Times New Roman"/>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 name="PlaceHolder 1"/>
          <p:cNvSpPr>
            <a:spLocks noGrp="1" noRot="1" noChangeAspect="1"/>
          </p:cNvSpPr>
          <p:nvPr>
            <p:ph type="sldImg"/>
          </p:nvPr>
        </p:nvSpPr>
        <p:spPr>
          <a:xfrm>
            <a:off x="685800" y="1143000"/>
            <a:ext cx="5486040" cy="3085920"/>
          </a:xfrm>
          <a:prstGeom prst="rect">
            <a:avLst/>
          </a:prstGeom>
          <a:ln w="0">
            <a:noFill/>
          </a:ln>
        </p:spPr>
      </p:sp>
      <p:sp>
        <p:nvSpPr>
          <p:cNvPr id="7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BACKWARD: el consumidor nuevo lee datos viejos (evoluciono el consumidor primero). FORWARD: el viejo lee datos nuevos (evoluciono el productor primero). FULL: ambas. Y el cambio incompatible REBOTA contra el registro — nadie se rompe en producción.</a:t>
            </a:r>
          </a:p>
        </p:txBody>
      </p:sp>
      <p:sp>
        <p:nvSpPr>
          <p:cNvPr id="789" name="PlaceHolder 3"/>
          <p:cNvSpPr>
            <a:spLocks noGrp="1"/>
          </p:cNvSpPr>
          <p:nvPr>
            <p:ph type="sldNum" idx="10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277BD56-8422-4271-B7AF-4E1C4201F6E3}" type="slidenum">
              <a:rPr lang="es-MX" sz="1200" b="0" strike="noStrike" spc="-1">
                <a:solidFill>
                  <a:srgbClr val="000000"/>
                </a:solidFill>
                <a:latin typeface="Times New Roman"/>
              </a:rPr>
              <a:t>116</a:t>
            </a:fld>
            <a:endParaRPr lang="en-US" sz="1200" b="0" strike="noStrike" spc="-1">
              <a:solidFill>
                <a:srgbClr val="000000"/>
              </a:solidFill>
              <a:latin typeface="Times New Roman"/>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 name="PlaceHolder 1"/>
          <p:cNvSpPr>
            <a:spLocks noGrp="1" noRot="1" noChangeAspect="1"/>
          </p:cNvSpPr>
          <p:nvPr>
            <p:ph type="sldImg"/>
          </p:nvPr>
        </p:nvSpPr>
        <p:spPr>
          <a:xfrm>
            <a:off x="685800" y="1143000"/>
            <a:ext cx="5486040" cy="3085920"/>
          </a:xfrm>
          <a:prstGeom prst="rect">
            <a:avLst/>
          </a:prstGeom>
          <a:ln w="0">
            <a:noFill/>
          </a:ln>
        </p:spPr>
      </p:sp>
      <p:sp>
        <p:nvSpPr>
          <p:cNvPr id="7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teórico de la primera mitad de la Unidad 4. Tres labs por delante: código, HTTP y contratos.</a:t>
            </a:r>
          </a:p>
        </p:txBody>
      </p:sp>
      <p:sp>
        <p:nvSpPr>
          <p:cNvPr id="792" name="PlaceHolder 3"/>
          <p:cNvSpPr>
            <a:spLocks noGrp="1"/>
          </p:cNvSpPr>
          <p:nvPr>
            <p:ph type="sldNum" idx="10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1D1E525-B923-4D56-A847-DDF48C87B668}" type="slidenum">
              <a:rPr lang="es-MX" sz="1200" b="0" strike="noStrike" spc="-1">
                <a:solidFill>
                  <a:srgbClr val="000000"/>
                </a:solidFill>
                <a:latin typeface="Times New Roman"/>
              </a:rPr>
              <a:t>117</a:t>
            </a:fld>
            <a:endParaRPr lang="en-US" sz="1200" b="0" strike="noStrike" spc="-1">
              <a:solidFill>
                <a:srgbClr val="000000"/>
              </a:solidFill>
              <a:latin typeface="Times New Roman"/>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 name="PlaceHolder 1"/>
          <p:cNvSpPr>
            <a:spLocks noGrp="1" noRot="1" noChangeAspect="1"/>
          </p:cNvSpPr>
          <p:nvPr>
            <p:ph type="sldImg"/>
          </p:nvPr>
        </p:nvSpPr>
        <p:spPr>
          <a:xfrm>
            <a:off x="685800" y="1143000"/>
            <a:ext cx="5486040" cy="3085920"/>
          </a:xfrm>
          <a:prstGeom prst="rect">
            <a:avLst/>
          </a:prstGeom>
          <a:ln w="0">
            <a:noFill/>
          </a:ln>
        </p:spPr>
      </p:sp>
      <p:sp>
        <p:nvSpPr>
          <p:cNvPr id="7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Primer lab con código del curso. La caja manual vs automática (4.2) hecha realidad. Advertir el detalle de serialización de tipos con Jackson 3 y ADD_TYPE_INFO_HEADERS: es la piedra con la que todos tropiezan.</a:t>
            </a:r>
          </a:p>
        </p:txBody>
      </p:sp>
      <p:sp>
        <p:nvSpPr>
          <p:cNvPr id="795" name="PlaceHolder 3"/>
          <p:cNvSpPr>
            <a:spLocks noGrp="1"/>
          </p:cNvSpPr>
          <p:nvPr>
            <p:ph type="sldNum" idx="10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57ED09A-7748-461C-84D1-9DD6A716BC5D}" type="slidenum">
              <a:rPr lang="es-MX" sz="1200" b="0" strike="noStrike" spc="-1">
                <a:solidFill>
                  <a:srgbClr val="000000"/>
                </a:solidFill>
                <a:latin typeface="Times New Roman"/>
              </a:rPr>
              <a:t>118</a:t>
            </a:fld>
            <a:endParaRPr lang="en-US" sz="1200" b="0" strike="noStrike" spc="-1">
              <a:solidFill>
                <a:srgbClr val="000000"/>
              </a:solidFill>
              <a:latin typeface="Times New Roman"/>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PlaceHolder 1"/>
          <p:cNvSpPr>
            <a:spLocks noGrp="1" noRot="1" noChangeAspect="1"/>
          </p:cNvSpPr>
          <p:nvPr>
            <p:ph type="sldImg"/>
          </p:nvPr>
        </p:nvSpPr>
        <p:spPr>
          <a:xfrm>
            <a:off x="685800" y="1143000"/>
            <a:ext cx="5486040" cy="3085920"/>
          </a:xfrm>
          <a:prstGeom prst="rect">
            <a:avLst/>
          </a:prstGeom>
          <a:ln w="0">
            <a:noFill/>
          </a:ln>
        </p:spPr>
      </p:sp>
      <p:sp>
        <p:nvSpPr>
          <p:cNvPr id="7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alumno sale con los dos estilos de cliente dominados y el criterio para elegir entre ellos.</a:t>
            </a:r>
          </a:p>
        </p:txBody>
      </p:sp>
      <p:sp>
        <p:nvSpPr>
          <p:cNvPr id="798" name="PlaceHolder 3"/>
          <p:cNvSpPr>
            <a:spLocks noGrp="1"/>
          </p:cNvSpPr>
          <p:nvPr>
            <p:ph type="sldNum" idx="11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9D0EF36-7BC6-46AE-9B24-D0C58E61F003}" type="slidenum">
              <a:rPr lang="es-MX" sz="1200" b="0" strike="noStrike" spc="-1">
                <a:solidFill>
                  <a:srgbClr val="000000"/>
                </a:solidFill>
                <a:latin typeface="Times New Roman"/>
              </a:rPr>
              <a:t>119</a:t>
            </a:fld>
            <a:endParaRPr lang="en-US" sz="1200" b="0" strike="noStrike" spc="-1">
              <a:solidFill>
                <a:srgbClr val="000000"/>
              </a:solidFill>
              <a:latin typeface="Times New Roman"/>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 name="PlaceHolder 1"/>
          <p:cNvSpPr>
            <a:spLocks noGrp="1" noRot="1" noChangeAspect="1"/>
          </p:cNvSpPr>
          <p:nvPr>
            <p:ph type="sldImg"/>
          </p:nvPr>
        </p:nvSpPr>
        <p:spPr>
          <a:xfrm>
            <a:off x="685800" y="1143000"/>
            <a:ext cx="5486040" cy="3085920"/>
          </a:xfrm>
          <a:prstGeom prst="rect">
            <a:avLst/>
          </a:prstGeom>
          <a:ln w="0">
            <a:noFill/>
          </a:ln>
        </p:spPr>
      </p:sp>
      <p:sp>
        <p:nvSpPr>
          <p:cNvPr id="8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traductor (4.3) en acción. El contraste con el Lab 09 es deliberado: mismo objetivo, camino distinto, costo distinto.</a:t>
            </a:r>
          </a:p>
        </p:txBody>
      </p:sp>
      <p:sp>
        <p:nvSpPr>
          <p:cNvPr id="801" name="PlaceHolder 3"/>
          <p:cNvSpPr>
            <a:spLocks noGrp="1"/>
          </p:cNvSpPr>
          <p:nvPr>
            <p:ph type="sldNum" idx="11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691B08B0-4045-4D52-8C7C-ECE6DA32BA7B}" type="slidenum">
              <a:rPr lang="es-MX" sz="1200" b="0" strike="noStrike" spc="-1">
                <a:solidFill>
                  <a:srgbClr val="000000"/>
                </a:solidFill>
                <a:latin typeface="Times New Roman"/>
              </a:rPr>
              <a:t>120</a:t>
            </a:fld>
            <a:endParaRPr lang="en-US" sz="1200" b="0" strike="noStrike" spc="-1">
              <a:solidFill>
                <a:srgbClr val="000000"/>
              </a:solidFill>
              <a:latin typeface="Times New Roman"/>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 name="PlaceHolder 1"/>
          <p:cNvSpPr>
            <a:spLocks noGrp="1" noRot="1" noChangeAspect="1"/>
          </p:cNvSpPr>
          <p:nvPr>
            <p:ph type="sldImg"/>
          </p:nvPr>
        </p:nvSpPr>
        <p:spPr>
          <a:xfrm>
            <a:off x="685800" y="1143000"/>
            <a:ext cx="5486040" cy="3085920"/>
          </a:xfrm>
          <a:prstGeom prst="rect">
            <a:avLst/>
          </a:prstGeom>
          <a:ln w="0">
            <a:noFill/>
          </a:ln>
        </p:spPr>
      </p:sp>
      <p:sp>
        <p:nvSpPr>
          <p:cNvPr id="8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Quien completa este lab sabe abrirle la puerta de Kafka a cualquier lenguaje — y sabe cuándo NO hacerlo.</a:t>
            </a:r>
          </a:p>
        </p:txBody>
      </p:sp>
      <p:sp>
        <p:nvSpPr>
          <p:cNvPr id="804" name="PlaceHolder 3"/>
          <p:cNvSpPr>
            <a:spLocks noGrp="1"/>
          </p:cNvSpPr>
          <p:nvPr>
            <p:ph type="sldNum" idx="11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AD45251-8912-4BAE-8587-4A38CA1C7D1D}" type="slidenum">
              <a:rPr lang="es-MX" sz="1200" b="0" strike="noStrike" spc="-1">
                <a:solidFill>
                  <a:srgbClr val="000000"/>
                </a:solidFill>
                <a:latin typeface="Times New Roman"/>
              </a:rPr>
              <a:t>121</a:t>
            </a:fld>
            <a:endParaRPr lang="en-US" sz="1200" b="0" strike="noStrike" spc="-1">
              <a:solidFill>
                <a:srgbClr val="000000"/>
              </a:solidFill>
              <a:latin typeface="Times New Roman"/>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 name="PlaceHolder 1"/>
          <p:cNvSpPr>
            <a:spLocks noGrp="1" noRot="1" noChangeAspect="1"/>
          </p:cNvSpPr>
          <p:nvPr>
            <p:ph type="sldImg"/>
          </p:nvPr>
        </p:nvSpPr>
        <p:spPr>
          <a:xfrm>
            <a:off x="685800" y="1143000"/>
            <a:ext cx="5486040" cy="3085920"/>
          </a:xfrm>
          <a:prstGeom prst="rect">
            <a:avLst/>
          </a:prstGeom>
          <a:ln w="0">
            <a:noFill/>
          </a:ln>
        </p:spPr>
      </p:sp>
      <p:sp>
        <p:nvSpPr>
          <p:cNvPr id="8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"aha" del lab: el rechazo en vivo del cambio incompatible. Esa es la red de seguridad que un administrador serio agradece — conectarlo con el diagrama de las tres garantías (4.4).</a:t>
            </a:r>
          </a:p>
        </p:txBody>
      </p:sp>
      <p:sp>
        <p:nvSpPr>
          <p:cNvPr id="807" name="PlaceHolder 3"/>
          <p:cNvSpPr>
            <a:spLocks noGrp="1"/>
          </p:cNvSpPr>
          <p:nvPr>
            <p:ph type="sldNum" idx="11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8849340-A8B2-45D8-9F75-8D3F613A95F5}" type="slidenum">
              <a:rPr lang="es-MX" sz="1200" b="0" strike="noStrike" spc="-1">
                <a:solidFill>
                  <a:srgbClr val="000000"/>
                </a:solidFill>
                <a:latin typeface="Times New Roman"/>
              </a:rPr>
              <a:t>122</a:t>
            </a:fld>
            <a:endParaRPr lang="en-US" sz="1200" b="0" strike="noStrike" spc="-1">
              <a:solidFill>
                <a:srgbClr val="000000"/>
              </a:solidFill>
              <a:latin typeface="Times New Roman"/>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PlaceHolder 1"/>
          <p:cNvSpPr>
            <a:spLocks noGrp="1" noRot="1" noChangeAspect="1"/>
          </p:cNvSpPr>
          <p:nvPr>
            <p:ph type="sldImg"/>
          </p:nvPr>
        </p:nvSpPr>
        <p:spPr>
          <a:xfrm>
            <a:off x="685800" y="1143000"/>
            <a:ext cx="5486040" cy="3085920"/>
          </a:xfrm>
          <a:prstGeom prst="rect">
            <a:avLst/>
          </a:prstGeom>
          <a:ln w="0">
            <a:noFill/>
          </a:ln>
        </p:spPr>
      </p:sp>
      <p:sp>
        <p:nvSpPr>
          <p:cNvPr id="8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contrato de datos deja de ser un concepto: el alumno vio al notario negarse a firmar.</a:t>
            </a:r>
          </a:p>
        </p:txBody>
      </p:sp>
      <p:sp>
        <p:nvSpPr>
          <p:cNvPr id="810" name="PlaceHolder 3"/>
          <p:cNvSpPr>
            <a:spLocks noGrp="1"/>
          </p:cNvSpPr>
          <p:nvPr>
            <p:ph type="sldNum" idx="11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78A6FCA-98B1-4457-BD3E-62D8AAC76090}" type="slidenum">
              <a:rPr lang="es-MX" sz="1200" b="0" strike="noStrike" spc="-1">
                <a:solidFill>
                  <a:srgbClr val="000000"/>
                </a:solidFill>
                <a:latin typeface="Times New Roman"/>
              </a:rPr>
              <a:t>123</a:t>
            </a:fld>
            <a:endParaRPr lang="en-US" sz="1200" b="0" strike="noStrike" spc="-1">
              <a:solidFill>
                <a:srgbClr val="000000"/>
              </a:solidFill>
              <a:latin typeface="Times New Roman"/>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 name="PlaceHolder 1"/>
          <p:cNvSpPr>
            <a:spLocks noGrp="1" noRot="1" noChangeAspect="1"/>
          </p:cNvSpPr>
          <p:nvPr>
            <p:ph type="sldImg"/>
          </p:nvPr>
        </p:nvSpPr>
        <p:spPr>
          <a:xfrm>
            <a:off x="685800" y="1143000"/>
            <a:ext cx="5486040" cy="3085920"/>
          </a:xfrm>
          <a:prstGeom prst="rect">
            <a:avLst/>
          </a:prstGeom>
          <a:ln w="0">
            <a:noFill/>
          </a:ln>
        </p:spPr>
      </p:sp>
      <p:sp>
        <p:nvSpPr>
          <p:cNvPr id="8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Referencias del capítulo 4: docs oficiales de Confluent (Schema Registry, REST Proxy), Spring Kafka y las configs de cliente de Apache Kafka. Kafbat validado en línea.</a:t>
            </a:r>
          </a:p>
        </p:txBody>
      </p:sp>
      <p:sp>
        <p:nvSpPr>
          <p:cNvPr id="813" name="PlaceHolder 3"/>
          <p:cNvSpPr>
            <a:spLocks noGrp="1"/>
          </p:cNvSpPr>
          <p:nvPr>
            <p:ph type="sldNum" idx="1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4D7A1CA-7FFF-413B-9BDD-FC33B53D603E}" type="slidenum">
              <a:rPr lang="es-MX" sz="1200" b="0" strike="noStrike" spc="-1">
                <a:solidFill>
                  <a:srgbClr val="000000"/>
                </a:solidFill>
                <a:latin typeface="Times New Roman"/>
              </a:rPr>
              <a:t>124</a:t>
            </a:fld>
            <a:endParaRPr lang="en-US" sz="1200" b="0" strike="noStrike" spc="-1">
              <a:solidFill>
                <a:srgbClr val="000000"/>
              </a:solidFill>
              <a:latin typeface="Times New Roman"/>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 name="PlaceHolder 1"/>
          <p:cNvSpPr>
            <a:spLocks noGrp="1" noRot="1" noChangeAspect="1"/>
          </p:cNvSpPr>
          <p:nvPr>
            <p:ph type="sldImg"/>
          </p:nvPr>
        </p:nvSpPr>
        <p:spPr>
          <a:xfrm>
            <a:off x="685800" y="1143000"/>
            <a:ext cx="5486040" cy="3085920"/>
          </a:xfrm>
          <a:prstGeom prst="rect">
            <a:avLst/>
          </a:prstGeom>
          <a:ln w="0">
            <a:noFill/>
          </a:ln>
        </p:spPr>
      </p:sp>
      <p:sp>
        <p:nvSpPr>
          <p:cNvPr id="8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Encuadre del cierre: "última unidad. Procesamos los flujos, los integramos con el exterior, observamos y blindamos el clúster, y cerramos con un capstone que junta todo". Retomar el diagrama de capas del Cap 1: se encienden los anillos que faltan.</a:t>
            </a:r>
          </a:p>
        </p:txBody>
      </p:sp>
      <p:sp>
        <p:nvSpPr>
          <p:cNvPr id="816" name="PlaceHolder 3"/>
          <p:cNvSpPr>
            <a:spLocks noGrp="1"/>
          </p:cNvSpPr>
          <p:nvPr>
            <p:ph type="sldNum" idx="1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96CEB74-6719-49A4-A79E-965B67ED339C}" type="slidenum">
              <a:rPr lang="es-MX" sz="1200" b="0" strike="noStrike" spc="-1">
                <a:solidFill>
                  <a:srgbClr val="000000"/>
                </a:solidFill>
                <a:latin typeface="Times New Roman"/>
              </a:rPr>
              <a:t>125</a:t>
            </a:fld>
            <a:endParaRPr lang="en-US" sz="1200" b="0" strike="noStrike" spc="-1">
              <a:solidFill>
                <a:srgbClr val="000000"/>
              </a:solidFill>
              <a:latin typeface="Times New Roman"/>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PlaceHolder 1"/>
          <p:cNvSpPr>
            <a:spLocks noGrp="1" noRot="1" noChangeAspect="1"/>
          </p:cNvSpPr>
          <p:nvPr>
            <p:ph type="sldImg"/>
          </p:nvPr>
        </p:nvSpPr>
        <p:spPr>
          <a:xfrm>
            <a:off x="685800" y="1143000"/>
            <a:ext cx="5486040" cy="3085920"/>
          </a:xfrm>
          <a:prstGeom prst="rect">
            <a:avLst/>
          </a:prstGeom>
          <a:ln w="0">
            <a:noFill/>
          </a:ln>
        </p:spPr>
      </p:sp>
      <p:sp>
        <p:nvSpPr>
          <p:cNvPr id="8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Del transporte a la transformación en vuelo. Desemboca en el Lab 12.</a:t>
            </a:r>
          </a:p>
        </p:txBody>
      </p:sp>
      <p:sp>
        <p:nvSpPr>
          <p:cNvPr id="819" name="PlaceHolder 3"/>
          <p:cNvSpPr>
            <a:spLocks noGrp="1"/>
          </p:cNvSpPr>
          <p:nvPr>
            <p:ph type="sldNum" idx="1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EA69979D-021B-41EA-A64A-37B7C22607C4}" type="slidenum">
              <a:rPr lang="es-MX" sz="1200" b="0" strike="noStrike" spc="-1">
                <a:solidFill>
                  <a:srgbClr val="000000"/>
                </a:solidFill>
                <a:latin typeface="Times New Roman"/>
              </a:rPr>
              <a:t>126</a:t>
            </a:fld>
            <a:endParaRPr lang="en-US" sz="1200" b="0" strike="noStrike" spc="-1">
              <a:solidFill>
                <a:srgbClr val="000000"/>
              </a:solidFill>
              <a:latin typeface="Times New Roman"/>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 name="PlaceHolder 1"/>
          <p:cNvSpPr>
            <a:spLocks noGrp="1" noRot="1" noChangeAspect="1"/>
          </p:cNvSpPr>
          <p:nvPr>
            <p:ph type="sldImg"/>
          </p:nvPr>
        </p:nvSpPr>
        <p:spPr>
          <a:xfrm>
            <a:off x="685800" y="1143000"/>
            <a:ext cx="5486040" cy="3085920"/>
          </a:xfrm>
          <a:prstGeom prst="rect">
            <a:avLst/>
          </a:prstGeom>
          <a:ln w="0">
            <a:noFill/>
          </a:ln>
        </p:spPr>
      </p:sp>
      <p:sp>
        <p:nvSpPr>
          <p:cNvPr id="8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salto conceptual: de transportar datos a transformarlos en vuelo. Para una audiencia que domina SQL, el gancho es inmediato.</a:t>
            </a:r>
          </a:p>
        </p:txBody>
      </p:sp>
      <p:sp>
        <p:nvSpPr>
          <p:cNvPr id="822" name="PlaceHolder 3"/>
          <p:cNvSpPr>
            <a:spLocks noGrp="1"/>
          </p:cNvSpPr>
          <p:nvPr>
            <p:ph type="sldNum" idx="11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A96E571-5011-40CE-81DF-21EA0AA0DB25}" type="slidenum">
              <a:rPr lang="es-MX" sz="1200" b="0" strike="noStrike" spc="-1">
                <a:solidFill>
                  <a:srgbClr val="000000"/>
                </a:solidFill>
                <a:latin typeface="Times New Roman"/>
              </a:rPr>
              <a:t>127</a:t>
            </a:fld>
            <a:endParaRPr lang="en-US" sz="1200" b="0" strike="noStrike" spc="-1">
              <a:solidFill>
                <a:srgbClr val="000000"/>
              </a:solidFill>
              <a:latin typeface="Times New Roman"/>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PlaceHolder 1"/>
          <p:cNvSpPr>
            <a:spLocks noGrp="1" noRot="1" noChangeAspect="1"/>
          </p:cNvSpPr>
          <p:nvPr>
            <p:ph type="sldImg"/>
          </p:nvPr>
        </p:nvSpPr>
        <p:spPr>
          <a:xfrm>
            <a:off x="685800" y="1143000"/>
            <a:ext cx="5486040" cy="3085920"/>
          </a:xfrm>
          <a:prstGeom prst="rect">
            <a:avLst/>
          </a:prstGeom>
          <a:ln w="0">
            <a:noFill/>
          </a:ln>
        </p:spPr>
      </p:sp>
      <p:sp>
        <p:nvSpPr>
          <p:cNvPr id="8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STREAM es el extracto: cada movimiento, línea por línea, en orden. La TABLE es el saldo: un número que resume todo hasta ahora. Lo profundo: el saldo se RECONSTRUYE sumando el extracto — una TABLE es un STREAM colapsado por clave. Retomar "foto vs película" del Cap 1 y profundizarla.</a:t>
            </a:r>
          </a:p>
        </p:txBody>
      </p:sp>
      <p:sp>
        <p:nvSpPr>
          <p:cNvPr id="825" name="PlaceHolder 3"/>
          <p:cNvSpPr>
            <a:spLocks noGrp="1"/>
          </p:cNvSpPr>
          <p:nvPr>
            <p:ph type="sldNum" idx="11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E594909-8A7B-45E8-A78C-FE362DC86437}" type="slidenum">
              <a:rPr lang="es-MX" sz="1200" b="0" strike="noStrike" spc="-1">
                <a:solidFill>
                  <a:srgbClr val="000000"/>
                </a:solidFill>
                <a:latin typeface="Times New Roman"/>
              </a:rPr>
              <a:t>128</a:t>
            </a:fld>
            <a:endParaRPr lang="en-US" sz="1200" b="0" strike="noStrike" spc="-1">
              <a:solidFill>
                <a:srgbClr val="000000"/>
              </a:solidFill>
              <a:latin typeface="Times New Roman"/>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PlaceHolder 1"/>
          <p:cNvSpPr>
            <a:spLocks noGrp="1" noRot="1" noChangeAspect="1"/>
          </p:cNvSpPr>
          <p:nvPr>
            <p:ph type="sldImg"/>
          </p:nvPr>
        </p:nvSpPr>
        <p:spPr>
          <a:xfrm>
            <a:off x="685800" y="1143000"/>
            <a:ext cx="5486040" cy="3085920"/>
          </a:xfrm>
          <a:prstGeom prst="rect">
            <a:avLst/>
          </a:prstGeom>
          <a:ln w="0">
            <a:noFill/>
          </a:ln>
        </p:spPr>
      </p:sp>
      <p:sp>
        <p:nvSpPr>
          <p:cNvPr id="8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cambio mental para quien viene de bases de datos: la consulta no es un evento puntual, es un proceso continuo.</a:t>
            </a:r>
          </a:p>
        </p:txBody>
      </p:sp>
      <p:sp>
        <p:nvSpPr>
          <p:cNvPr id="828" name="PlaceHolder 3"/>
          <p:cNvSpPr>
            <a:spLocks noGrp="1"/>
          </p:cNvSpPr>
          <p:nvPr>
            <p:ph type="sldNum" idx="1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8BDE10C-F100-45E3-B4C0-DA3446AE5D7A}" type="slidenum">
              <a:rPr lang="es-MX" sz="1200" b="0" strike="noStrike" spc="-1">
                <a:solidFill>
                  <a:srgbClr val="000000"/>
                </a:solidFill>
                <a:latin typeface="Times New Roman"/>
              </a:rPr>
              <a:t>129</a:t>
            </a:fld>
            <a:endParaRPr lang="en-US" sz="1200" b="0" strike="noStrike" spc="-1">
              <a:solidFill>
                <a:srgbClr val="000000"/>
              </a:solidFill>
              <a:latin typeface="Times New Roman"/>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 name="PlaceHolder 1"/>
          <p:cNvSpPr>
            <a:spLocks noGrp="1" noRot="1" noChangeAspect="1"/>
          </p:cNvSpPr>
          <p:nvPr>
            <p:ph type="sldImg"/>
          </p:nvPr>
        </p:nvSpPr>
        <p:spPr>
          <a:xfrm>
            <a:off x="685800" y="1143000"/>
            <a:ext cx="5486040" cy="3085920"/>
          </a:xfrm>
          <a:prstGeom prst="rect">
            <a:avLst/>
          </a:prstGeom>
          <a:ln w="0">
            <a:noFill/>
          </a:ln>
        </p:spPr>
      </p:sp>
      <p:sp>
        <p:nvSpPr>
          <p:cNvPr id="8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 cinta transportadora. Desemboca en el Lab 13.</a:t>
            </a:r>
          </a:p>
        </p:txBody>
      </p:sp>
      <p:sp>
        <p:nvSpPr>
          <p:cNvPr id="831" name="PlaceHolder 3"/>
          <p:cNvSpPr>
            <a:spLocks noGrp="1"/>
          </p:cNvSpPr>
          <p:nvPr>
            <p:ph type="sldNum" idx="1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A0EADC8B-D92C-4239-AA56-E9210540C61C}" type="slidenum">
              <a:rPr lang="es-MX" sz="1200" b="0" strike="noStrike" spc="-1">
                <a:solidFill>
                  <a:srgbClr val="000000"/>
                </a:solidFill>
                <a:latin typeface="Times New Roman"/>
              </a:rPr>
              <a:t>130</a:t>
            </a:fld>
            <a:endParaRPr lang="en-US" sz="1200" b="0" strike="noStrike" spc="-1">
              <a:solidFill>
                <a:srgbClr val="000000"/>
              </a:solidFill>
              <a:latin typeface="Times New Roman"/>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 name="PlaceHolder 1"/>
          <p:cNvSpPr>
            <a:spLocks noGrp="1" noRot="1" noChangeAspect="1"/>
          </p:cNvSpPr>
          <p:nvPr>
            <p:ph type="sldImg"/>
          </p:nvPr>
        </p:nvSpPr>
        <p:spPr>
          <a:xfrm>
            <a:off x="685800" y="1143000"/>
            <a:ext cx="5486040" cy="3085920"/>
          </a:xfrm>
          <a:prstGeom prst="rect">
            <a:avLst/>
          </a:prstGeom>
          <a:ln w="0">
            <a:noFill/>
          </a:ln>
        </p:spPr>
      </p:sp>
      <p:sp>
        <p:nvSpPr>
          <p:cNvPr id="8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Retomar del Cap 1 (el equipo de mudanzas). Sin Connect, cada integración es código artesanal que alguien debe mantener.</a:t>
            </a:r>
          </a:p>
        </p:txBody>
      </p:sp>
      <p:sp>
        <p:nvSpPr>
          <p:cNvPr id="834" name="PlaceHolder 3"/>
          <p:cNvSpPr>
            <a:spLocks noGrp="1"/>
          </p:cNvSpPr>
          <p:nvPr>
            <p:ph type="sldNum" idx="1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A128C3D-D75C-4A61-A735-8964F9554680}" type="slidenum">
              <a:rPr lang="es-MX" sz="1200" b="0" strike="noStrike" spc="-1">
                <a:solidFill>
                  <a:srgbClr val="000000"/>
                </a:solidFill>
                <a:latin typeface="Times New Roman"/>
              </a:rPr>
              <a:t>131</a:t>
            </a:fld>
            <a:endParaRPr lang="en-US" sz="1200" b="0" strike="noStrike" spc="-1">
              <a:solidFill>
                <a:srgbClr val="000000"/>
              </a:solidFill>
              <a:latin typeface="Times New Roman"/>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PlaceHolder 1"/>
          <p:cNvSpPr>
            <a:spLocks noGrp="1" noRot="1" noChangeAspect="1"/>
          </p:cNvSpPr>
          <p:nvPr>
            <p:ph type="sldImg"/>
          </p:nvPr>
        </p:nvSpPr>
        <p:spPr>
          <a:xfrm>
            <a:off x="685800" y="1143000"/>
            <a:ext cx="5486040" cy="3085920"/>
          </a:xfrm>
          <a:prstGeom prst="rect">
            <a:avLst/>
          </a:prstGeom>
          <a:ln w="0">
            <a:noFill/>
          </a:ln>
        </p:spPr>
      </p:sp>
      <p:sp>
        <p:nvSpPr>
          <p:cNvPr id="8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source trae las maletas al sistema (BD → Kafka); el sink las entrega en destino (Kafka → warehouse). Workers = motores; tasks = tramos paralelos. Caso estrella: CDC — capturar cambios de una BD casi sin tocarla. NovaTech: el core legado fluye a Kafka sin que su equipo modifique nada.</a:t>
            </a:r>
          </a:p>
        </p:txBody>
      </p:sp>
      <p:sp>
        <p:nvSpPr>
          <p:cNvPr id="837" name="PlaceHolder 3"/>
          <p:cNvSpPr>
            <a:spLocks noGrp="1"/>
          </p:cNvSpPr>
          <p:nvPr>
            <p:ph type="sldNum" idx="1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2B8B75B-19A1-4290-A4FF-F4CF631AA4D9}" type="slidenum">
              <a:rPr lang="es-MX" sz="1200" b="0" strike="noStrike" spc="-1">
                <a:solidFill>
                  <a:srgbClr val="000000"/>
                </a:solidFill>
                <a:latin typeface="Times New Roman"/>
              </a:rPr>
              <a:t>132</a:t>
            </a:fld>
            <a:endParaRPr lang="en-US" sz="1200" b="0" strike="noStrike" spc="-1">
              <a:solidFill>
                <a:srgbClr val="000000"/>
              </a:solidFill>
              <a:latin typeface="Times New Roman"/>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 name="PlaceHolder 1"/>
          <p:cNvSpPr>
            <a:spLocks noGrp="1" noRot="1" noChangeAspect="1"/>
          </p:cNvSpPr>
          <p:nvPr>
            <p:ph type="sldImg"/>
          </p:nvPr>
        </p:nvSpPr>
        <p:spPr>
          <a:xfrm>
            <a:off x="685800" y="1143000"/>
            <a:ext cx="5486040" cy="3085920"/>
          </a:xfrm>
          <a:prstGeom prst="rect">
            <a:avLst/>
          </a:prstGeom>
          <a:ln w="0">
            <a:noFill/>
          </a:ln>
        </p:spPr>
      </p:sp>
      <p:sp>
        <p:nvSpPr>
          <p:cNvPr id="8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Vigilar el clúster y distinguir HA de DR.</a:t>
            </a:r>
          </a:p>
        </p:txBody>
      </p:sp>
      <p:sp>
        <p:nvSpPr>
          <p:cNvPr id="840" name="PlaceHolder 3"/>
          <p:cNvSpPr>
            <a:spLocks noGrp="1"/>
          </p:cNvSpPr>
          <p:nvPr>
            <p:ph type="sldNum" idx="12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15228394-678F-4A36-829B-7F6E7DCE86DE}" type="slidenum">
              <a:rPr lang="es-MX" sz="1200" b="0" strike="noStrike" spc="-1">
                <a:solidFill>
                  <a:srgbClr val="000000"/>
                </a:solidFill>
                <a:latin typeface="Times New Roman"/>
              </a:rPr>
              <a:t>133</a:t>
            </a:fld>
            <a:endParaRPr lang="en-US" sz="1200" b="0" strike="noStrike" spc="-1">
              <a:solidFill>
                <a:srgbClr val="000000"/>
              </a:solidFill>
              <a:latin typeface="Times New Roman"/>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PlaceHolder 1"/>
          <p:cNvSpPr>
            <a:spLocks noGrp="1" noRot="1" noChangeAspect="1"/>
          </p:cNvSpPr>
          <p:nvPr>
            <p:ph type="sldImg"/>
          </p:nvPr>
        </p:nvSpPr>
        <p:spPr>
          <a:xfrm>
            <a:off x="685800" y="1143000"/>
            <a:ext cx="5486040" cy="3085920"/>
          </a:xfrm>
          <a:prstGeom prst="rect">
            <a:avLst/>
          </a:prstGeom>
          <a:ln w="0">
            <a:noFill/>
          </a:ln>
        </p:spPr>
      </p:sp>
      <p:sp>
        <p:nvSpPr>
          <p:cNvPr id="8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No vuelas mirando por la ventana: miras altímetro, velocidad y combustible. Prometheus son los sensores; Grafana el tablero; el consumer lag, el indicador de combustible que NUNCA dejas de vigilar (¿los consumidores siguen el ritmo?). Control Center como consola empresarial de Confluent.</a:t>
            </a:r>
          </a:p>
        </p:txBody>
      </p:sp>
      <p:sp>
        <p:nvSpPr>
          <p:cNvPr id="843" name="PlaceHolder 3"/>
          <p:cNvSpPr>
            <a:spLocks noGrp="1"/>
          </p:cNvSpPr>
          <p:nvPr>
            <p:ph type="sldNum" idx="12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DFB3C326-4DAB-473D-B4D9-B0AAF69E61B3}" type="slidenum">
              <a:rPr lang="es-MX" sz="1200" b="0" strike="noStrike" spc="-1">
                <a:solidFill>
                  <a:srgbClr val="000000"/>
                </a:solidFill>
                <a:latin typeface="Times New Roman"/>
              </a:rPr>
              <a:t>134</a:t>
            </a:fld>
            <a:endParaRPr lang="en-US" sz="1200" b="0" strike="noStrike" spc="-1">
              <a:solidFill>
                <a:srgbClr val="000000"/>
              </a:solidFill>
              <a:latin typeface="Times New Roman"/>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 name="PlaceHolder 1"/>
          <p:cNvSpPr>
            <a:spLocks noGrp="1" noRot="1" noChangeAspect="1"/>
          </p:cNvSpPr>
          <p:nvPr>
            <p:ph type="sldImg"/>
          </p:nvPr>
        </p:nvSpPr>
        <p:spPr>
          <a:xfrm>
            <a:off x="685800" y="1143000"/>
            <a:ext cx="5486040" cy="3085920"/>
          </a:xfrm>
          <a:prstGeom prst="rect">
            <a:avLst/>
          </a:prstGeom>
          <a:ln w="0">
            <a:noFill/>
          </a:ln>
        </p:spPr>
      </p:sp>
      <p:sp>
        <p:nvSpPr>
          <p:cNvPr id="8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Distinguir claramente: HA = un broker cae y el clúster sigue; DR = el data center entero cae y otro clúster toma el relevo. Se confunden constantemente.</a:t>
            </a:r>
          </a:p>
        </p:txBody>
      </p:sp>
      <p:sp>
        <p:nvSpPr>
          <p:cNvPr id="846" name="PlaceHolder 3"/>
          <p:cNvSpPr>
            <a:spLocks noGrp="1"/>
          </p:cNvSpPr>
          <p:nvPr>
            <p:ph type="sldNum" idx="12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2BB40B8-0F84-49D5-ABC4-C47092D7974F}" type="slidenum">
              <a:rPr lang="es-MX" sz="1200" b="0" strike="noStrike" spc="-1">
                <a:solidFill>
                  <a:srgbClr val="000000"/>
                </a:solidFill>
                <a:latin typeface="Times New Roman"/>
              </a:rPr>
              <a:t>135</a:t>
            </a:fld>
            <a:endParaRPr lang="en-US" sz="1200" b="0" strike="noStrike" spc="-1">
              <a:solidFill>
                <a:srgbClr val="000000"/>
              </a:solidFill>
              <a:latin typeface="Times New Roman"/>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 name="PlaceHolder 1"/>
          <p:cNvSpPr>
            <a:spLocks noGrp="1" noRot="1" noChangeAspect="1"/>
          </p:cNvSpPr>
          <p:nvPr>
            <p:ph type="sldImg"/>
          </p:nvPr>
        </p:nvSpPr>
        <p:spPr>
          <a:xfrm>
            <a:off x="685800" y="1143000"/>
            <a:ext cx="5486040" cy="3085920"/>
          </a:xfrm>
          <a:prstGeom prst="rect">
            <a:avLst/>
          </a:prstGeom>
          <a:ln w="0">
            <a:noFill/>
          </a:ln>
        </p:spPr>
      </p:sp>
      <p:sp>
        <p:nvSpPr>
          <p:cNvPr id="8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pago de la promesa del Cap 1: RF=3 + min.ISR=2 + acks=all tolera perder 1 broker sin perder ni un mensaje. Y el error que van a PROVOCAR en el capstone: ISR bajo el mínimo con acks=all → NotEnoughReplicasException — la durabilidad rechazando una escritura insegura. Ese rechazo es la garantía funcionando.</a:t>
            </a:r>
          </a:p>
        </p:txBody>
      </p:sp>
      <p:sp>
        <p:nvSpPr>
          <p:cNvPr id="849" name="PlaceHolder 3"/>
          <p:cNvSpPr>
            <a:spLocks noGrp="1"/>
          </p:cNvSpPr>
          <p:nvPr>
            <p:ph type="sldNum" idx="12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FE72A5AA-5205-413E-9687-BB370F50E4DB}" type="slidenum">
              <a:rPr lang="es-MX" sz="1200" b="0" strike="noStrike" spc="-1">
                <a:solidFill>
                  <a:srgbClr val="000000"/>
                </a:solidFill>
                <a:latin typeface="Times New Roman"/>
              </a:rPr>
              <a:t>136</a:t>
            </a:fld>
            <a:endParaRPr lang="en-US" sz="1200" b="0" strike="noStrike" spc="-1">
              <a:solidFill>
                <a:srgbClr val="000000"/>
              </a:solidFill>
              <a:latin typeface="Times New Roman"/>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 name="PlaceHolder 1"/>
          <p:cNvSpPr>
            <a:spLocks noGrp="1" noRot="1" noChangeAspect="1"/>
          </p:cNvSpPr>
          <p:nvPr>
            <p:ph type="sldImg"/>
          </p:nvPr>
        </p:nvSpPr>
        <p:spPr>
          <a:xfrm>
            <a:off x="685800" y="1143000"/>
            <a:ext cx="5486040" cy="3085920"/>
          </a:xfrm>
          <a:prstGeom prst="rect">
            <a:avLst/>
          </a:prstGeom>
          <a:ln w="0">
            <a:noFill/>
          </a:ln>
        </p:spPr>
      </p:sp>
      <p:sp>
        <p:nvSpPr>
          <p:cNvPr id="8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Las tres puertas. Desemboca en el capstone (Lab 14).</a:t>
            </a:r>
          </a:p>
        </p:txBody>
      </p:sp>
      <p:sp>
        <p:nvSpPr>
          <p:cNvPr id="852" name="PlaceHolder 3"/>
          <p:cNvSpPr>
            <a:spLocks noGrp="1"/>
          </p:cNvSpPr>
          <p:nvPr>
            <p:ph type="sldNum" idx="12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F09DF28-BEF4-42C9-B8CB-34638A76C89B}" type="slidenum">
              <a:rPr lang="es-MX" sz="1200" b="0" strike="noStrike" spc="-1">
                <a:solidFill>
                  <a:srgbClr val="000000"/>
                </a:solidFill>
                <a:latin typeface="Times New Roman"/>
              </a:rPr>
              <a:t>137</a:t>
            </a:fld>
            <a:endParaRPr lang="en-US" sz="1200" b="0" strike="noStrike" spc="-1">
              <a:solidFill>
                <a:srgbClr val="000000"/>
              </a:solidFill>
              <a:latin typeface="Times New Roman"/>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3" name="PlaceHolder 1"/>
          <p:cNvSpPr>
            <a:spLocks noGrp="1" noRot="1" noChangeAspect="1"/>
          </p:cNvSpPr>
          <p:nvPr>
            <p:ph type="sldImg"/>
          </p:nvPr>
        </p:nvSpPr>
        <p:spPr>
          <a:xfrm>
            <a:off x="685800" y="1143000"/>
            <a:ext cx="5486040" cy="3085920"/>
          </a:xfrm>
          <a:prstGeom prst="rect">
            <a:avLst/>
          </a:prstGeom>
          <a:ln w="0">
            <a:noFill/>
          </a:ln>
        </p:spPr>
      </p:sp>
      <p:sp>
        <p:nvSpPr>
          <p:cNvPr id="8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TLS = el pasillo blindado (¿el canal es privado?). SASL = el guardia que verifica tu credencial (¿quién eres?). ACLs = la lista de pisos a los que puedes subir (¿qué puedes hacer?). Te falta una y el edificio no es seguro. El intento sin permiso rebota en la tercera puerta — y ese DENEGADO lo van a ver en vivo.</a:t>
            </a:r>
          </a:p>
        </p:txBody>
      </p:sp>
      <p:sp>
        <p:nvSpPr>
          <p:cNvPr id="855" name="PlaceHolder 3"/>
          <p:cNvSpPr>
            <a:spLocks noGrp="1"/>
          </p:cNvSpPr>
          <p:nvPr>
            <p:ph type="sldNum" idx="1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4B9FEAEC-9785-4894-827B-19D781E0FE36}" type="slidenum">
              <a:rPr lang="es-MX" sz="1200" b="0" strike="noStrike" spc="-1">
                <a:solidFill>
                  <a:srgbClr val="000000"/>
                </a:solidFill>
                <a:latin typeface="Times New Roman"/>
              </a:rPr>
              <a:t>138</a:t>
            </a:fld>
            <a:endParaRPr lang="en-US" sz="1200" b="0" strike="noStrike" spc="-1">
              <a:solidFill>
                <a:srgbClr val="000000"/>
              </a:solidFill>
              <a:latin typeface="Times New Roman"/>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 name="PlaceHolder 1"/>
          <p:cNvSpPr>
            <a:spLocks noGrp="1" noRot="1" noChangeAspect="1"/>
          </p:cNvSpPr>
          <p:nvPr>
            <p:ph type="sldImg"/>
          </p:nvPr>
        </p:nvSpPr>
        <p:spPr>
          <a:xfrm>
            <a:off x="685800" y="1143000"/>
            <a:ext cx="5486040" cy="3085920"/>
          </a:xfrm>
          <a:prstGeom prst="rect">
            <a:avLst/>
          </a:prstGeom>
          <a:ln w="0">
            <a:noFill/>
          </a:ln>
        </p:spPr>
      </p:sp>
      <p:sp>
        <p:nvSpPr>
          <p:cNvPr id="8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teórico del curso. Todo converge en el capstone: seguridad + durabilidad + failover en un solo escenario.</a:t>
            </a:r>
          </a:p>
        </p:txBody>
      </p:sp>
      <p:sp>
        <p:nvSpPr>
          <p:cNvPr id="858" name="PlaceHolder 3"/>
          <p:cNvSpPr>
            <a:spLocks noGrp="1"/>
          </p:cNvSpPr>
          <p:nvPr>
            <p:ph type="sldNum" idx="13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CEDC4DE6-2F0B-4A0C-AAC8-2AB57457CEA3}" type="slidenum">
              <a:rPr lang="es-MX" sz="1200" b="0" strike="noStrike" spc="-1">
                <a:solidFill>
                  <a:srgbClr val="000000"/>
                </a:solidFill>
                <a:latin typeface="Times New Roman"/>
              </a:rPr>
              <a:t>139</a:t>
            </a:fld>
            <a:endParaRPr lang="en-US" sz="1200" b="0" strike="noStrike" spc="-1">
              <a:solidFill>
                <a:srgbClr val="000000"/>
              </a:solidFill>
              <a:latin typeface="Times New Roman"/>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 name="PlaceHolder 1"/>
          <p:cNvSpPr>
            <a:spLocks noGrp="1" noRot="1" noChangeAspect="1"/>
          </p:cNvSpPr>
          <p:nvPr>
            <p:ph type="sldImg"/>
          </p:nvPr>
        </p:nvSpPr>
        <p:spPr>
          <a:xfrm>
            <a:off x="685800" y="1143000"/>
            <a:ext cx="5486040" cy="3085920"/>
          </a:xfrm>
          <a:prstGeom prst="rect">
            <a:avLst/>
          </a:prstGeom>
          <a:ln w="0">
            <a:noFill/>
          </a:ln>
        </p:spPr>
      </p:sp>
      <p:sp>
        <p:nvSpPr>
          <p:cNvPr id="8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momento revelador: ver la TABLE actualizarse SOLA con cada evento del STREAM — el extracto alimentando el saldo (5.1) en vivo.</a:t>
            </a:r>
          </a:p>
        </p:txBody>
      </p:sp>
      <p:sp>
        <p:nvSpPr>
          <p:cNvPr id="861" name="PlaceHolder 3"/>
          <p:cNvSpPr>
            <a:spLocks noGrp="1"/>
          </p:cNvSpPr>
          <p:nvPr>
            <p:ph type="sldNum" idx="1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2B14AD1-9682-4C04-976D-80F4B81B326A}" type="slidenum">
              <a:rPr lang="es-MX" sz="1200" b="0" strike="noStrike" spc="-1">
                <a:solidFill>
                  <a:srgbClr val="000000"/>
                </a:solidFill>
                <a:latin typeface="Times New Roman"/>
              </a:rPr>
              <a:t>140</a:t>
            </a:fld>
            <a:endParaRPr lang="en-US" sz="1200" b="0" strike="noStrike" spc="-1">
              <a:solidFill>
                <a:srgbClr val="000000"/>
              </a:solidFill>
              <a:latin typeface="Times New Roman"/>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PlaceHolder 1"/>
          <p:cNvSpPr>
            <a:spLocks noGrp="1" noRot="1" noChangeAspect="1"/>
          </p:cNvSpPr>
          <p:nvPr>
            <p:ph type="sldImg"/>
          </p:nvPr>
        </p:nvSpPr>
        <p:spPr>
          <a:xfrm>
            <a:off x="685800" y="1143000"/>
            <a:ext cx="5486040" cy="3085920"/>
          </a:xfrm>
          <a:prstGeom prst="rect">
            <a:avLst/>
          </a:prstGeom>
          <a:ln w="0">
            <a:noFill/>
          </a:ln>
        </p:spPr>
      </p:sp>
      <p:sp>
        <p:nvSpPr>
          <p:cNvPr id="8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alumno vio SQL que no termina: la consulta como proceso vivo, no como pregunta puntual.</a:t>
            </a:r>
          </a:p>
        </p:txBody>
      </p:sp>
      <p:sp>
        <p:nvSpPr>
          <p:cNvPr id="864" name="PlaceHolder 3"/>
          <p:cNvSpPr>
            <a:spLocks noGrp="1"/>
          </p:cNvSpPr>
          <p:nvPr>
            <p:ph type="sldNum" idx="1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07CE9D1-8EC0-44EE-82AC-0F4DE408C55D}" type="slidenum">
              <a:rPr lang="es-MX" sz="1200" b="0" strike="noStrike" spc="-1">
                <a:solidFill>
                  <a:srgbClr val="000000"/>
                </a:solidFill>
                <a:latin typeface="Times New Roman"/>
              </a:rPr>
              <a:t>141</a:t>
            </a:fld>
            <a:endParaRPr lang="en-US" sz="1200" b="0" strike="noStrike" spc="-1">
              <a:solidFill>
                <a:srgbClr val="000000"/>
              </a:solidFill>
              <a:latin typeface="Times New Roman"/>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 name="PlaceHolder 1"/>
          <p:cNvSpPr>
            <a:spLocks noGrp="1" noRot="1" noChangeAspect="1"/>
          </p:cNvSpPr>
          <p:nvPr>
            <p:ph type="sldImg"/>
          </p:nvPr>
        </p:nvSpPr>
        <p:spPr>
          <a:xfrm>
            <a:off x="685800" y="1143000"/>
            <a:ext cx="5486040" cy="3085920"/>
          </a:xfrm>
          <a:prstGeom prst="rect">
            <a:avLst/>
          </a:prstGeom>
          <a:ln w="0">
            <a:noFill/>
          </a:ln>
        </p:spPr>
      </p:sp>
      <p:sp>
        <p:nvSpPr>
          <p:cNvPr id="8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 cinta transportadora (5.2) en operación. Enfatizar el contraste: cero código de integración, todo configuración declarativa — eso es industrializar.</a:t>
            </a:r>
          </a:p>
        </p:txBody>
      </p:sp>
      <p:sp>
        <p:nvSpPr>
          <p:cNvPr id="867" name="PlaceHolder 3"/>
          <p:cNvSpPr>
            <a:spLocks noGrp="1"/>
          </p:cNvSpPr>
          <p:nvPr>
            <p:ph type="sldNum" idx="13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2CE467F2-0F40-48E7-BC68-94D81FDC9379}" type="slidenum">
              <a:rPr lang="es-MX" sz="1200" b="0" strike="noStrike" spc="-1">
                <a:solidFill>
                  <a:srgbClr val="000000"/>
                </a:solidFill>
                <a:latin typeface="Times New Roman"/>
              </a:rPr>
              <a:t>142</a:t>
            </a:fld>
            <a:endParaRPr lang="en-US" sz="1200" b="0" strike="noStrike" spc="-1">
              <a:solidFill>
                <a:srgbClr val="000000"/>
              </a:solidFill>
              <a:latin typeface="Times New Roman"/>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PlaceHolder 1"/>
          <p:cNvSpPr>
            <a:spLocks noGrp="1" noRot="1" noChangeAspect="1"/>
          </p:cNvSpPr>
          <p:nvPr>
            <p:ph type="sldImg"/>
          </p:nvPr>
        </p:nvSpPr>
        <p:spPr>
          <a:xfrm>
            <a:off x="685800" y="1143000"/>
            <a:ext cx="5486040" cy="3085920"/>
          </a:xfrm>
          <a:prstGeom prst="rect">
            <a:avLst/>
          </a:prstGeom>
          <a:ln w="0">
            <a:noFill/>
          </a:ln>
        </p:spPr>
      </p:sp>
      <p:sp>
        <p:nvSpPr>
          <p:cNvPr id="8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La integración dejó de ser un proyecto de desarrollo: es un archivo de configuración bien escrito.</a:t>
            </a:r>
          </a:p>
        </p:txBody>
      </p:sp>
      <p:sp>
        <p:nvSpPr>
          <p:cNvPr id="870" name="PlaceHolder 3"/>
          <p:cNvSpPr>
            <a:spLocks noGrp="1"/>
          </p:cNvSpPr>
          <p:nvPr>
            <p:ph type="sldNum" idx="13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7747B77E-9358-443B-9E87-64349EFD39F6}" type="slidenum">
              <a:rPr lang="es-MX" sz="1200" b="0" strike="noStrike" spc="-1">
                <a:solidFill>
                  <a:srgbClr val="000000"/>
                </a:solidFill>
                <a:latin typeface="Times New Roman"/>
              </a:rPr>
              <a:t>143</a:t>
            </a:fld>
            <a:endParaRPr lang="en-US" sz="1200" b="0" strike="noStrike" spc="-1">
              <a:solidFill>
                <a:srgbClr val="000000"/>
              </a:solidFill>
              <a:latin typeface="Times New Roman"/>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PlaceHolder 1"/>
          <p:cNvSpPr>
            <a:spLocks noGrp="1" noRot="1" noChangeAspect="1"/>
          </p:cNvSpPr>
          <p:nvPr>
            <p:ph type="sldImg"/>
          </p:nvPr>
        </p:nvSpPr>
        <p:spPr>
          <a:xfrm>
            <a:off x="685800" y="1143000"/>
            <a:ext cx="5486040" cy="3085920"/>
          </a:xfrm>
          <a:prstGeom prst="rect">
            <a:avLst/>
          </a:prstGeom>
          <a:ln w="0">
            <a:noFill/>
          </a:ln>
        </p:spPr>
      </p:sp>
      <p:sp>
        <p:nvSpPr>
          <p:cNvPr id="8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El gran final: las tres puertas (5.4) + la tríada (5.3) + el failover del Cap 2, integrados. Dos momentos cumbre: el DENEGADO de la ACL funcionando, y el mensaje que sobrevive a la caída del broker. Cierre del curso con evidencia, no con promesas.</a:t>
            </a:r>
          </a:p>
        </p:txBody>
      </p:sp>
      <p:sp>
        <p:nvSpPr>
          <p:cNvPr id="873" name="PlaceHolder 3"/>
          <p:cNvSpPr>
            <a:spLocks noGrp="1"/>
          </p:cNvSpPr>
          <p:nvPr>
            <p:ph type="sldNum" idx="13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268AF0B-BF7B-419B-B612-C5560DD1DC06}" type="slidenum">
              <a:rPr lang="es-MX" sz="1200" b="0" strike="noStrike" spc="-1">
                <a:solidFill>
                  <a:srgbClr val="000000"/>
                </a:solidFill>
                <a:latin typeface="Times New Roman"/>
              </a:rPr>
              <a:t>144</a:t>
            </a:fld>
            <a:endParaRPr lang="en-US" sz="1200" b="0" strike="noStrike" spc="-1">
              <a:solidFill>
                <a:srgbClr val="000000"/>
              </a:solidFill>
              <a:latin typeface="Times New Roman"/>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 name="PlaceHolder 1"/>
          <p:cNvSpPr>
            <a:spLocks noGrp="1" noRot="1" noChangeAspect="1"/>
          </p:cNvSpPr>
          <p:nvPr>
            <p:ph type="sldImg"/>
          </p:nvPr>
        </p:nvSpPr>
        <p:spPr>
          <a:xfrm>
            <a:off x="685800" y="1143000"/>
            <a:ext cx="5486040" cy="3085920"/>
          </a:xfrm>
          <a:prstGeom prst="rect">
            <a:avLst/>
          </a:prstGeom>
          <a:ln w="0">
            <a:noFill/>
          </a:ln>
        </p:spPr>
      </p:sp>
      <p:sp>
        <p:nvSpPr>
          <p:cNvPr id="8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Quien completa el capstone administró un clúster seguro y resiliente de punta a punta. No es un certificado de asistencia: es evidencia de capacidad.</a:t>
            </a:r>
          </a:p>
        </p:txBody>
      </p:sp>
      <p:sp>
        <p:nvSpPr>
          <p:cNvPr id="876" name="PlaceHolder 3"/>
          <p:cNvSpPr>
            <a:spLocks noGrp="1"/>
          </p:cNvSpPr>
          <p:nvPr>
            <p:ph type="sldNum" idx="1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BAC15E1D-DF13-4924-AA2F-8FD9399C1F8A}" type="slidenum">
              <a:rPr lang="es-MX" sz="1200" b="0" strike="noStrike" spc="-1">
                <a:solidFill>
                  <a:srgbClr val="000000"/>
                </a:solidFill>
                <a:latin typeface="Times New Roman"/>
              </a:rPr>
              <a:t>145</a:t>
            </a:fld>
            <a:endParaRPr lang="en-US" sz="1200" b="0" strike="noStrike" spc="-1">
              <a:solidFill>
                <a:srgbClr val="000000"/>
              </a:solidFill>
              <a:latin typeface="Times New Roman"/>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 name="PlaceHolder 1"/>
          <p:cNvSpPr>
            <a:spLocks noGrp="1" noRot="1" noChangeAspect="1"/>
          </p:cNvSpPr>
          <p:nvPr>
            <p:ph type="sldImg"/>
          </p:nvPr>
        </p:nvSpPr>
        <p:spPr>
          <a:xfrm>
            <a:off x="685800" y="1143000"/>
            <a:ext cx="5486040" cy="3085920"/>
          </a:xfrm>
          <a:prstGeom prst="rect">
            <a:avLst/>
          </a:prstGeom>
          <a:ln w="0">
            <a:noFill/>
          </a:ln>
        </p:spPr>
      </p:sp>
      <p:sp>
        <p:nvSpPr>
          <p:cNvPr id="8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Referencias del capítulo 5 y cierre. La sección #security de la doc oficial de Kafka es la fuente canónica para TLS/SASL/ACLs.</a:t>
            </a:r>
          </a:p>
        </p:txBody>
      </p:sp>
      <p:sp>
        <p:nvSpPr>
          <p:cNvPr id="879" name="PlaceHolder 3"/>
          <p:cNvSpPr>
            <a:spLocks noGrp="1"/>
          </p:cNvSpPr>
          <p:nvPr>
            <p:ph type="sldNum" idx="1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9E5B4BA5-4E45-4989-A3E8-49D52EC0BDDC}" type="slidenum">
              <a:rPr lang="es-MX" sz="1200" b="0" strike="noStrike" spc="-1">
                <a:solidFill>
                  <a:srgbClr val="000000"/>
                </a:solidFill>
                <a:latin typeface="Times New Roman"/>
              </a:rPr>
              <a:t>146</a:t>
            </a:fld>
            <a:endParaRPr lang="en-US" sz="1200" b="0" strike="noStrike" spc="-1">
              <a:solidFill>
                <a:srgbClr val="000000"/>
              </a:solidFill>
              <a:latin typeface="Times New Roman"/>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PlaceHolder 1"/>
          <p:cNvSpPr>
            <a:spLocks noGrp="1" noRot="1" noChangeAspect="1"/>
          </p:cNvSpPr>
          <p:nvPr>
            <p:ph type="sldImg"/>
          </p:nvPr>
        </p:nvSpPr>
        <p:spPr>
          <a:xfrm>
            <a:off x="685800" y="1143000"/>
            <a:ext cx="5486040" cy="3085920"/>
          </a:xfrm>
          <a:prstGeom prst="rect">
            <a:avLst/>
          </a:prstGeom>
          <a:ln w="0">
            <a:noFill/>
          </a:ln>
        </p:spPr>
      </p:sp>
      <p:sp>
        <p:nvSpPr>
          <p:cNvPr id="8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Cierre emocional y honesto. Recontar el arco: "empezaron preguntándose por qué desacoplar sistemas; terminan asegurando un clúster con failover en vivo, sin perder un mensaje". Espacio para preguntas finales y feedback. Mencionar la certificación CCAAK como horizonte natural para quien quiera formalizar lo aprendido.</a:t>
            </a:r>
          </a:p>
        </p:txBody>
      </p:sp>
      <p:sp>
        <p:nvSpPr>
          <p:cNvPr id="882" name="PlaceHolder 3"/>
          <p:cNvSpPr>
            <a:spLocks noGrp="1"/>
          </p:cNvSpPr>
          <p:nvPr>
            <p:ph type="sldNum" idx="1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MX" sz="1200" b="0" strike="noStrike" spc="-1">
                <a:solidFill>
                  <a:srgbClr val="000000"/>
                </a:solidFill>
                <a:latin typeface="Times New Roman"/>
              </a:defRPr>
            </a:lvl1pPr>
          </a:lstStyle>
          <a:p>
            <a:pPr indent="0" algn="r">
              <a:lnSpc>
                <a:spcPct val="100000"/>
              </a:lnSpc>
              <a:buNone/>
            </a:pPr>
            <a:fld id="{873A180F-F436-48A4-9D75-D50B4823D6C4}" type="slidenum">
              <a:rPr lang="es-MX" sz="1200" b="0" strike="noStrike" spc="-1">
                <a:solidFill>
                  <a:srgbClr val="000000"/>
                </a:solidFill>
                <a:latin typeface="Times New Roman"/>
              </a:rPr>
              <a:t>147</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ortada del curso">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Nombre del tema">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Nombre del tema 2">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ontenido - General">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ntenido - Imagen 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ntenido - Comparativo">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ntenido - Imagen 2">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ido - Imagen 3">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ido - Imagen 4">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ido - En blanco">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ido - Código 100">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ropiedad intelectual">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ontenido - Código 50, Descripción 50">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ontenido2 - Código 50, Descripción 50">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ontenido - 2 códigos verticales">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Resumen del capítulo">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escripción de la práctica. ">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olución de la práctica.">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Referencias bibligráficas del capítulo.">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Final de la presentación">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scripción del curso">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bjetivos del curso">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Prerrequisitos del curso">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Audiencia del curso">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emario del curso">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Presentación del grupo">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Portada del capítul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4.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9.xml"/><Relationship Id="rId1" Type="http://schemas.openxmlformats.org/officeDocument/2006/relationships/slideLayout" Target="../slideLayouts/slideLayout9.xml"/><Relationship Id="rId4" Type="http://schemas.openxmlformats.org/officeDocument/2006/relationships/image" Target="../media/image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1.xml"/><Relationship Id="rId1" Type="http://schemas.openxmlformats.org/officeDocument/2006/relationships/slideLayout" Target="../slideLayouts/slideLayout11.xml"/><Relationship Id="rId4" Type="http://schemas.openxmlformats.org/officeDocument/2006/relationships/image" Target="../media/image4.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1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3.xml"/><Relationship Id="rId1" Type="http://schemas.openxmlformats.org/officeDocument/2006/relationships/slideLayout" Target="../slideLayouts/slideLayout13.xml"/><Relationship Id="rId4" Type="http://schemas.openxmlformats.org/officeDocument/2006/relationships/image" Target="../media/image4.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4.xml"/><Relationship Id="rId1" Type="http://schemas.openxmlformats.org/officeDocument/2006/relationships/slideLayout" Target="../slideLayouts/slideLayout14.xml"/><Relationship Id="rId4" Type="http://schemas.openxmlformats.org/officeDocument/2006/relationships/image" Target="../media/image4.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5.xml"/><Relationship Id="rId1" Type="http://schemas.openxmlformats.org/officeDocument/2006/relationships/slideLayout" Target="../slideLayouts/slideLayout15.xml"/><Relationship Id="rId4" Type="http://schemas.openxmlformats.org/officeDocument/2006/relationships/image" Target="../media/image4.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theme" Target="../theme/theme16.xml"/><Relationship Id="rId1" Type="http://schemas.openxmlformats.org/officeDocument/2006/relationships/slideLayout" Target="../slideLayouts/slideLayout16.xml"/><Relationship Id="rId4" Type="http://schemas.openxmlformats.org/officeDocument/2006/relationships/image" Target="../media/image4.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theme" Target="../theme/theme17.xml"/><Relationship Id="rId1" Type="http://schemas.openxmlformats.org/officeDocument/2006/relationships/slideLayout" Target="../slideLayouts/slideLayout17.xml"/><Relationship Id="rId4" Type="http://schemas.openxmlformats.org/officeDocument/2006/relationships/image" Target="../media/image4.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theme" Target="../theme/theme18.xml"/><Relationship Id="rId1" Type="http://schemas.openxmlformats.org/officeDocument/2006/relationships/slideLayout" Target="../slideLayouts/slideLayout18.xml"/><Relationship Id="rId4" Type="http://schemas.openxmlformats.org/officeDocument/2006/relationships/image" Target="../media/image4.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19.xml"/><Relationship Id="rId1" Type="http://schemas.openxmlformats.org/officeDocument/2006/relationships/slideLayout" Target="../slideLayouts/slideLayout19.xml"/><Relationship Id="rId4" Type="http://schemas.openxmlformats.org/officeDocument/2006/relationships/image" Target="../media/image4.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20.xml"/><Relationship Id="rId1" Type="http://schemas.openxmlformats.org/officeDocument/2006/relationships/slideLayout" Target="../slideLayouts/slideLayout20.xml"/><Relationship Id="rId4" Type="http://schemas.openxmlformats.org/officeDocument/2006/relationships/image" Target="../media/image4.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21.xm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image" Target="../media/image20.jpe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theme" Target="../theme/theme22.xml"/><Relationship Id="rId1" Type="http://schemas.openxmlformats.org/officeDocument/2006/relationships/slideLayout" Target="../slideLayouts/slideLayout22.xml"/><Relationship Id="rId4" Type="http://schemas.openxmlformats.org/officeDocument/2006/relationships/image" Target="../media/image4.png"/></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theme" Target="../theme/theme23.xm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image" Target="../media/image23.png"/></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theme" Target="../theme/theme24.xml"/><Relationship Id="rId1" Type="http://schemas.openxmlformats.org/officeDocument/2006/relationships/slideLayout" Target="../slideLayouts/slideLayout24.xml"/><Relationship Id="rId5" Type="http://schemas.openxmlformats.org/officeDocument/2006/relationships/image" Target="../media/image4.png"/><Relationship Id="rId4" Type="http://schemas.openxmlformats.org/officeDocument/2006/relationships/image" Target="../media/image25.png"/></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theme" Target="../theme/theme25.xml"/><Relationship Id="rId1" Type="http://schemas.openxmlformats.org/officeDocument/2006/relationships/slideLayout" Target="../slideLayouts/slideLayout25.xml"/><Relationship Id="rId4" Type="http://schemas.openxmlformats.org/officeDocument/2006/relationships/image" Target="../media/image4.png"/></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theme" Target="../theme/theme26.xml"/><Relationship Id="rId1" Type="http://schemas.openxmlformats.org/officeDocument/2006/relationships/slideLayout" Target="../slideLayouts/slideLayout26.xml"/><Relationship Id="rId4" Type="http://schemas.openxmlformats.org/officeDocument/2006/relationships/image" Target="../media/image4.png"/></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theme" Target="../theme/theme27.xml"/><Relationship Id="rId1" Type="http://schemas.openxmlformats.org/officeDocument/2006/relationships/slideLayout" Target="../slideLayouts/slideLayout27.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n 8"/>
          <p:cNvPicPr/>
          <p:nvPr/>
        </p:nvPicPr>
        <p:blipFill>
          <a:blip r:embed="rId3"/>
          <a:stretch/>
        </p:blipFill>
        <p:spPr>
          <a:xfrm>
            <a:off x="0" y="0"/>
            <a:ext cx="12191760" cy="6857640"/>
          </a:xfrm>
          <a:prstGeom prst="rect">
            <a:avLst/>
          </a:prstGeom>
          <a:ln w="0">
            <a:noFill/>
          </a:ln>
        </p:spPr>
      </p:pic>
      <p:sp>
        <p:nvSpPr>
          <p:cNvPr id="8" name="PlaceHolder 1"/>
          <p:cNvSpPr>
            <a:spLocks noGrp="1"/>
          </p:cNvSpPr>
          <p:nvPr>
            <p:ph type="body"/>
          </p:nvPr>
        </p:nvSpPr>
        <p:spPr>
          <a:xfrm>
            <a:off x="478080" y="1189080"/>
            <a:ext cx="4090680" cy="4479120"/>
          </a:xfrm>
          <a:prstGeom prst="rect">
            <a:avLst/>
          </a:prstGeom>
          <a:solidFill>
            <a:schemeClr val="lt1"/>
          </a:solidFill>
          <a:ln w="0">
            <a:noFill/>
          </a:ln>
        </p:spPr>
        <p:txBody>
          <a:bodyPr lIns="91440" tIns="45720" rIns="91440" bIns="45720" anchor="ctr">
            <a:normAutofit/>
          </a:bodyPr>
          <a:lstStyle/>
          <a:p>
            <a:pPr indent="0" algn="ctr" defTabSz="914400">
              <a:lnSpc>
                <a:spcPct val="90000"/>
              </a:lnSpc>
              <a:spcBef>
                <a:spcPts val="1001"/>
              </a:spcBef>
              <a:buNone/>
              <a:tabLst>
                <a:tab pos="0" algn="l"/>
              </a:tabLst>
            </a:pPr>
            <a:r>
              <a:rPr lang="es-ES" sz="4800" b="1" strike="noStrike" spc="-1">
                <a:solidFill>
                  <a:schemeClr val="dk1"/>
                </a:solidFill>
                <a:latin typeface="Neue Haas Grotesk Text Pro"/>
              </a:rPr>
              <a:t>Nombre del curso</a:t>
            </a:r>
            <a:endParaRPr lang="es-MX" sz="4800" b="0" strike="noStrike" spc="-1">
              <a:solidFill>
                <a:schemeClr val="dk1"/>
              </a:solidFill>
              <a:latin typeface="Calibri"/>
            </a:endParaRPr>
          </a:p>
        </p:txBody>
      </p:sp>
      <p:pic>
        <p:nvPicPr>
          <p:cNvPr id="2" name="Picture 3" descr="Concepto genético abstracto"/>
          <p:cNvPicPr/>
          <p:nvPr/>
        </p:nvPicPr>
        <p:blipFill>
          <a:blip r:embed="rId4"/>
          <a:srcRect t="10442" r="-2" b="10443"/>
          <a:stretch/>
        </p:blipFill>
        <p:spPr>
          <a:xfrm>
            <a:off x="5414400" y="818280"/>
            <a:ext cx="6408360" cy="5069880"/>
          </a:xfrm>
          <a:prstGeom prst="rect">
            <a:avLst/>
          </a:prstGeom>
          <a:ln w="0">
            <a:noFill/>
          </a:ln>
        </p:spPr>
      </p:pic>
      <p:pic>
        <p:nvPicPr>
          <p:cNvPr id="3" name="Google Shape;3732;p425"/>
          <p:cNvPicPr/>
          <p:nvPr/>
        </p:nvPicPr>
        <p:blipFill>
          <a:blip r:embed="rId5"/>
          <a:stretch/>
        </p:blipFill>
        <p:spPr>
          <a:xfrm>
            <a:off x="8749800" y="5940720"/>
            <a:ext cx="2627640" cy="689760"/>
          </a:xfrm>
          <a:prstGeom prst="rect">
            <a:avLst/>
          </a:prstGeom>
          <a:ln w="0">
            <a:noFill/>
          </a:ln>
        </p:spPr>
      </p:pic>
      <p:sp>
        <p:nvSpPr>
          <p:cNvPr id="4" name="Google Shape;3731;p425"/>
          <p:cNvSpPr/>
          <p:nvPr/>
        </p:nvSpPr>
        <p:spPr>
          <a:xfrm>
            <a:off x="8145360" y="6285960"/>
            <a:ext cx="4274280" cy="53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s-ES" sz="1600" b="0" strike="noStrike" spc="-1">
                <a:solidFill>
                  <a:schemeClr val="dk1"/>
                </a:solidFill>
                <a:latin typeface="Neue Haas Grotesk Text Pro"/>
                <a:ea typeface="Calibri"/>
              </a:rPr>
              <a:t>www.netec.com  |  servicio@netec.com</a:t>
            </a:r>
            <a:endParaRPr lang="en-US" sz="1600" b="0" strike="noStrike" spc="-1">
              <a:solidFill>
                <a:srgbClr val="000000"/>
              </a:solidFill>
              <a:latin typeface="Arial"/>
            </a:endParaRPr>
          </a:p>
        </p:txBody>
      </p:sp>
      <p:pic>
        <p:nvPicPr>
          <p:cNvPr id="5" name="Imagen 5" descr="Logotipo&#10;&#10;Descripción generada automáticamente"/>
          <p:cNvPicPr/>
          <p:nvPr/>
        </p:nvPicPr>
        <p:blipFill>
          <a:blip r:embed="rId6"/>
          <a:stretch/>
        </p:blipFill>
        <p:spPr>
          <a:xfrm>
            <a:off x="0" y="6075720"/>
            <a:ext cx="2051640" cy="811800"/>
          </a:xfrm>
          <a:prstGeom prst="rect">
            <a:avLst/>
          </a:prstGeom>
          <a:ln w="0">
            <a:noFill/>
          </a:ln>
        </p:spPr>
      </p:pic>
      <p:sp>
        <p:nvSpPr>
          <p:cNvPr id="6"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n 6"/>
          <p:cNvPicPr/>
          <p:nvPr/>
        </p:nvPicPr>
        <p:blipFill>
          <a:blip r:embed="rId3"/>
          <a:stretch/>
        </p:blipFill>
        <p:spPr>
          <a:xfrm>
            <a:off x="0" y="0"/>
            <a:ext cx="12191760" cy="6857640"/>
          </a:xfrm>
          <a:prstGeom prst="rect">
            <a:avLst/>
          </a:prstGeom>
          <a:ln w="0">
            <a:noFill/>
          </a:ln>
        </p:spPr>
      </p:pic>
      <p:sp>
        <p:nvSpPr>
          <p:cNvPr id="8" name="PlaceHolder 1"/>
          <p:cNvSpPr>
            <a:spLocks noGrp="1"/>
          </p:cNvSpPr>
          <p:nvPr>
            <p:ph type="body"/>
          </p:nvPr>
        </p:nvSpPr>
        <p:spPr>
          <a:xfrm>
            <a:off x="831960" y="384840"/>
            <a:ext cx="10491480" cy="2293560"/>
          </a:xfrm>
          <a:prstGeom prst="rect">
            <a:avLst/>
          </a:prstGeom>
          <a:noFill/>
          <a:ln w="0">
            <a:noFill/>
          </a:ln>
        </p:spPr>
        <p:txBody>
          <a:bodyPr lIns="91440" tIns="45720" rIns="91440" bIns="45720" anchor="ctr">
            <a:normAutofit/>
          </a:bodyPr>
          <a:lstStyle/>
          <a:p>
            <a:pPr indent="0" algn="ctr" defTabSz="914400">
              <a:lnSpc>
                <a:spcPct val="90000"/>
              </a:lnSpc>
              <a:spcBef>
                <a:spcPts val="1001"/>
              </a:spcBef>
              <a:buNone/>
              <a:tabLst>
                <a:tab pos="0" algn="l"/>
              </a:tabLst>
            </a:pPr>
            <a:r>
              <a:rPr lang="es-ES" sz="5400" b="1" strike="noStrike" spc="-1">
                <a:solidFill>
                  <a:schemeClr val="dk1"/>
                </a:solidFill>
                <a:latin typeface="Neue Haas Grotesk Text Pro"/>
              </a:rPr>
              <a:t>1.1 Tema</a:t>
            </a:r>
            <a:endParaRPr lang="es-MX" sz="5400" b="0" strike="noStrike" spc="-1">
              <a:solidFill>
                <a:schemeClr val="dk1"/>
              </a:solidFill>
              <a:latin typeface="Calibri"/>
            </a:endParaRPr>
          </a:p>
        </p:txBody>
      </p:sp>
      <p:sp>
        <p:nvSpPr>
          <p:cNvPr id="9" name="PlaceHolder 2"/>
          <p:cNvSpPr>
            <a:spLocks noGrp="1"/>
          </p:cNvSpPr>
          <p:nvPr>
            <p:ph type="body"/>
          </p:nvPr>
        </p:nvSpPr>
        <p:spPr>
          <a:xfrm>
            <a:off x="831960" y="3063960"/>
            <a:ext cx="10491480" cy="3408480"/>
          </a:xfrm>
          <a:prstGeom prst="rect">
            <a:avLst/>
          </a:prstGeom>
          <a:noFill/>
          <a:ln w="0">
            <a:noFill/>
          </a:ln>
        </p:spPr>
        <p:txBody>
          <a:bodyPr lIns="91440" tIns="45720" rIns="91440" bIns="45720" anchor="t">
            <a:normAutofit/>
          </a:bodyPr>
          <a:lstStyle/>
          <a:p>
            <a:pPr marL="457200" indent="-457200"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Introducción.</a:t>
            </a:r>
            <a:endParaRPr lang="es-MX" sz="2200" b="0" strike="noStrike" spc="-1">
              <a:solidFill>
                <a:schemeClr val="dk1"/>
              </a:solidFill>
              <a:latin typeface="Calibri"/>
            </a:endParaRPr>
          </a:p>
        </p:txBody>
      </p:sp>
      <p:pic>
        <p:nvPicPr>
          <p:cNvPr id="10" name="Imagen 1" descr="Logotipo&#10;&#10;Descripción generada automáticamente"/>
          <p:cNvPicPr/>
          <p:nvPr/>
        </p:nvPicPr>
        <p:blipFill>
          <a:blip r:embed="rId4"/>
          <a:stretch/>
        </p:blipFill>
        <p:spPr>
          <a:xfrm>
            <a:off x="0" y="6075720"/>
            <a:ext cx="2051640" cy="811800"/>
          </a:xfrm>
          <a:prstGeom prst="rect">
            <a:avLst/>
          </a:prstGeom>
          <a:ln w="0">
            <a:noFill/>
          </a:ln>
        </p:spPr>
      </p:pic>
      <p:sp>
        <p:nvSpPr>
          <p:cNvPr id="11"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Imagen 6"/>
          <p:cNvPicPr/>
          <p:nvPr/>
        </p:nvPicPr>
        <p:blipFill>
          <a:blip r:embed="rId3"/>
          <a:stretch/>
        </p:blipFill>
        <p:spPr>
          <a:xfrm>
            <a:off x="0" y="0"/>
            <a:ext cx="12191760" cy="6857640"/>
          </a:xfrm>
          <a:prstGeom prst="rect">
            <a:avLst/>
          </a:prstGeom>
          <a:ln w="0">
            <a:noFill/>
          </a:ln>
        </p:spPr>
      </p:pic>
      <p:sp>
        <p:nvSpPr>
          <p:cNvPr id="13" name="PlaceHolder 1"/>
          <p:cNvSpPr>
            <a:spLocks noGrp="1"/>
          </p:cNvSpPr>
          <p:nvPr>
            <p:ph type="title"/>
          </p:nvPr>
        </p:nvSpPr>
        <p:spPr>
          <a:xfrm>
            <a:off x="840600" y="4959000"/>
            <a:ext cx="10402200" cy="822960"/>
          </a:xfrm>
          <a:prstGeom prst="rect">
            <a:avLst/>
          </a:prstGeom>
          <a:noFill/>
          <a:ln w="0">
            <a:noFill/>
          </a:ln>
        </p:spPr>
        <p:txBody>
          <a:bodyPr lIns="91440" tIns="45720" rIns="91440" bIns="45720" anchor="ctr">
            <a:normAutofit/>
          </a:bodyPr>
          <a:lstStyle/>
          <a:p>
            <a:pPr indent="0" defTabSz="914400">
              <a:lnSpc>
                <a:spcPct val="90000"/>
              </a:lnSpc>
              <a:buNone/>
            </a:pPr>
            <a:r>
              <a:rPr lang="es-ES" sz="2000" b="0" strike="noStrike" spc="-1">
                <a:solidFill>
                  <a:schemeClr val="dk1"/>
                </a:solidFill>
                <a:latin typeface="Neue Haas Grotesk Text Pro"/>
              </a:rPr>
              <a:t>Subtema</a:t>
            </a:r>
            <a:endParaRPr lang="es-MX" sz="2000" b="0" strike="noStrike" spc="-1">
              <a:solidFill>
                <a:schemeClr val="dk1"/>
              </a:solidFill>
              <a:latin typeface="Calibri"/>
            </a:endParaRPr>
          </a:p>
        </p:txBody>
      </p:sp>
      <p:sp>
        <p:nvSpPr>
          <p:cNvPr id="14" name="PlaceHolder 2"/>
          <p:cNvSpPr>
            <a:spLocks noGrp="1"/>
          </p:cNvSpPr>
          <p:nvPr>
            <p:ph type="body"/>
          </p:nvPr>
        </p:nvSpPr>
        <p:spPr>
          <a:xfrm>
            <a:off x="839880" y="1301760"/>
            <a:ext cx="10402560" cy="3404520"/>
          </a:xfrm>
          <a:prstGeom prst="rect">
            <a:avLst/>
          </a:prstGeom>
          <a:noFill/>
          <a:ln w="0">
            <a:noFill/>
          </a:ln>
        </p:spPr>
        <p:txBody>
          <a:bodyPr lIns="91440" tIns="45720" rIns="91440" bIns="45720" anchor="b">
            <a:normAutofit/>
          </a:bodyPr>
          <a:lstStyle/>
          <a:p>
            <a:pPr indent="0" defTabSz="914400">
              <a:lnSpc>
                <a:spcPct val="90000"/>
              </a:lnSpc>
              <a:spcBef>
                <a:spcPts val="1001"/>
              </a:spcBef>
              <a:buNone/>
              <a:tabLst>
                <a:tab pos="0" algn="l"/>
              </a:tabLst>
            </a:pPr>
            <a:r>
              <a:rPr lang="es-ES" sz="6600" b="1" strike="noStrike" spc="-1">
                <a:solidFill>
                  <a:schemeClr val="dk1"/>
                </a:solidFill>
                <a:latin typeface="Neue Haas Grotesk Text Pro"/>
              </a:rPr>
              <a:t>Nombre del capítulo</a:t>
            </a:r>
            <a:endParaRPr lang="es-MX" sz="6600" b="0" strike="noStrike" spc="-1">
              <a:solidFill>
                <a:schemeClr val="dk1"/>
              </a:solidFill>
              <a:latin typeface="Calibri"/>
            </a:endParaRPr>
          </a:p>
        </p:txBody>
      </p:sp>
      <p:pic>
        <p:nvPicPr>
          <p:cNvPr id="15"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Imagen 6"/>
          <p:cNvPicPr/>
          <p:nvPr/>
        </p:nvPicPr>
        <p:blipFill>
          <a:blip r:embed="rId3"/>
          <a:stretch/>
        </p:blipFill>
        <p:spPr>
          <a:xfrm>
            <a:off x="0" y="0"/>
            <a:ext cx="12191760" cy="6857640"/>
          </a:xfrm>
          <a:prstGeom prst="rect">
            <a:avLst/>
          </a:prstGeom>
          <a:ln w="0">
            <a:noFill/>
          </a:ln>
        </p:spPr>
      </p:pic>
      <p:sp>
        <p:nvSpPr>
          <p:cNvPr id="17"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pic>
        <p:nvPicPr>
          <p:cNvPr id="18" name="Imagen 1" descr="Logotipo&#10;&#10;Descripción generada automáticamente"/>
          <p:cNvPicPr/>
          <p:nvPr/>
        </p:nvPicPr>
        <p:blipFill>
          <a:blip r:embed="rId4"/>
          <a:stretch/>
        </p:blipFill>
        <p:spPr>
          <a:xfrm>
            <a:off x="0" y="6075720"/>
            <a:ext cx="2051640" cy="811800"/>
          </a:xfrm>
          <a:prstGeom prst="rect">
            <a:avLst/>
          </a:prstGeom>
          <a:ln w="0">
            <a:noFill/>
          </a:ln>
        </p:spPr>
      </p:pic>
      <p:sp>
        <p:nvSpPr>
          <p:cNvPr id="19" name="PlaceHolder 2"/>
          <p:cNvSpPr>
            <a:spLocks noGrp="1"/>
          </p:cNvSpPr>
          <p:nvPr>
            <p:ph type="body"/>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Haga clic para modificar los estilos de texto del patrón</a:t>
            </a:r>
            <a:endParaRPr lang="es-MX" sz="2200" b="0" strike="noStrike" spc="-1">
              <a:solidFill>
                <a:schemeClr val="dk1"/>
              </a:solidFill>
              <a:latin typeface="Calibri"/>
            </a:endParaRPr>
          </a:p>
          <a:p>
            <a:pPr marL="685800" lvl="1" indent="-228600" algn="just" defTabSz="914400">
              <a:lnSpc>
                <a:spcPct val="100000"/>
              </a:lnSpc>
              <a:spcBef>
                <a:spcPts val="1001"/>
              </a:spcBef>
              <a:buClr>
                <a:srgbClr val="000000"/>
              </a:buClr>
              <a:buFont typeface="Arial"/>
              <a:buChar char="•"/>
            </a:pPr>
            <a:r>
              <a:rPr lang="es-ES" sz="2000" b="0" strike="noStrike" spc="-1">
                <a:solidFill>
                  <a:schemeClr val="dk1"/>
                </a:solidFill>
                <a:latin typeface="Neue Haas Grotesk Text Pro"/>
              </a:rPr>
              <a:t>Segundo nivel</a:t>
            </a:r>
            <a:endParaRPr lang="es-MX" sz="2000" b="0" strike="noStrike" spc="-1">
              <a:solidFill>
                <a:schemeClr val="dk1"/>
              </a:solidFill>
              <a:latin typeface="Calibri"/>
            </a:endParaRPr>
          </a:p>
          <a:p>
            <a:pPr marL="1143000" lvl="2" indent="-228600" algn="just" defTabSz="914400">
              <a:lnSpc>
                <a:spcPct val="100000"/>
              </a:lnSpc>
              <a:spcBef>
                <a:spcPts val="1001"/>
              </a:spcBef>
              <a:buClr>
                <a:srgbClr val="000000"/>
              </a:buClr>
              <a:buFont typeface="Arial"/>
              <a:buChar char="•"/>
            </a:pPr>
            <a:r>
              <a:rPr lang="es-ES" sz="1800" b="0" strike="noStrike" spc="-1">
                <a:solidFill>
                  <a:schemeClr val="dk1"/>
                </a:solidFill>
                <a:latin typeface="Neue Haas Grotesk Text Pro"/>
              </a:rPr>
              <a:t>Tercer nivel</a:t>
            </a:r>
            <a:endParaRPr lang="es-MX" sz="1800" b="0" strike="noStrike" spc="-1">
              <a:solidFill>
                <a:schemeClr val="dk1"/>
              </a:solidFill>
              <a:latin typeface="Calibri"/>
            </a:endParaRPr>
          </a:p>
          <a:p>
            <a:pPr marL="1600200" lvl="3" indent="-228600" algn="just" defTabSz="914400">
              <a:lnSpc>
                <a:spcPct val="100000"/>
              </a:lnSpc>
              <a:spcBef>
                <a:spcPts val="1001"/>
              </a:spcBef>
              <a:buClr>
                <a:srgbClr val="000000"/>
              </a:buClr>
              <a:buFont typeface="Arial"/>
              <a:buChar char="•"/>
            </a:pPr>
            <a:r>
              <a:rPr lang="es-ES" sz="1600" b="0" strike="noStrike" spc="-1">
                <a:solidFill>
                  <a:schemeClr val="dk1"/>
                </a:solidFill>
                <a:latin typeface="Neue Haas Grotesk Text Pro"/>
              </a:rPr>
              <a:t>Cuarto nivel</a:t>
            </a:r>
            <a:endParaRPr lang="es-MX" sz="1600" b="0" strike="noStrike" spc="-1">
              <a:solidFill>
                <a:schemeClr val="dk1"/>
              </a:solidFill>
              <a:latin typeface="Calibri"/>
            </a:endParaRPr>
          </a:p>
          <a:p>
            <a:pPr marL="2057400" lvl="4" indent="-228600" algn="just" defTabSz="914400">
              <a:lnSpc>
                <a:spcPct val="100000"/>
              </a:lnSpc>
              <a:spcBef>
                <a:spcPts val="1001"/>
              </a:spcBef>
              <a:buClr>
                <a:srgbClr val="000000"/>
              </a:buClr>
              <a:buFont typeface="Arial"/>
              <a:buChar char="•"/>
            </a:pPr>
            <a:r>
              <a:rPr lang="es-ES" sz="1600" b="0" strike="noStrike" spc="-1">
                <a:solidFill>
                  <a:schemeClr val="dk1"/>
                </a:solidFill>
                <a:latin typeface="Neue Haas Grotesk Text Pro"/>
              </a:rPr>
              <a:t>Quinto nivel</a:t>
            </a:r>
            <a:endParaRPr lang="es-MX" sz="1600" b="0" strike="noStrike" spc="-1">
              <a:solidFill>
                <a:schemeClr val="dk1"/>
              </a:solidFill>
              <a:latin typeface="Calibri"/>
            </a:endParaRPr>
          </a:p>
        </p:txBody>
      </p:sp>
      <p:sp>
        <p:nvSpPr>
          <p:cNvPr id="20"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Imagen 6"/>
          <p:cNvPicPr/>
          <p:nvPr/>
        </p:nvPicPr>
        <p:blipFill>
          <a:blip r:embed="rId3"/>
          <a:stretch/>
        </p:blipFill>
        <p:spPr>
          <a:xfrm>
            <a:off x="0" y="0"/>
            <a:ext cx="12191760" cy="6857640"/>
          </a:xfrm>
          <a:prstGeom prst="rect">
            <a:avLst/>
          </a:prstGeom>
          <a:ln w="0">
            <a:noFill/>
          </a:ln>
        </p:spPr>
      </p:pic>
      <p:sp>
        <p:nvSpPr>
          <p:cNvPr id="22"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sp>
        <p:nvSpPr>
          <p:cNvPr id="23" name="PlaceHolder 2"/>
          <p:cNvSpPr>
            <a:spLocks noGrp="1"/>
          </p:cNvSpPr>
          <p:nvPr>
            <p:ph type="body"/>
          </p:nvPr>
        </p:nvSpPr>
        <p:spPr>
          <a:xfrm>
            <a:off x="664920" y="1336680"/>
            <a:ext cx="5430600" cy="378000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s-ES" sz="2200" b="0" strike="noStrike" spc="-1">
                <a:solidFill>
                  <a:schemeClr val="dk1"/>
                </a:solidFill>
                <a:latin typeface="Neue Haas Grotesk Text Pro"/>
              </a:rPr>
              <a:t>Añade alguna imagen. </a:t>
            </a:r>
            <a:endParaRPr lang="es-MX" sz="2200" b="0" strike="noStrike" spc="-1">
              <a:solidFill>
                <a:schemeClr val="dk1"/>
              </a:solidFill>
              <a:latin typeface="Calibri"/>
            </a:endParaRPr>
          </a:p>
        </p:txBody>
      </p:sp>
      <p:sp>
        <p:nvSpPr>
          <p:cNvPr id="24" name="PlaceHolder 3"/>
          <p:cNvSpPr>
            <a:spLocks noGrp="1"/>
          </p:cNvSpPr>
          <p:nvPr>
            <p:ph type="body"/>
          </p:nvPr>
        </p:nvSpPr>
        <p:spPr>
          <a:xfrm>
            <a:off x="665280" y="5283360"/>
            <a:ext cx="5430600" cy="75060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s-ES" sz="1800" b="0" strike="noStrike" spc="-1">
                <a:solidFill>
                  <a:schemeClr val="dk1"/>
                </a:solidFill>
                <a:latin typeface="Neue Haas Grotesk Text Pro"/>
              </a:rPr>
              <a:t>Descripción de la imagen.</a:t>
            </a:r>
            <a:endParaRPr lang="es-MX" sz="1800" b="0" strike="noStrike" spc="-1">
              <a:solidFill>
                <a:schemeClr val="dk1"/>
              </a:solidFill>
              <a:latin typeface="Calibri"/>
            </a:endParaRPr>
          </a:p>
        </p:txBody>
      </p:sp>
      <p:sp>
        <p:nvSpPr>
          <p:cNvPr id="25" name="PlaceHolder 4"/>
          <p:cNvSpPr>
            <a:spLocks noGrp="1"/>
          </p:cNvSpPr>
          <p:nvPr>
            <p:ph type="body"/>
          </p:nvPr>
        </p:nvSpPr>
        <p:spPr>
          <a:xfrm>
            <a:off x="6174360" y="1336680"/>
            <a:ext cx="5430600" cy="4696920"/>
          </a:xfrm>
          <a:prstGeom prst="rect">
            <a:avLst/>
          </a:prstGeom>
          <a:noFill/>
          <a:ln w="0">
            <a:noFill/>
          </a:ln>
        </p:spPr>
        <p:txBody>
          <a:bodyPr lIns="91440" tIns="45720" rIns="91440" bIns="45720" anchor="t">
            <a:normAutofit/>
          </a:bodyPr>
          <a:lstStyle/>
          <a:p>
            <a:pPr marL="343080" indent="-343080" defTabSz="914400">
              <a:lnSpc>
                <a:spcPct val="90000"/>
              </a:lnSpc>
              <a:spcBef>
                <a:spcPts val="1001"/>
              </a:spcBef>
              <a:buClr>
                <a:srgbClr val="000000"/>
              </a:buClr>
              <a:buFont typeface="Arial"/>
              <a:buChar char="•"/>
            </a:pPr>
            <a:r>
              <a:rPr lang="es-ES" sz="2200" b="0" strike="noStrike" spc="-1">
                <a:solidFill>
                  <a:schemeClr val="dk1"/>
                </a:solidFill>
                <a:latin typeface="Neue Haas Grotesk Text Pro"/>
              </a:rPr>
              <a:t>Desarrollo del contenido. </a:t>
            </a:r>
            <a:endParaRPr lang="es-MX" sz="2200" b="0" strike="noStrike" spc="-1">
              <a:solidFill>
                <a:schemeClr val="dk1"/>
              </a:solidFill>
              <a:latin typeface="Calibri"/>
            </a:endParaRPr>
          </a:p>
        </p:txBody>
      </p:sp>
      <p:pic>
        <p:nvPicPr>
          <p:cNvPr id="26"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Imagen 6"/>
          <p:cNvPicPr/>
          <p:nvPr/>
        </p:nvPicPr>
        <p:blipFill>
          <a:blip r:embed="rId3"/>
          <a:stretch/>
        </p:blipFill>
        <p:spPr>
          <a:xfrm>
            <a:off x="0" y="0"/>
            <a:ext cx="12191760" cy="6857640"/>
          </a:xfrm>
          <a:prstGeom prst="rect">
            <a:avLst/>
          </a:prstGeom>
          <a:ln w="0">
            <a:noFill/>
          </a:ln>
        </p:spPr>
      </p:pic>
      <p:sp>
        <p:nvSpPr>
          <p:cNvPr id="28"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sp>
        <p:nvSpPr>
          <p:cNvPr id="29" name="PlaceHolder 2"/>
          <p:cNvSpPr>
            <a:spLocks noGrp="1"/>
          </p:cNvSpPr>
          <p:nvPr>
            <p:ph type="body"/>
          </p:nvPr>
        </p:nvSpPr>
        <p:spPr>
          <a:xfrm>
            <a:off x="664920" y="1336680"/>
            <a:ext cx="5430600" cy="4696920"/>
          </a:xfrm>
          <a:prstGeom prst="rect">
            <a:avLst/>
          </a:prstGeom>
          <a:noFill/>
          <a:ln w="0">
            <a:noFill/>
          </a:ln>
        </p:spPr>
        <p:txBody>
          <a:bodyPr lIns="91440" tIns="45720" rIns="91440" bIns="45720" anchor="t">
            <a:normAutofit/>
          </a:bodyPr>
          <a:lstStyle/>
          <a:p>
            <a:pPr marL="343080" indent="-343080" defTabSz="914400">
              <a:lnSpc>
                <a:spcPct val="90000"/>
              </a:lnSpc>
              <a:spcBef>
                <a:spcPts val="1001"/>
              </a:spcBef>
              <a:buClr>
                <a:srgbClr val="000000"/>
              </a:buClr>
              <a:buFont typeface="Arial"/>
              <a:buChar char="•"/>
            </a:pPr>
            <a:r>
              <a:rPr lang="es-ES" sz="2200" b="0" strike="noStrike" spc="-1">
                <a:solidFill>
                  <a:schemeClr val="dk1"/>
                </a:solidFill>
                <a:latin typeface="Neue Haas Grotesk Text Pro"/>
              </a:rPr>
              <a:t>Elemento 1.</a:t>
            </a:r>
            <a:endParaRPr lang="es-MX" sz="2200" b="0" strike="noStrike" spc="-1">
              <a:solidFill>
                <a:schemeClr val="dk1"/>
              </a:solidFill>
              <a:latin typeface="Calibri"/>
            </a:endParaRPr>
          </a:p>
        </p:txBody>
      </p:sp>
      <p:sp>
        <p:nvSpPr>
          <p:cNvPr id="30" name="PlaceHolder 3"/>
          <p:cNvSpPr>
            <a:spLocks noGrp="1"/>
          </p:cNvSpPr>
          <p:nvPr>
            <p:ph type="body"/>
          </p:nvPr>
        </p:nvSpPr>
        <p:spPr>
          <a:xfrm>
            <a:off x="6174360" y="1336680"/>
            <a:ext cx="5430600" cy="4696920"/>
          </a:xfrm>
          <a:prstGeom prst="rect">
            <a:avLst/>
          </a:prstGeom>
          <a:noFill/>
          <a:ln w="0">
            <a:noFill/>
          </a:ln>
        </p:spPr>
        <p:txBody>
          <a:bodyPr lIns="91440" tIns="45720" rIns="91440" bIns="45720" anchor="t">
            <a:normAutofit/>
          </a:bodyPr>
          <a:lstStyle/>
          <a:p>
            <a:pPr marL="343080" indent="-343080" defTabSz="914400">
              <a:lnSpc>
                <a:spcPct val="90000"/>
              </a:lnSpc>
              <a:spcBef>
                <a:spcPts val="1001"/>
              </a:spcBef>
              <a:buClr>
                <a:srgbClr val="000000"/>
              </a:buClr>
              <a:buFont typeface="Arial"/>
              <a:buChar char="•"/>
            </a:pPr>
            <a:r>
              <a:rPr lang="es-ES" sz="2200" b="0" strike="noStrike" spc="-1">
                <a:solidFill>
                  <a:schemeClr val="dk1"/>
                </a:solidFill>
                <a:latin typeface="Neue Haas Grotesk Text Pro"/>
              </a:rPr>
              <a:t>Elemento 2. </a:t>
            </a:r>
            <a:endParaRPr lang="es-MX" sz="2200" b="0" strike="noStrike" spc="-1">
              <a:solidFill>
                <a:schemeClr val="dk1"/>
              </a:solidFill>
              <a:latin typeface="Calibri"/>
            </a:endParaRPr>
          </a:p>
        </p:txBody>
      </p:sp>
      <p:pic>
        <p:nvPicPr>
          <p:cNvPr id="31" name="Imagen 1" descr="Logotipo&#10;&#10;Descripción generada automáticamente"/>
          <p:cNvPicPr/>
          <p:nvPr/>
        </p:nvPicPr>
        <p:blipFill>
          <a:blip r:embed="rId4"/>
          <a:stretch/>
        </p:blipFill>
        <p:spPr>
          <a:xfrm>
            <a:off x="0" y="6075720"/>
            <a:ext cx="2051640" cy="811800"/>
          </a:xfrm>
          <a:prstGeom prst="rect">
            <a:avLst/>
          </a:prstGeom>
          <a:ln w="0">
            <a:noFill/>
          </a:ln>
        </p:spPr>
      </p:pic>
      <p:sp>
        <p:nvSpPr>
          <p:cNvPr id="3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 name="Imagen 6"/>
          <p:cNvPicPr/>
          <p:nvPr/>
        </p:nvPicPr>
        <p:blipFill>
          <a:blip r:embed="rId3"/>
          <a:stretch/>
        </p:blipFill>
        <p:spPr>
          <a:xfrm>
            <a:off x="0" y="0"/>
            <a:ext cx="12191760" cy="6857640"/>
          </a:xfrm>
          <a:prstGeom prst="rect">
            <a:avLst/>
          </a:prstGeom>
          <a:ln w="0">
            <a:noFill/>
          </a:ln>
        </p:spPr>
      </p:pic>
      <p:sp>
        <p:nvSpPr>
          <p:cNvPr id="34" name="PlaceHolder 1"/>
          <p:cNvSpPr>
            <a:spLocks noGrp="1"/>
          </p:cNvSpPr>
          <p:nvPr>
            <p:ph type="title"/>
          </p:nvPr>
        </p:nvSpPr>
        <p:spPr>
          <a:xfrm>
            <a:off x="739080" y="743760"/>
            <a:ext cx="4128120" cy="1325160"/>
          </a:xfrm>
          <a:prstGeom prst="rect">
            <a:avLst/>
          </a:prstGeom>
          <a:noFill/>
          <a:ln w="0">
            <a:noFill/>
          </a:ln>
        </p:spPr>
        <p:txBody>
          <a:bodyPr lIns="91440" tIns="45720" rIns="91440" bIns="45720" anchor="ctr">
            <a:noAutofit/>
          </a:bodyPr>
          <a:lstStyle/>
          <a:p>
            <a:pPr indent="0" algn="ctr" defTabSz="914400">
              <a:lnSpc>
                <a:spcPct val="90000"/>
              </a:lnSpc>
              <a:buNone/>
            </a:pPr>
            <a:r>
              <a:rPr lang="es-ES" sz="3200" b="1" strike="noStrike" spc="-1">
                <a:solidFill>
                  <a:schemeClr val="dk1"/>
                </a:solidFill>
                <a:latin typeface="Neue Haas Grotesk Text Pro"/>
              </a:rPr>
              <a:t>Título</a:t>
            </a:r>
            <a:endParaRPr lang="es-MX" sz="3200" b="0" strike="noStrike" spc="-1">
              <a:solidFill>
                <a:schemeClr val="dk1"/>
              </a:solidFill>
              <a:latin typeface="Calibri"/>
            </a:endParaRPr>
          </a:p>
        </p:txBody>
      </p:sp>
      <p:sp>
        <p:nvSpPr>
          <p:cNvPr id="35" name="PlaceHolder 2"/>
          <p:cNvSpPr>
            <a:spLocks noGrp="1"/>
          </p:cNvSpPr>
          <p:nvPr>
            <p:ph type="body"/>
          </p:nvPr>
        </p:nvSpPr>
        <p:spPr>
          <a:xfrm>
            <a:off x="5089320" y="744480"/>
            <a:ext cx="6364080" cy="1325160"/>
          </a:xfrm>
          <a:prstGeom prst="rect">
            <a:avLst/>
          </a:prstGeom>
          <a:noFill/>
          <a:ln w="0">
            <a:noFill/>
          </a:ln>
        </p:spPr>
        <p:txBody>
          <a:bodyPr lIns="91440" tIns="45720" rIns="91440" bIns="45720" anchor="ctr">
            <a:normAutofit/>
          </a:bodyPr>
          <a:lstStyle/>
          <a:p>
            <a:pPr marL="228600" indent="-228600" defTabSz="914400">
              <a:lnSpc>
                <a:spcPct val="90000"/>
              </a:lnSpc>
              <a:spcBef>
                <a:spcPts val="1001"/>
              </a:spcBef>
              <a:buClr>
                <a:srgbClr val="000000"/>
              </a:buClr>
              <a:buFont typeface="Arial"/>
              <a:buChar char="•"/>
            </a:pPr>
            <a:r>
              <a:rPr lang="es-ES" sz="2000" b="0" strike="noStrike" spc="-1">
                <a:solidFill>
                  <a:schemeClr val="dk1"/>
                </a:solidFill>
                <a:latin typeface="Neue Haas Grotesk Text Pro"/>
              </a:rPr>
              <a:t>Desarrollo del contenido.</a:t>
            </a:r>
            <a:endParaRPr lang="es-MX" sz="2000" b="0" strike="noStrike" spc="-1">
              <a:solidFill>
                <a:schemeClr val="dk1"/>
              </a:solidFill>
              <a:latin typeface="Calibri"/>
            </a:endParaRPr>
          </a:p>
        </p:txBody>
      </p:sp>
      <p:sp>
        <p:nvSpPr>
          <p:cNvPr id="36" name="PlaceHolder 3"/>
          <p:cNvSpPr>
            <a:spLocks noGrp="1"/>
          </p:cNvSpPr>
          <p:nvPr>
            <p:ph type="body"/>
          </p:nvPr>
        </p:nvSpPr>
        <p:spPr>
          <a:xfrm>
            <a:off x="738360" y="2586240"/>
            <a:ext cx="10715400" cy="381420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s-MX" sz="1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MX" sz="18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MX"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MX"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MX" sz="18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MX" sz="18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MX" sz="1800" b="0" strike="noStrike" spc="-1">
                <a:solidFill>
                  <a:schemeClr val="dk1"/>
                </a:solidFill>
                <a:latin typeface="Calibri"/>
              </a:rPr>
              <a:t>Seventh Outline Level</a:t>
            </a:r>
          </a:p>
        </p:txBody>
      </p:sp>
      <p:pic>
        <p:nvPicPr>
          <p:cNvPr id="37"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 name="Imagen 6"/>
          <p:cNvPicPr/>
          <p:nvPr/>
        </p:nvPicPr>
        <p:blipFill>
          <a:blip r:embed="rId3"/>
          <a:stretch/>
        </p:blipFill>
        <p:spPr>
          <a:xfrm>
            <a:off x="0" y="0"/>
            <a:ext cx="12191760" cy="6857640"/>
          </a:xfrm>
          <a:prstGeom prst="rect">
            <a:avLst/>
          </a:prstGeom>
          <a:ln w="0">
            <a:noFill/>
          </a:ln>
        </p:spPr>
      </p:pic>
      <p:sp>
        <p:nvSpPr>
          <p:cNvPr id="39" name="PlaceHolder 1"/>
          <p:cNvSpPr>
            <a:spLocks noGrp="1"/>
          </p:cNvSpPr>
          <p:nvPr>
            <p:ph type="title"/>
          </p:nvPr>
        </p:nvSpPr>
        <p:spPr>
          <a:xfrm>
            <a:off x="1911960" y="226440"/>
            <a:ext cx="8377200" cy="1325160"/>
          </a:xfrm>
          <a:prstGeom prst="rect">
            <a:avLst/>
          </a:prstGeom>
          <a:noFill/>
          <a:ln w="0">
            <a:noFill/>
          </a:ln>
        </p:spPr>
        <p:txBody>
          <a:bodyPr lIns="91440" tIns="45720" rIns="91440" bIns="45720" anchor="ctr">
            <a:noAutofit/>
          </a:bodyPr>
          <a:lstStyle/>
          <a:p>
            <a:pPr indent="0" algn="ctr" defTabSz="914400">
              <a:lnSpc>
                <a:spcPct val="90000"/>
              </a:lnSpc>
              <a:buNone/>
            </a:pPr>
            <a:r>
              <a:rPr lang="es-ES" sz="4000" b="1" strike="noStrike" spc="-1">
                <a:solidFill>
                  <a:schemeClr val="dk1"/>
                </a:solidFill>
                <a:latin typeface="Neue Haas Grotesk Text Pro"/>
              </a:rPr>
              <a:t>Título</a:t>
            </a:r>
            <a:endParaRPr lang="es-MX" sz="4000" b="0" strike="noStrike" spc="-1">
              <a:solidFill>
                <a:schemeClr val="dk1"/>
              </a:solidFill>
              <a:latin typeface="Calibri"/>
            </a:endParaRPr>
          </a:p>
        </p:txBody>
      </p:sp>
      <p:sp>
        <p:nvSpPr>
          <p:cNvPr id="40" name="PlaceHolder 2"/>
          <p:cNvSpPr>
            <a:spLocks noGrp="1"/>
          </p:cNvSpPr>
          <p:nvPr>
            <p:ph type="body"/>
          </p:nvPr>
        </p:nvSpPr>
        <p:spPr>
          <a:xfrm>
            <a:off x="360360" y="1974600"/>
            <a:ext cx="11471040" cy="4460760"/>
          </a:xfrm>
          <a:prstGeom prst="rect">
            <a:avLst/>
          </a:prstGeom>
          <a:noFill/>
          <a:ln w="0">
            <a:noFill/>
          </a:ln>
        </p:spPr>
        <p:txBody>
          <a:bodyPr lIns="91440" tIns="45720" rIns="91440" bIns="45720" anchor="t">
            <a:normAutofit/>
          </a:bodyPr>
          <a:lstStyle/>
          <a:p>
            <a:pPr marL="432000" indent="-324000">
              <a:lnSpc>
                <a:spcPct val="90000"/>
              </a:lnSpc>
              <a:spcBef>
                <a:spcPts val="1417"/>
              </a:spcBef>
              <a:buClr>
                <a:srgbClr val="000000"/>
              </a:buClr>
              <a:buSzPct val="45000"/>
              <a:buFont typeface="Wingdings" charset="2"/>
              <a:buChar char=""/>
            </a:pPr>
            <a:r>
              <a:rPr lang="es-MX" sz="22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MX" sz="22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MX" sz="22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MX" sz="22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MX" sz="22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MX" sz="22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MX" sz="2200" b="0" strike="noStrike" spc="-1">
                <a:solidFill>
                  <a:schemeClr val="dk1"/>
                </a:solidFill>
                <a:latin typeface="Calibri"/>
              </a:rPr>
              <a:t>Seventh Outline Level</a:t>
            </a:r>
          </a:p>
        </p:txBody>
      </p:sp>
      <p:pic>
        <p:nvPicPr>
          <p:cNvPr id="41" name="Imagen 2"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Imagen 6"/>
          <p:cNvPicPr/>
          <p:nvPr/>
        </p:nvPicPr>
        <p:blipFill>
          <a:blip r:embed="rId3"/>
          <a:stretch/>
        </p:blipFill>
        <p:spPr>
          <a:xfrm>
            <a:off x="0" y="0"/>
            <a:ext cx="12191760" cy="6857640"/>
          </a:xfrm>
          <a:prstGeom prst="rect">
            <a:avLst/>
          </a:prstGeom>
          <a:ln w="0">
            <a:noFill/>
          </a:ln>
        </p:spPr>
      </p:pic>
      <p:sp>
        <p:nvSpPr>
          <p:cNvPr id="43" name="PlaceHolder 1"/>
          <p:cNvSpPr>
            <a:spLocks noGrp="1"/>
          </p:cNvSpPr>
          <p:nvPr>
            <p:ph type="title"/>
          </p:nvPr>
        </p:nvSpPr>
        <p:spPr>
          <a:xfrm>
            <a:off x="385560" y="937800"/>
            <a:ext cx="3410280" cy="1325160"/>
          </a:xfrm>
          <a:prstGeom prst="rect">
            <a:avLst/>
          </a:prstGeom>
          <a:noFill/>
          <a:ln w="0">
            <a:noFill/>
          </a:ln>
        </p:spPr>
        <p:txBody>
          <a:bodyPr lIns="91440" tIns="45720" rIns="91440" bIns="45720" anchor="b">
            <a:normAutofit/>
          </a:bodyPr>
          <a:lstStyle/>
          <a:p>
            <a:pPr indent="0" algn="ctr" defTabSz="914400">
              <a:lnSpc>
                <a:spcPct val="90000"/>
              </a:lnSpc>
              <a:buNone/>
            </a:pPr>
            <a:r>
              <a:rPr lang="es-ES" sz="2800" b="1" strike="noStrike" spc="-1">
                <a:solidFill>
                  <a:schemeClr val="dk1"/>
                </a:solidFill>
                <a:latin typeface="Neue Haas Grotesk Text Pro"/>
              </a:rPr>
              <a:t>Título</a:t>
            </a:r>
            <a:endParaRPr lang="es-MX" sz="2800" b="0" strike="noStrike" spc="-1">
              <a:solidFill>
                <a:schemeClr val="dk1"/>
              </a:solidFill>
              <a:latin typeface="Calibri"/>
            </a:endParaRPr>
          </a:p>
        </p:txBody>
      </p:sp>
      <p:sp>
        <p:nvSpPr>
          <p:cNvPr id="44" name="PlaceHolder 2"/>
          <p:cNvSpPr>
            <a:spLocks noGrp="1"/>
          </p:cNvSpPr>
          <p:nvPr>
            <p:ph type="body"/>
          </p:nvPr>
        </p:nvSpPr>
        <p:spPr>
          <a:xfrm>
            <a:off x="385200" y="2641680"/>
            <a:ext cx="3410280" cy="31125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s-ES" sz="1800" b="0" strike="noStrike" spc="-1">
                <a:solidFill>
                  <a:schemeClr val="dk1"/>
                </a:solidFill>
                <a:latin typeface="Neue Haas Grotesk Text Pro"/>
              </a:rPr>
              <a:t>Descripción.</a:t>
            </a:r>
            <a:endParaRPr lang="es-MX" sz="1800" b="0" strike="noStrike" spc="-1">
              <a:solidFill>
                <a:schemeClr val="dk1"/>
              </a:solidFill>
              <a:latin typeface="Calibri"/>
            </a:endParaRPr>
          </a:p>
        </p:txBody>
      </p:sp>
      <p:sp>
        <p:nvSpPr>
          <p:cNvPr id="45" name="PlaceHolder 3"/>
          <p:cNvSpPr>
            <a:spLocks noGrp="1"/>
          </p:cNvSpPr>
          <p:nvPr>
            <p:ph type="body"/>
          </p:nvPr>
        </p:nvSpPr>
        <p:spPr>
          <a:xfrm>
            <a:off x="4701240" y="512640"/>
            <a:ext cx="7104600" cy="5832000"/>
          </a:xfrm>
          <a:prstGeom prst="rect">
            <a:avLst/>
          </a:prstGeom>
          <a:noFill/>
          <a:ln w="0">
            <a:noFill/>
          </a:ln>
        </p:spPr>
        <p:txBody>
          <a:bodyPr lIns="90000" tIns="45000" rIns="90000" bIns="45000" anchor="t">
            <a:normAutofit/>
          </a:bodyPr>
          <a:lstStyle/>
          <a:p>
            <a:pPr marL="432000" indent="-324000">
              <a:lnSpc>
                <a:spcPct val="90000"/>
              </a:lnSpc>
              <a:spcBef>
                <a:spcPts val="1417"/>
              </a:spcBef>
              <a:buClr>
                <a:srgbClr val="000000"/>
              </a:buClr>
              <a:buSzPct val="45000"/>
              <a:buFont typeface="Wingdings" charset="2"/>
              <a:buChar char=""/>
            </a:pPr>
            <a:r>
              <a:rPr lang="es-MX" sz="1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MX" sz="18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MX"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MX"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MX" sz="18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MX" sz="18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MX" sz="1800" b="0" strike="noStrike" spc="-1">
                <a:solidFill>
                  <a:schemeClr val="dk1"/>
                </a:solidFill>
                <a:latin typeface="Calibri"/>
              </a:rPr>
              <a:t>Seventh Outline Level</a:t>
            </a:r>
          </a:p>
        </p:txBody>
      </p:sp>
      <p:pic>
        <p:nvPicPr>
          <p:cNvPr id="46"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body"/>
          </p:nvPr>
        </p:nvSpPr>
        <p:spPr>
          <a:xfrm>
            <a:off x="419760" y="406080"/>
            <a:ext cx="11351880" cy="5708160"/>
          </a:xfrm>
          <a:prstGeom prst="rect">
            <a:avLst/>
          </a:prstGeom>
          <a:noFill/>
          <a:ln w="0">
            <a:noFill/>
          </a:ln>
        </p:spPr>
        <p:txBody>
          <a:bodyPr lIns="91440" tIns="45720" rIns="91440" bIns="45720" anchor="ctr">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Neue Haas Grotesk Text Pro"/>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Neue Haas Grotesk Text Pro"/>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Neue Haas Grotesk Text Pro"/>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Neue Haas Grotesk Text Pro"/>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Neue Haas Grotesk Text Pro"/>
              </a:rPr>
              <a:t>Quinto nivel</a:t>
            </a:r>
            <a:endParaRPr lang="es-MX" sz="1800" b="0" strike="noStrike" spc="-1">
              <a:solidFill>
                <a:schemeClr val="dk1"/>
              </a:solidFill>
              <a:latin typeface="Calibri"/>
            </a:endParaRPr>
          </a:p>
        </p:txBody>
      </p:sp>
      <p:pic>
        <p:nvPicPr>
          <p:cNvPr id="48" name="Imagen 1" descr="Logotipo&#10;&#10;Descripción generada automáticamente"/>
          <p:cNvPicPr/>
          <p:nvPr/>
        </p:nvPicPr>
        <p:blipFill>
          <a:blip r:embed="rId3"/>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9" name="Imagen 6"/>
          <p:cNvPicPr/>
          <p:nvPr/>
        </p:nvPicPr>
        <p:blipFill>
          <a:blip r:embed="rId3"/>
          <a:stretch/>
        </p:blipFill>
        <p:spPr>
          <a:xfrm>
            <a:off x="0" y="0"/>
            <a:ext cx="12191760" cy="6857640"/>
          </a:xfrm>
          <a:prstGeom prst="rect">
            <a:avLst/>
          </a:prstGeom>
          <a:ln w="0">
            <a:noFill/>
          </a:ln>
        </p:spPr>
      </p:pic>
      <p:sp>
        <p:nvSpPr>
          <p:cNvPr id="50"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sp>
        <p:nvSpPr>
          <p:cNvPr id="51" name="PlaceHolder 2"/>
          <p:cNvSpPr>
            <a:spLocks noGrp="1"/>
          </p:cNvSpPr>
          <p:nvPr>
            <p:ph type="body"/>
          </p:nvPr>
        </p:nvSpPr>
        <p:spPr>
          <a:xfrm>
            <a:off x="664920" y="1330200"/>
            <a:ext cx="10935360" cy="4968360"/>
          </a:xfrm>
          <a:prstGeom prst="rect">
            <a:avLst/>
          </a:prstGeom>
          <a:solidFill>
            <a:schemeClr val="lt2">
              <a:lumMod val="25000"/>
            </a:schemeClr>
          </a:solidFill>
          <a:ln w="0">
            <a:noFill/>
          </a:ln>
        </p:spPr>
        <p:txBody>
          <a:bodyPr lIns="91440" tIns="45720" rIns="91440" bIns="45720" anchor="t">
            <a:noAutofit/>
          </a:bodyPr>
          <a:lstStyle/>
          <a:p>
            <a:pPr indent="0" defTabSz="914400">
              <a:lnSpc>
                <a:spcPct val="90000"/>
              </a:lnSpc>
              <a:buNone/>
              <a:tabLst>
                <a:tab pos="0" algn="l"/>
              </a:tabLst>
            </a:pPr>
            <a:r>
              <a:rPr lang="es-ES" sz="1500" b="0" strike="noStrike" spc="-1">
                <a:solidFill>
                  <a:schemeClr val="lt1"/>
                </a:solidFill>
                <a:latin typeface="Consolas"/>
              </a:rPr>
              <a:t>Código a desarrollar.</a:t>
            </a:r>
            <a:endParaRPr lang="es-MX" sz="1500" b="0" strike="noStrike" spc="-1">
              <a:solidFill>
                <a:schemeClr val="dk1"/>
              </a:solidFill>
              <a:latin typeface="Calibri"/>
            </a:endParaRPr>
          </a:p>
          <a:p>
            <a:pPr indent="0" defTabSz="914400">
              <a:lnSpc>
                <a:spcPct val="90000"/>
              </a:lnSpc>
              <a:buNone/>
              <a:tabLst>
                <a:tab pos="0" algn="l"/>
              </a:tabLst>
            </a:pPr>
            <a:endParaRPr lang="es-MX" sz="1500" b="0" strike="noStrike" spc="-1">
              <a:solidFill>
                <a:schemeClr val="dk1"/>
              </a:solidFill>
              <a:latin typeface="Calibri"/>
            </a:endParaRPr>
          </a:p>
        </p:txBody>
      </p:sp>
      <p:pic>
        <p:nvPicPr>
          <p:cNvPr id="52"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 name="Imagen 8"/>
          <p:cNvPicPr/>
          <p:nvPr/>
        </p:nvPicPr>
        <p:blipFill>
          <a:blip r:embed="rId3"/>
          <a:stretch/>
        </p:blipFill>
        <p:spPr>
          <a:xfrm>
            <a:off x="0" y="0"/>
            <a:ext cx="12191760" cy="6857640"/>
          </a:xfrm>
          <a:prstGeom prst="rect">
            <a:avLst/>
          </a:prstGeom>
          <a:ln w="0">
            <a:noFill/>
          </a:ln>
        </p:spPr>
      </p:pic>
      <p:sp>
        <p:nvSpPr>
          <p:cNvPr id="54" name="CuadroTexto 7"/>
          <p:cNvSpPr/>
          <p:nvPr/>
        </p:nvSpPr>
        <p:spPr>
          <a:xfrm>
            <a:off x="5227920" y="2967480"/>
            <a:ext cx="6345000" cy="390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spcBef>
                <a:spcPts val="1001"/>
              </a:spcBef>
              <a:tabLst>
                <a:tab pos="0" algn="l"/>
              </a:tabLst>
            </a:pPr>
            <a:r>
              <a:rPr lang="es-ES" sz="1800" b="0" strike="noStrike" spc="-1">
                <a:solidFill>
                  <a:schemeClr val="dk1"/>
                </a:solidFill>
                <a:latin typeface="Neue Haas Grotesk Text Pro"/>
              </a:rPr>
              <a:t>Material didáctico preparado por la empresa Global K, S.A. de C.V. Registrado en Derechos de Autor.</a:t>
            </a:r>
            <a:endParaRPr lang="en-US" sz="1800" b="0" strike="noStrike" spc="-1">
              <a:solidFill>
                <a:srgbClr val="000000"/>
              </a:solidFill>
              <a:latin typeface="Arial"/>
            </a:endParaRPr>
          </a:p>
          <a:p>
            <a:pPr algn="just" defTabSz="914400">
              <a:lnSpc>
                <a:spcPct val="100000"/>
              </a:lnSpc>
              <a:spcBef>
                <a:spcPts val="1001"/>
              </a:spcBef>
              <a:tabLst>
                <a:tab pos="0" algn="l"/>
              </a:tabLst>
            </a:pPr>
            <a:r>
              <a:rPr lang="es-ES" sz="1800" b="0" strike="noStrike" spc="-1">
                <a:solidFill>
                  <a:schemeClr val="dk1"/>
                </a:solidFill>
                <a:latin typeface="Neue Haas Grotesk Text Pro"/>
              </a:rPr>
              <a:t>Todos los contenidos de este Sitio (incluyendo, pero no limitado a: texto, logotipos, contenido, fotografías, audio, botones, nombres comerciales y videos) están sujetos a derechos de propiedad por las leyes de Derechos de Autor de la empresa Global K, S.A. de C.V.</a:t>
            </a:r>
            <a:endParaRPr lang="en-US" sz="1800" b="0" strike="noStrike" spc="-1">
              <a:solidFill>
                <a:srgbClr val="000000"/>
              </a:solidFill>
              <a:latin typeface="Arial"/>
            </a:endParaRPr>
          </a:p>
          <a:p>
            <a:pPr marL="38160" algn="just" defTabSz="914400">
              <a:lnSpc>
                <a:spcPct val="100000"/>
              </a:lnSpc>
              <a:spcBef>
                <a:spcPts val="1001"/>
              </a:spcBef>
              <a:tabLst>
                <a:tab pos="0" algn="l"/>
              </a:tabLst>
            </a:pPr>
            <a:r>
              <a:rPr lang="es-ES" sz="1800" b="0" strike="noStrike" spc="-1">
                <a:solidFill>
                  <a:schemeClr val="dk1"/>
                </a:solidFill>
                <a:latin typeface="Neue Haas Grotesk Text Pro"/>
              </a:rPr>
              <a:t>Queda prohibido copiar, reproducir, distribuir, publicar, transmitir, difundir, o en cualquier modo explotar cualquier parte de este documento sin la autorización previa por escrito de Global K, S.A. de C.V. o de los titulares correspondientes.</a:t>
            </a:r>
            <a:endParaRPr lang="en-US" sz="1800" b="0" strike="noStrike" spc="-1">
              <a:solidFill>
                <a:srgbClr val="000000"/>
              </a:solidFill>
              <a:latin typeface="Arial"/>
            </a:endParaRPr>
          </a:p>
        </p:txBody>
      </p:sp>
      <p:pic>
        <p:nvPicPr>
          <p:cNvPr id="55" name="Graphic 7" descr="Contract"/>
          <p:cNvPicPr/>
          <p:nvPr/>
        </p:nvPicPr>
        <p:blipFill>
          <a:blip r:embed="rId4">
            <a:extLst>
              <a:ext uri="{96DAC541-7B7A-43D3-8B79-37D633B846F1}">
                <asvg:svgBlip xmlns:asvg="http://schemas.microsoft.com/office/drawing/2016/SVG/main" r:embed="rId5"/>
              </a:ext>
            </a:extLst>
          </a:blip>
          <a:stretch/>
        </p:blipFill>
        <p:spPr>
          <a:xfrm>
            <a:off x="457200" y="1283760"/>
            <a:ext cx="4217040" cy="4217040"/>
          </a:xfrm>
          <a:prstGeom prst="rect">
            <a:avLst/>
          </a:prstGeom>
          <a:ln w="0">
            <a:noFill/>
          </a:ln>
        </p:spPr>
      </p:pic>
      <p:sp>
        <p:nvSpPr>
          <p:cNvPr id="56" name="Título 1"/>
          <p:cNvSpPr/>
          <p:nvPr/>
        </p:nvSpPr>
        <p:spPr>
          <a:xfrm>
            <a:off x="5297040" y="1076400"/>
            <a:ext cx="6272280" cy="153468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90000"/>
              </a:lnSpc>
              <a:tabLst>
                <a:tab pos="0" algn="l"/>
              </a:tabLst>
            </a:pPr>
            <a:r>
              <a:rPr lang="es-MX" sz="5200" b="1" strike="noStrike" spc="-1">
                <a:solidFill>
                  <a:srgbClr val="000000"/>
                </a:solidFill>
                <a:latin typeface="Neue Haas Grotesk Text Pro"/>
              </a:rPr>
              <a:t>Propiedad intelectual</a:t>
            </a:r>
            <a:endParaRPr lang="en-US" sz="5200" b="0" strike="noStrike" spc="-1">
              <a:solidFill>
                <a:srgbClr val="000000"/>
              </a:solidFill>
              <a:latin typeface="Arial"/>
            </a:endParaRPr>
          </a:p>
        </p:txBody>
      </p:sp>
      <p:pic>
        <p:nvPicPr>
          <p:cNvPr id="57" name="Imagen 1" descr="Logotipo&#10;&#10;Descripción generada automáticamente"/>
          <p:cNvPicPr/>
          <p:nvPr/>
        </p:nvPicPr>
        <p:blipFill>
          <a:blip r:embed="rId6"/>
          <a:stretch/>
        </p:blipFill>
        <p:spPr>
          <a:xfrm>
            <a:off x="0" y="6075720"/>
            <a:ext cx="2051640" cy="811800"/>
          </a:xfrm>
          <a:prstGeom prst="rect">
            <a:avLst/>
          </a:prstGeom>
          <a:ln w="0">
            <a:noFill/>
          </a:ln>
        </p:spPr>
      </p:pic>
      <p:sp>
        <p:nvSpPr>
          <p:cNvPr id="5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
        <p:nvSpPr>
          <p:cNvPr id="59"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MX" sz="2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MX" sz="20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MX"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MX"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0" name="Imagen 6"/>
          <p:cNvPicPr/>
          <p:nvPr/>
        </p:nvPicPr>
        <p:blipFill>
          <a:blip r:embed="rId3"/>
          <a:stretch/>
        </p:blipFill>
        <p:spPr>
          <a:xfrm>
            <a:off x="0" y="0"/>
            <a:ext cx="12191760" cy="6857640"/>
          </a:xfrm>
          <a:prstGeom prst="rect">
            <a:avLst/>
          </a:prstGeom>
          <a:ln w="0">
            <a:noFill/>
          </a:ln>
        </p:spPr>
      </p:pic>
      <p:sp>
        <p:nvSpPr>
          <p:cNvPr id="61"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sp>
        <p:nvSpPr>
          <p:cNvPr id="62" name="PlaceHolder 2"/>
          <p:cNvSpPr>
            <a:spLocks noGrp="1"/>
          </p:cNvSpPr>
          <p:nvPr>
            <p:ph type="body"/>
          </p:nvPr>
        </p:nvSpPr>
        <p:spPr>
          <a:xfrm>
            <a:off x="664920" y="1330200"/>
            <a:ext cx="5329080" cy="4968360"/>
          </a:xfrm>
          <a:prstGeom prst="rect">
            <a:avLst/>
          </a:prstGeom>
          <a:solidFill>
            <a:schemeClr val="lt2">
              <a:lumMod val="25000"/>
            </a:schemeClr>
          </a:solidFill>
          <a:ln w="0">
            <a:noFill/>
          </a:ln>
        </p:spPr>
        <p:txBody>
          <a:bodyPr lIns="91440" tIns="45720" rIns="91440" bIns="45720" anchor="t">
            <a:noAutofit/>
          </a:bodyPr>
          <a:lstStyle/>
          <a:p>
            <a:pPr indent="0" defTabSz="914400">
              <a:lnSpc>
                <a:spcPct val="90000"/>
              </a:lnSpc>
              <a:buNone/>
              <a:tabLst>
                <a:tab pos="0" algn="l"/>
              </a:tabLst>
            </a:pPr>
            <a:r>
              <a:rPr lang="es-ES" sz="1500" b="0" strike="noStrike" spc="-1">
                <a:solidFill>
                  <a:schemeClr val="lt1"/>
                </a:solidFill>
                <a:latin typeface="Consolas"/>
              </a:rPr>
              <a:t>Código a desarrollar.</a:t>
            </a:r>
            <a:endParaRPr lang="es-MX" sz="1500" b="0" strike="noStrike" spc="-1">
              <a:solidFill>
                <a:schemeClr val="dk1"/>
              </a:solidFill>
              <a:latin typeface="Calibri"/>
            </a:endParaRPr>
          </a:p>
          <a:p>
            <a:pPr indent="0" defTabSz="914400">
              <a:lnSpc>
                <a:spcPct val="90000"/>
              </a:lnSpc>
              <a:buNone/>
              <a:tabLst>
                <a:tab pos="0" algn="l"/>
              </a:tabLst>
            </a:pPr>
            <a:endParaRPr lang="es-MX" sz="1500" b="0" strike="noStrike" spc="-1">
              <a:solidFill>
                <a:schemeClr val="dk1"/>
              </a:solidFill>
              <a:latin typeface="Calibri"/>
            </a:endParaRPr>
          </a:p>
        </p:txBody>
      </p:sp>
      <p:sp>
        <p:nvSpPr>
          <p:cNvPr id="63" name="PlaceHolder 3"/>
          <p:cNvSpPr>
            <a:spLocks noGrp="1"/>
          </p:cNvSpPr>
          <p:nvPr>
            <p:ph type="body"/>
          </p:nvPr>
        </p:nvSpPr>
        <p:spPr>
          <a:xfrm>
            <a:off x="6197760" y="1330200"/>
            <a:ext cx="5403600" cy="495900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000000"/>
              </a:buClr>
              <a:buFont typeface="Arial"/>
              <a:buChar char="•"/>
            </a:pPr>
            <a:r>
              <a:rPr lang="es-ES" sz="2200" b="0" strike="noStrike" spc="-1">
                <a:solidFill>
                  <a:schemeClr val="dk1"/>
                </a:solidFill>
                <a:latin typeface="Neue Haas Grotesk Text Pro"/>
              </a:rPr>
              <a:t>Explicación del código.</a:t>
            </a:r>
            <a:endParaRPr lang="es-MX" sz="2200" b="0" strike="noStrike" spc="-1">
              <a:solidFill>
                <a:schemeClr val="dk1"/>
              </a:solidFill>
              <a:latin typeface="Calibri"/>
            </a:endParaRPr>
          </a:p>
        </p:txBody>
      </p:sp>
      <p:pic>
        <p:nvPicPr>
          <p:cNvPr id="64"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5" name="Imagen 6"/>
          <p:cNvPicPr/>
          <p:nvPr/>
        </p:nvPicPr>
        <p:blipFill>
          <a:blip r:embed="rId3"/>
          <a:stretch/>
        </p:blipFill>
        <p:spPr>
          <a:xfrm>
            <a:off x="0" y="0"/>
            <a:ext cx="12191760" cy="6857640"/>
          </a:xfrm>
          <a:prstGeom prst="rect">
            <a:avLst/>
          </a:prstGeom>
          <a:ln w="0">
            <a:noFill/>
          </a:ln>
        </p:spPr>
      </p:pic>
      <p:sp>
        <p:nvSpPr>
          <p:cNvPr id="66"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sp>
        <p:nvSpPr>
          <p:cNvPr id="67" name="PlaceHolder 2"/>
          <p:cNvSpPr>
            <a:spLocks noGrp="1"/>
          </p:cNvSpPr>
          <p:nvPr>
            <p:ph type="body"/>
          </p:nvPr>
        </p:nvSpPr>
        <p:spPr>
          <a:xfrm>
            <a:off x="664920" y="3352680"/>
            <a:ext cx="10935360" cy="2681640"/>
          </a:xfrm>
          <a:prstGeom prst="rect">
            <a:avLst/>
          </a:prstGeom>
          <a:solidFill>
            <a:schemeClr val="lt2">
              <a:lumMod val="25000"/>
            </a:schemeClr>
          </a:solidFill>
          <a:ln w="0">
            <a:noFill/>
          </a:ln>
        </p:spPr>
        <p:txBody>
          <a:bodyPr lIns="91440" tIns="45720" rIns="91440" bIns="45720" anchor="t">
            <a:noAutofit/>
          </a:bodyPr>
          <a:lstStyle/>
          <a:p>
            <a:pPr indent="0" defTabSz="914400">
              <a:lnSpc>
                <a:spcPct val="90000"/>
              </a:lnSpc>
              <a:buNone/>
              <a:tabLst>
                <a:tab pos="0" algn="l"/>
              </a:tabLst>
            </a:pPr>
            <a:r>
              <a:rPr lang="es-ES" sz="1500" b="0" strike="noStrike" spc="-1">
                <a:solidFill>
                  <a:schemeClr val="lt1"/>
                </a:solidFill>
                <a:latin typeface="Consolas"/>
              </a:rPr>
              <a:t>Código a desarrollar.</a:t>
            </a:r>
            <a:endParaRPr lang="es-MX" sz="1500" b="0" strike="noStrike" spc="-1">
              <a:solidFill>
                <a:schemeClr val="dk1"/>
              </a:solidFill>
              <a:latin typeface="Calibri"/>
            </a:endParaRPr>
          </a:p>
          <a:p>
            <a:pPr indent="0" defTabSz="914400">
              <a:lnSpc>
                <a:spcPct val="90000"/>
              </a:lnSpc>
              <a:buNone/>
              <a:tabLst>
                <a:tab pos="0" algn="l"/>
              </a:tabLst>
            </a:pPr>
            <a:endParaRPr lang="es-MX" sz="1500" b="0" strike="noStrike" spc="-1">
              <a:solidFill>
                <a:schemeClr val="dk1"/>
              </a:solidFill>
              <a:latin typeface="Calibri"/>
            </a:endParaRPr>
          </a:p>
        </p:txBody>
      </p:sp>
      <p:sp>
        <p:nvSpPr>
          <p:cNvPr id="68" name="PlaceHolder 3"/>
          <p:cNvSpPr>
            <a:spLocks noGrp="1"/>
          </p:cNvSpPr>
          <p:nvPr>
            <p:ph type="body"/>
          </p:nvPr>
        </p:nvSpPr>
        <p:spPr>
          <a:xfrm>
            <a:off x="664920" y="1330200"/>
            <a:ext cx="10936080" cy="190188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000000"/>
              </a:buClr>
              <a:buFont typeface="Arial"/>
              <a:buChar char="•"/>
            </a:pPr>
            <a:r>
              <a:rPr lang="es-ES" sz="2200" b="0" strike="noStrike" spc="-1">
                <a:solidFill>
                  <a:schemeClr val="dk1"/>
                </a:solidFill>
                <a:latin typeface="Neue Haas Grotesk Text Pro"/>
              </a:rPr>
              <a:t>Explicación del código.</a:t>
            </a:r>
            <a:endParaRPr lang="es-MX" sz="2200" b="0" strike="noStrike" spc="-1">
              <a:solidFill>
                <a:schemeClr val="dk1"/>
              </a:solidFill>
              <a:latin typeface="Calibri"/>
            </a:endParaRPr>
          </a:p>
        </p:txBody>
      </p:sp>
      <p:pic>
        <p:nvPicPr>
          <p:cNvPr id="69"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0" name="Imagen 6"/>
          <p:cNvPicPr/>
          <p:nvPr/>
        </p:nvPicPr>
        <p:blipFill>
          <a:blip r:embed="rId3"/>
          <a:stretch/>
        </p:blipFill>
        <p:spPr>
          <a:xfrm>
            <a:off x="0" y="0"/>
            <a:ext cx="12191760" cy="6857640"/>
          </a:xfrm>
          <a:prstGeom prst="rect">
            <a:avLst/>
          </a:prstGeom>
          <a:ln w="0">
            <a:noFill/>
          </a:ln>
        </p:spPr>
      </p:pic>
      <p:sp>
        <p:nvSpPr>
          <p:cNvPr id="71" name="PlaceHolder 1"/>
          <p:cNvSpPr>
            <a:spLocks noGrp="1"/>
          </p:cNvSpPr>
          <p:nvPr>
            <p:ph type="body"/>
          </p:nvPr>
        </p:nvSpPr>
        <p:spPr>
          <a:xfrm>
            <a:off x="664920" y="0"/>
            <a:ext cx="10935360" cy="1199880"/>
          </a:xfrm>
          <a:prstGeom prst="rect">
            <a:avLst/>
          </a:prstGeom>
          <a:noFill/>
          <a:ln w="0">
            <a:noFill/>
          </a:ln>
        </p:spPr>
        <p:txBody>
          <a:bodyPr lIns="91440" tIns="45720" rIns="91440" bIns="45720" anchor="ctr">
            <a:normAutofit/>
          </a:bodyPr>
          <a:lstStyle/>
          <a:p>
            <a:pPr indent="0" defTabSz="914400">
              <a:lnSpc>
                <a:spcPct val="90000"/>
              </a:lnSpc>
              <a:spcBef>
                <a:spcPts val="1001"/>
              </a:spcBef>
              <a:buNone/>
              <a:tabLst>
                <a:tab pos="0" algn="l"/>
              </a:tabLst>
            </a:pPr>
            <a:r>
              <a:rPr lang="es-ES" sz="4000" b="1" strike="noStrike" spc="-1">
                <a:solidFill>
                  <a:schemeClr val="dk1"/>
                </a:solidFill>
                <a:latin typeface="Neue Haas Grotesk Text Pro"/>
              </a:rPr>
              <a:t>Desarrollo del contenido</a:t>
            </a:r>
            <a:endParaRPr lang="es-MX" sz="4000" b="0" strike="noStrike" spc="-1">
              <a:solidFill>
                <a:schemeClr val="dk1"/>
              </a:solidFill>
              <a:latin typeface="Calibri"/>
            </a:endParaRPr>
          </a:p>
        </p:txBody>
      </p:sp>
      <p:sp>
        <p:nvSpPr>
          <p:cNvPr id="72" name="PlaceHolder 2"/>
          <p:cNvSpPr>
            <a:spLocks noGrp="1"/>
          </p:cNvSpPr>
          <p:nvPr>
            <p:ph type="body"/>
          </p:nvPr>
        </p:nvSpPr>
        <p:spPr>
          <a:xfrm>
            <a:off x="664920" y="1330200"/>
            <a:ext cx="5329080" cy="4968360"/>
          </a:xfrm>
          <a:prstGeom prst="rect">
            <a:avLst/>
          </a:prstGeom>
          <a:solidFill>
            <a:schemeClr val="lt2">
              <a:lumMod val="25000"/>
            </a:schemeClr>
          </a:solidFill>
          <a:ln w="0">
            <a:noFill/>
          </a:ln>
        </p:spPr>
        <p:txBody>
          <a:bodyPr lIns="91440" tIns="45720" rIns="91440" bIns="45720" anchor="t">
            <a:noAutofit/>
          </a:bodyPr>
          <a:lstStyle/>
          <a:p>
            <a:pPr indent="0" defTabSz="914400">
              <a:lnSpc>
                <a:spcPct val="90000"/>
              </a:lnSpc>
              <a:buNone/>
              <a:tabLst>
                <a:tab pos="0" algn="l"/>
              </a:tabLst>
            </a:pPr>
            <a:r>
              <a:rPr lang="es-ES" sz="1500" b="0" strike="noStrike" spc="-1">
                <a:solidFill>
                  <a:schemeClr val="lt1"/>
                </a:solidFill>
                <a:latin typeface="Consolas"/>
              </a:rPr>
              <a:t>Código a desarrollar.</a:t>
            </a:r>
            <a:endParaRPr lang="es-MX" sz="1500" b="0" strike="noStrike" spc="-1">
              <a:solidFill>
                <a:schemeClr val="dk1"/>
              </a:solidFill>
              <a:latin typeface="Calibri"/>
            </a:endParaRPr>
          </a:p>
          <a:p>
            <a:pPr indent="0" defTabSz="914400">
              <a:lnSpc>
                <a:spcPct val="90000"/>
              </a:lnSpc>
              <a:buNone/>
              <a:tabLst>
                <a:tab pos="0" algn="l"/>
              </a:tabLst>
            </a:pPr>
            <a:endParaRPr lang="es-MX" sz="1500" b="0" strike="noStrike" spc="-1">
              <a:solidFill>
                <a:schemeClr val="dk1"/>
              </a:solidFill>
              <a:latin typeface="Calibri"/>
            </a:endParaRPr>
          </a:p>
        </p:txBody>
      </p:sp>
      <p:sp>
        <p:nvSpPr>
          <p:cNvPr id="73" name="PlaceHolder 3"/>
          <p:cNvSpPr>
            <a:spLocks noGrp="1"/>
          </p:cNvSpPr>
          <p:nvPr>
            <p:ph type="body"/>
          </p:nvPr>
        </p:nvSpPr>
        <p:spPr>
          <a:xfrm>
            <a:off x="6197760" y="1330200"/>
            <a:ext cx="5403600" cy="4959000"/>
          </a:xfrm>
          <a:prstGeom prst="rect">
            <a:avLst/>
          </a:prstGeom>
          <a:solidFill>
            <a:schemeClr val="lt2">
              <a:lumMod val="25000"/>
            </a:schemeClr>
          </a:solidFill>
          <a:ln w="0">
            <a:noFill/>
          </a:ln>
        </p:spPr>
        <p:txBody>
          <a:bodyPr lIns="91440" tIns="45720" rIns="91440" bIns="45720" anchor="t">
            <a:normAutofit/>
          </a:bodyPr>
          <a:lstStyle/>
          <a:p>
            <a:pPr indent="0" algn="just" defTabSz="914400">
              <a:lnSpc>
                <a:spcPct val="90000"/>
              </a:lnSpc>
              <a:spcBef>
                <a:spcPts val="1001"/>
              </a:spcBef>
              <a:buNone/>
              <a:tabLst>
                <a:tab pos="0" algn="l"/>
              </a:tabLst>
            </a:pPr>
            <a:r>
              <a:rPr lang="es-ES" sz="1500" b="0" strike="noStrike" spc="-1">
                <a:solidFill>
                  <a:schemeClr val="lt1"/>
                </a:solidFill>
                <a:latin typeface="Consolas"/>
              </a:rPr>
              <a:t>Código a desarrollar 2.</a:t>
            </a:r>
            <a:endParaRPr lang="es-MX" sz="1500" b="0" strike="noStrike" spc="-1">
              <a:solidFill>
                <a:schemeClr val="dk1"/>
              </a:solidFill>
              <a:latin typeface="Calibri"/>
            </a:endParaRPr>
          </a:p>
        </p:txBody>
      </p:sp>
      <p:pic>
        <p:nvPicPr>
          <p:cNvPr id="74"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5" name="Imagen 6"/>
          <p:cNvPicPr/>
          <p:nvPr/>
        </p:nvPicPr>
        <p:blipFill>
          <a:blip r:embed="rId3"/>
          <a:stretch/>
        </p:blipFill>
        <p:spPr>
          <a:xfrm>
            <a:off x="0" y="0"/>
            <a:ext cx="12191760" cy="6857640"/>
          </a:xfrm>
          <a:prstGeom prst="rect">
            <a:avLst/>
          </a:prstGeom>
          <a:ln w="0">
            <a:noFill/>
          </a:ln>
        </p:spPr>
      </p:pic>
      <p:sp>
        <p:nvSpPr>
          <p:cNvPr id="76" name="PlaceHolder 1"/>
          <p:cNvSpPr>
            <a:spLocks noGrp="1"/>
          </p:cNvSpPr>
          <p:nvPr>
            <p:ph type="body"/>
          </p:nvPr>
        </p:nvSpPr>
        <p:spPr>
          <a:xfrm>
            <a:off x="950760" y="2004840"/>
            <a:ext cx="7555320" cy="3573360"/>
          </a:xfrm>
          <a:prstGeom prst="rect">
            <a:avLst/>
          </a:prstGeom>
          <a:noFill/>
          <a:ln w="0">
            <a:noFill/>
          </a:ln>
        </p:spPr>
        <p:txBody>
          <a:bodyPr lIns="91440" tIns="45720" rIns="91440" bIns="45720" anchor="t">
            <a:normAutofit/>
          </a:bodyPr>
          <a:lstStyle/>
          <a:p>
            <a:pPr marL="228600" indent="-228600" algn="just"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Menciona los puntos más importantes del capítulo.</a:t>
            </a:r>
            <a:endParaRPr lang="es-MX" sz="2200" b="0" strike="noStrike" spc="-1">
              <a:solidFill>
                <a:schemeClr val="dk1"/>
              </a:solidFill>
              <a:latin typeface="Calibri"/>
            </a:endParaRPr>
          </a:p>
        </p:txBody>
      </p:sp>
      <p:pic>
        <p:nvPicPr>
          <p:cNvPr id="77" name="Imagen 1" descr="Logotipo&#10;&#10;Descripción generada automáticamente"/>
          <p:cNvPicPr/>
          <p:nvPr/>
        </p:nvPicPr>
        <p:blipFill>
          <a:blip r:embed="rId4"/>
          <a:stretch/>
        </p:blipFill>
        <p:spPr>
          <a:xfrm>
            <a:off x="0" y="6075720"/>
            <a:ext cx="2051640" cy="811800"/>
          </a:xfrm>
          <a:prstGeom prst="rect">
            <a:avLst/>
          </a:prstGeom>
          <a:ln w="0">
            <a:noFill/>
          </a:ln>
        </p:spPr>
      </p:pic>
      <p:sp>
        <p:nvSpPr>
          <p:cNvPr id="7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9" name="Imagen 6"/>
          <p:cNvPicPr/>
          <p:nvPr/>
        </p:nvPicPr>
        <p:blipFill>
          <a:blip r:embed="rId3"/>
          <a:stretch/>
        </p:blipFill>
        <p:spPr>
          <a:xfrm>
            <a:off x="0" y="0"/>
            <a:ext cx="12191760" cy="6857640"/>
          </a:xfrm>
          <a:prstGeom prst="rect">
            <a:avLst/>
          </a:prstGeom>
          <a:ln w="0">
            <a:noFill/>
          </a:ln>
        </p:spPr>
      </p:pic>
      <p:sp>
        <p:nvSpPr>
          <p:cNvPr id="80"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rmAutofit/>
          </a:bodyPr>
          <a:lstStyle/>
          <a:p>
            <a:pPr indent="0" algn="ctr" defTabSz="914400">
              <a:lnSpc>
                <a:spcPct val="90000"/>
              </a:lnSpc>
              <a:buNone/>
            </a:pPr>
            <a:r>
              <a:rPr lang="es-ES" sz="5000" b="1" strike="noStrike" spc="-1">
                <a:solidFill>
                  <a:schemeClr val="dk1"/>
                </a:solidFill>
                <a:latin typeface="Neue Haas Grotesk Text Pro"/>
              </a:rPr>
              <a:t>Nombre de la actividad</a:t>
            </a:r>
            <a:endParaRPr lang="es-MX" sz="5000" b="0" strike="noStrike" spc="-1">
              <a:solidFill>
                <a:schemeClr val="dk1"/>
              </a:solidFill>
              <a:latin typeface="Calibri"/>
            </a:endParaRPr>
          </a:p>
        </p:txBody>
      </p:sp>
      <p:sp>
        <p:nvSpPr>
          <p:cNvPr id="81" name="Título 7"/>
          <p:cNvSpPr/>
          <p:nvPr/>
        </p:nvSpPr>
        <p:spPr>
          <a:xfrm>
            <a:off x="838080" y="4555800"/>
            <a:ext cx="5164920" cy="35064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90000"/>
              </a:lnSpc>
            </a:pPr>
            <a:r>
              <a:rPr lang="es-ES" sz="2000" b="1" strike="noStrike" spc="-1">
                <a:solidFill>
                  <a:schemeClr val="dk1"/>
                </a:solidFill>
                <a:latin typeface="Neue Haas Grotesk Text Pro"/>
              </a:rPr>
              <a:t>Planteamiento e instrucciones:</a:t>
            </a:r>
            <a:endParaRPr lang="en-US" sz="2000" b="0" strike="noStrike" spc="-1">
              <a:solidFill>
                <a:srgbClr val="000000"/>
              </a:solidFill>
              <a:latin typeface="Arial"/>
            </a:endParaRPr>
          </a:p>
        </p:txBody>
      </p:sp>
      <p:sp>
        <p:nvSpPr>
          <p:cNvPr id="82" name="PlaceHolder 2"/>
          <p:cNvSpPr>
            <a:spLocks noGrp="1"/>
          </p:cNvSpPr>
          <p:nvPr>
            <p:ph type="body"/>
          </p:nvPr>
        </p:nvSpPr>
        <p:spPr>
          <a:xfrm>
            <a:off x="1052640" y="3768840"/>
            <a:ext cx="10067400" cy="71100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s-ES" sz="1800" b="0" strike="noStrike" spc="-1">
                <a:solidFill>
                  <a:schemeClr val="dk1"/>
                </a:solidFill>
                <a:latin typeface="Neue Haas Grotesk Text Pro"/>
              </a:rPr>
              <a:t>Al finalizar la actividad, serás capaz de…</a:t>
            </a:r>
            <a:endParaRPr lang="es-MX" sz="1800" b="0" strike="noStrike" spc="-1">
              <a:solidFill>
                <a:schemeClr val="dk1"/>
              </a:solidFill>
              <a:latin typeface="Calibri"/>
            </a:endParaRPr>
          </a:p>
        </p:txBody>
      </p:sp>
      <p:sp>
        <p:nvSpPr>
          <p:cNvPr id="83" name="PlaceHolder 3"/>
          <p:cNvSpPr>
            <a:spLocks noGrp="1"/>
          </p:cNvSpPr>
          <p:nvPr>
            <p:ph type="body"/>
          </p:nvPr>
        </p:nvSpPr>
        <p:spPr>
          <a:xfrm>
            <a:off x="1052640" y="4906800"/>
            <a:ext cx="10067400" cy="73620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s-ES" sz="1800" b="0" strike="noStrike" spc="-1">
                <a:solidFill>
                  <a:schemeClr val="dk1"/>
                </a:solidFill>
                <a:latin typeface="Neue Haas Grotesk Text Pro"/>
              </a:rPr>
              <a:t>Descripción. </a:t>
            </a:r>
            <a:endParaRPr lang="es-MX" sz="1800" b="0" strike="noStrike" spc="-1">
              <a:solidFill>
                <a:schemeClr val="dk1"/>
              </a:solidFill>
              <a:latin typeface="Calibri"/>
            </a:endParaRPr>
          </a:p>
        </p:txBody>
      </p:sp>
      <p:sp>
        <p:nvSpPr>
          <p:cNvPr id="84" name="PlaceHolder 4"/>
          <p:cNvSpPr>
            <a:spLocks noGrp="1"/>
          </p:cNvSpPr>
          <p:nvPr>
            <p:ph type="body"/>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strike="noStrike" spc="-1">
                <a:solidFill>
                  <a:schemeClr val="dk1"/>
                </a:solidFill>
                <a:latin typeface="Neue Haas Grotesk Text Pro"/>
              </a:rPr>
              <a:t>XX minutos.</a:t>
            </a:r>
            <a:endParaRPr lang="es-MX" sz="1600" b="0" strike="noStrike" spc="-1">
              <a:solidFill>
                <a:schemeClr val="dk1"/>
              </a:solidFill>
              <a:latin typeface="Calibri"/>
            </a:endParaRPr>
          </a:p>
        </p:txBody>
      </p:sp>
      <p:pic>
        <p:nvPicPr>
          <p:cNvPr id="85"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6" name="Imagen 6"/>
          <p:cNvPicPr/>
          <p:nvPr/>
        </p:nvPicPr>
        <p:blipFill>
          <a:blip r:embed="rId3"/>
          <a:stretch/>
        </p:blipFill>
        <p:spPr>
          <a:xfrm>
            <a:off x="0" y="0"/>
            <a:ext cx="12191760" cy="6857640"/>
          </a:xfrm>
          <a:prstGeom prst="rect">
            <a:avLst/>
          </a:prstGeom>
          <a:ln w="0">
            <a:noFill/>
          </a:ln>
        </p:spPr>
      </p:pic>
      <p:sp>
        <p:nvSpPr>
          <p:cNvPr id="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defTabSz="914400">
              <a:lnSpc>
                <a:spcPct val="90000"/>
              </a:lnSpc>
              <a:buNone/>
            </a:pPr>
            <a:r>
              <a:rPr lang="es-ES" sz="4000" b="1" strike="noStrike" spc="-1">
                <a:solidFill>
                  <a:schemeClr val="dk1"/>
                </a:solidFill>
                <a:latin typeface="Neue Haas Grotesk Text Pro"/>
              </a:rPr>
              <a:t>Solución o producto final</a:t>
            </a:r>
            <a:endParaRPr lang="es-MX" sz="4000" b="0" strike="noStrike" spc="-1">
              <a:solidFill>
                <a:schemeClr val="dk1"/>
              </a:solidFill>
              <a:latin typeface="Calibri"/>
            </a:endParaRPr>
          </a:p>
        </p:txBody>
      </p:sp>
      <p:sp>
        <p:nvSpPr>
          <p:cNvPr id="88" name="PlaceHolder 2"/>
          <p:cNvSpPr>
            <a:spLocks noGrp="1"/>
          </p:cNvSpPr>
          <p:nvPr>
            <p:ph type="body"/>
          </p:nvPr>
        </p:nvSpPr>
        <p:spPr>
          <a:xfrm>
            <a:off x="581040" y="1860480"/>
            <a:ext cx="10515240" cy="447012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s-ES" sz="2200" b="0" strike="noStrike" spc="-1">
                <a:solidFill>
                  <a:schemeClr val="dk1"/>
                </a:solidFill>
                <a:latin typeface="Neue Haas Grotesk Text Pro"/>
              </a:rPr>
              <a:t>Imagen o descripción del posible resultado. </a:t>
            </a:r>
            <a:endParaRPr lang="es-MX" sz="2200" b="0" strike="noStrike" spc="-1">
              <a:solidFill>
                <a:schemeClr val="dk1"/>
              </a:solidFill>
              <a:latin typeface="Calibri"/>
            </a:endParaRPr>
          </a:p>
        </p:txBody>
      </p:sp>
      <p:pic>
        <p:nvPicPr>
          <p:cNvPr id="89"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0" name="Imagen 3"/>
          <p:cNvPicPr/>
          <p:nvPr/>
        </p:nvPicPr>
        <p:blipFill>
          <a:blip r:embed="rId3"/>
          <a:stretch/>
        </p:blipFill>
        <p:spPr>
          <a:xfrm>
            <a:off x="0" y="0"/>
            <a:ext cx="12191760" cy="6857640"/>
          </a:xfrm>
          <a:prstGeom prst="rect">
            <a:avLst/>
          </a:prstGeom>
          <a:ln w="0">
            <a:noFill/>
          </a:ln>
        </p:spPr>
      </p:pic>
      <p:sp>
        <p:nvSpPr>
          <p:cNvPr id="91" name="PlaceHolder 1"/>
          <p:cNvSpPr>
            <a:spLocks noGrp="1"/>
          </p:cNvSpPr>
          <p:nvPr>
            <p:ph type="body"/>
          </p:nvPr>
        </p:nvSpPr>
        <p:spPr>
          <a:xfrm>
            <a:off x="371160" y="2803680"/>
            <a:ext cx="7919640" cy="3421440"/>
          </a:xfrm>
          <a:prstGeom prst="rect">
            <a:avLst/>
          </a:prstGeom>
          <a:noFill/>
          <a:ln w="0">
            <a:noFill/>
          </a:ln>
        </p:spPr>
        <p:txBody>
          <a:bodyPr lIns="91440" tIns="45720" rIns="91440" bIns="45720" anchor="t">
            <a:normAutofit/>
          </a:bodyPr>
          <a:lstStyle/>
          <a:p>
            <a:pPr marL="285840" indent="-285840" algn="just" defTabSz="914400">
              <a:lnSpc>
                <a:spcPct val="100000"/>
              </a:lnSpc>
              <a:spcBef>
                <a:spcPts val="1001"/>
              </a:spcBef>
              <a:buClr>
                <a:srgbClr val="000000"/>
              </a:buClr>
              <a:buFont typeface="Arial"/>
              <a:buChar char="•"/>
            </a:pPr>
            <a:r>
              <a:rPr lang="es-ES" sz="2000" b="0" strike="noStrike" spc="-1">
                <a:solidFill>
                  <a:schemeClr val="dk1"/>
                </a:solidFill>
                <a:latin typeface="Neue Haas Grotesk Text Pro"/>
              </a:rPr>
              <a:t>Agrega las referencias bibliográficas. </a:t>
            </a:r>
            <a:endParaRPr lang="es-MX" sz="2000" b="0" strike="noStrike" spc="-1">
              <a:solidFill>
                <a:schemeClr val="dk1"/>
              </a:solidFill>
              <a:latin typeface="Calibri"/>
            </a:endParaRPr>
          </a:p>
        </p:txBody>
      </p:sp>
      <p:sp>
        <p:nvSpPr>
          <p:cNvPr id="92" name="Título 1"/>
          <p:cNvSpPr/>
          <p:nvPr/>
        </p:nvSpPr>
        <p:spPr>
          <a:xfrm>
            <a:off x="371160" y="1161360"/>
            <a:ext cx="5614560" cy="112428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90000"/>
              </a:lnSpc>
              <a:tabLst>
                <a:tab pos="0" algn="l"/>
              </a:tabLst>
            </a:pPr>
            <a:r>
              <a:rPr lang="es-MX" sz="2800" b="1" strike="noStrike" spc="-1">
                <a:solidFill>
                  <a:srgbClr val="000000"/>
                </a:solidFill>
                <a:latin typeface="Neue Haas Grotesk Text Pro"/>
              </a:rPr>
              <a:t>Referencias </a:t>
            </a:r>
            <a:endParaRPr lang="en-US" sz="2800" b="0" strike="noStrike" spc="-1">
              <a:solidFill>
                <a:srgbClr val="000000"/>
              </a:solidFill>
              <a:latin typeface="Arial"/>
            </a:endParaRPr>
          </a:p>
          <a:p>
            <a:pPr defTabSz="914400">
              <a:lnSpc>
                <a:spcPct val="90000"/>
              </a:lnSpc>
              <a:tabLst>
                <a:tab pos="0" algn="l"/>
              </a:tabLst>
            </a:pPr>
            <a:r>
              <a:rPr lang="es-MX" sz="2800" b="1" strike="noStrike" spc="-1">
                <a:solidFill>
                  <a:srgbClr val="000000"/>
                </a:solidFill>
                <a:latin typeface="Neue Haas Grotesk Text Pro"/>
              </a:rPr>
              <a:t>Bibliográficas</a:t>
            </a:r>
            <a:endParaRPr lang="en-US" sz="2800" b="0" strike="noStrike" spc="-1">
              <a:solidFill>
                <a:srgbClr val="000000"/>
              </a:solidFill>
              <a:latin typeface="Arial"/>
            </a:endParaRPr>
          </a:p>
        </p:txBody>
      </p:sp>
      <p:pic>
        <p:nvPicPr>
          <p:cNvPr id="93" name="Imagen 2" descr="Logotipo&#10;&#10;Descripción generada automáticamente"/>
          <p:cNvPicPr/>
          <p:nvPr/>
        </p:nvPicPr>
        <p:blipFill>
          <a:blip r:embed="rId4"/>
          <a:stretch/>
        </p:blipFill>
        <p:spPr>
          <a:xfrm>
            <a:off x="0" y="6075720"/>
            <a:ext cx="2051640" cy="811800"/>
          </a:xfrm>
          <a:prstGeom prst="rect">
            <a:avLst/>
          </a:prstGeom>
          <a:ln w="0">
            <a:noFill/>
          </a:ln>
        </p:spPr>
      </p:pic>
      <p:sp>
        <p:nvSpPr>
          <p:cNvPr id="9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5" name="Imagen 5"/>
          <p:cNvPicPr/>
          <p:nvPr/>
        </p:nvPicPr>
        <p:blipFill>
          <a:blip r:embed="rId3"/>
          <a:stretch/>
        </p:blipFill>
        <p:spPr>
          <a:xfrm>
            <a:off x="0" y="0"/>
            <a:ext cx="12191760" cy="6857640"/>
          </a:xfrm>
          <a:prstGeom prst="rect">
            <a:avLst/>
          </a:prstGeom>
          <a:ln w="0">
            <a:noFill/>
          </a:ln>
        </p:spPr>
      </p:pic>
      <p:sp>
        <p:nvSpPr>
          <p:cNvPr id="96" name="Título 1"/>
          <p:cNvSpPr/>
          <p:nvPr/>
        </p:nvSpPr>
        <p:spPr>
          <a:xfrm>
            <a:off x="478080" y="1122480"/>
            <a:ext cx="4023000" cy="320364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90000"/>
              </a:lnSpc>
              <a:tabLst>
                <a:tab pos="0" algn="l"/>
              </a:tabLst>
            </a:pPr>
            <a:r>
              <a:rPr lang="en-US" sz="4800" b="1" strike="noStrike" spc="-1">
                <a:solidFill>
                  <a:srgbClr val="000000"/>
                </a:solidFill>
                <a:latin typeface="Neue Haas Grotesk Text Pro"/>
              </a:rPr>
              <a:t>¡Gracias!</a:t>
            </a:r>
            <a:endParaRPr lang="en-US" sz="4800" b="0" strike="noStrike" spc="-1">
              <a:solidFill>
                <a:srgbClr val="000000"/>
              </a:solidFill>
              <a:latin typeface="Arial"/>
            </a:endParaRPr>
          </a:p>
        </p:txBody>
      </p:sp>
      <p:sp>
        <p:nvSpPr>
          <p:cNvPr id="97" name="Marcador de texto 3"/>
          <p:cNvSpPr/>
          <p:nvPr/>
        </p:nvSpPr>
        <p:spPr>
          <a:xfrm>
            <a:off x="478080" y="4872960"/>
            <a:ext cx="3933000" cy="12078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10000"/>
              </a:lnSpc>
              <a:spcBef>
                <a:spcPts val="1001"/>
              </a:spcBef>
              <a:tabLst>
                <a:tab pos="0" algn="l"/>
              </a:tabLst>
            </a:pPr>
            <a:r>
              <a:rPr lang="en-US" sz="2000" b="0" strike="noStrike" spc="-1">
                <a:solidFill>
                  <a:srgbClr val="000000"/>
                </a:solidFill>
                <a:latin typeface="Neue Haas Grotesk Text Pro"/>
              </a:rPr>
              <a:t>¿Dudas o comentarios?</a:t>
            </a:r>
            <a:endParaRPr lang="en-US" sz="2000" b="0" strike="noStrike" spc="-1">
              <a:solidFill>
                <a:srgbClr val="000000"/>
              </a:solidFill>
              <a:latin typeface="Arial"/>
            </a:endParaRPr>
          </a:p>
        </p:txBody>
      </p:sp>
      <p:pic>
        <p:nvPicPr>
          <p:cNvPr id="98" name="Imagen 4" descr="Logotipo&#10;&#10;Descripción generada automáticamente"/>
          <p:cNvPicPr/>
          <p:nvPr/>
        </p:nvPicPr>
        <p:blipFill>
          <a:blip r:embed="rId4"/>
          <a:stretch/>
        </p:blipFill>
        <p:spPr>
          <a:xfrm>
            <a:off x="0" y="6075720"/>
            <a:ext cx="2051640" cy="811800"/>
          </a:xfrm>
          <a:prstGeom prst="rect">
            <a:avLst/>
          </a:prstGeom>
          <a:ln w="0">
            <a:noFill/>
          </a:ln>
        </p:spPr>
      </p:pic>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
        <p:nvSpPr>
          <p:cNvPr id="10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MX" sz="2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MX" sz="20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MX"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MX"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1" name="Imagen 5"/>
          <p:cNvPicPr/>
          <p:nvPr/>
        </p:nvPicPr>
        <p:blipFill>
          <a:blip r:embed="rId3"/>
          <a:stretch/>
        </p:blipFill>
        <p:spPr>
          <a:xfrm>
            <a:off x="0" y="0"/>
            <a:ext cx="12191760" cy="6857640"/>
          </a:xfrm>
          <a:prstGeom prst="rect">
            <a:avLst/>
          </a:prstGeom>
          <a:ln w="0">
            <a:noFill/>
          </a:ln>
        </p:spPr>
      </p:pic>
      <p:sp>
        <p:nvSpPr>
          <p:cNvPr id="102" name="PlaceHolder 1"/>
          <p:cNvSpPr>
            <a:spLocks noGrp="1"/>
          </p:cNvSpPr>
          <p:nvPr>
            <p:ph type="body"/>
          </p:nvPr>
        </p:nvSpPr>
        <p:spPr>
          <a:xfrm>
            <a:off x="849600" y="1542600"/>
            <a:ext cx="4968720" cy="4248360"/>
          </a:xfrm>
          <a:prstGeom prst="rect">
            <a:avLst/>
          </a:prstGeom>
          <a:noFill/>
          <a:ln w="0">
            <a:noFill/>
          </a:ln>
        </p:spPr>
        <p:txBody>
          <a:bodyPr lIns="91440" tIns="45720" rIns="91440" bIns="45720" anchor="t">
            <a:normAutofit/>
          </a:bodyPr>
          <a:lstStyle/>
          <a:p>
            <a:pPr indent="0" algn="just" defTabSz="914400">
              <a:lnSpc>
                <a:spcPct val="100000"/>
              </a:lnSpc>
              <a:spcBef>
                <a:spcPts val="1001"/>
              </a:spcBef>
              <a:buNone/>
              <a:tabLst>
                <a:tab pos="0" algn="l"/>
              </a:tabLst>
            </a:pPr>
            <a:r>
              <a:rPr lang="es-ES" sz="2200" b="0" strike="noStrike" spc="-1">
                <a:solidFill>
                  <a:schemeClr val="dk1"/>
                </a:solidFill>
                <a:latin typeface="Neue Haas Grotesk Text Pro"/>
              </a:rPr>
              <a:t>Añade la descripción del curso. Esta debe tener una extensión aproximada de dos párrafos donde se explique qué es lo que se revisará o realizará en todo el curso.  </a:t>
            </a:r>
            <a:endParaRPr lang="es-MX" sz="2200" b="0" strike="noStrike" spc="-1">
              <a:solidFill>
                <a:schemeClr val="dk1"/>
              </a:solidFill>
              <a:latin typeface="Calibri"/>
            </a:endParaRPr>
          </a:p>
        </p:txBody>
      </p:sp>
      <p:sp>
        <p:nvSpPr>
          <p:cNvPr id="103" name="Título 1"/>
          <p:cNvSpPr/>
          <p:nvPr/>
        </p:nvSpPr>
        <p:spPr>
          <a:xfrm>
            <a:off x="838080" y="219600"/>
            <a:ext cx="5157000" cy="11646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90000"/>
              </a:lnSpc>
              <a:tabLst>
                <a:tab pos="0" algn="l"/>
              </a:tabLst>
            </a:pPr>
            <a:r>
              <a:rPr lang="es-MX" sz="3600" b="1" strike="noStrike" spc="-1">
                <a:solidFill>
                  <a:srgbClr val="000000"/>
                </a:solidFill>
                <a:latin typeface="Neue Haas Grotesk Text Pro"/>
              </a:rPr>
              <a:t>Descripción</a:t>
            </a:r>
            <a:r>
              <a:rPr lang="en-US" sz="3600" b="1" strike="noStrike" spc="-1">
                <a:solidFill>
                  <a:srgbClr val="000000"/>
                </a:solidFill>
                <a:latin typeface="Neue Haas Grotesk Text Pro"/>
              </a:rPr>
              <a:t> del curso</a:t>
            </a:r>
            <a:endParaRPr lang="en-US" sz="3600" b="0" strike="noStrike" spc="-1">
              <a:solidFill>
                <a:srgbClr val="000000"/>
              </a:solidFill>
              <a:latin typeface="Arial"/>
            </a:endParaRPr>
          </a:p>
        </p:txBody>
      </p:sp>
      <p:pic>
        <p:nvPicPr>
          <p:cNvPr id="104" name="Imagen 2" descr="Imagen que contiene foto, mujer, teléfono, hombre&#10;&#10;Descripción generada automáticamente"/>
          <p:cNvPicPr/>
          <p:nvPr/>
        </p:nvPicPr>
        <p:blipFill>
          <a:blip r:embed="rId4"/>
          <a:srcRect l="19980" r="23191"/>
          <a:stretch/>
        </p:blipFill>
        <p:spPr>
          <a:xfrm>
            <a:off x="6520320" y="727200"/>
            <a:ext cx="4702320" cy="4820040"/>
          </a:xfrm>
          <a:prstGeom prst="rect">
            <a:avLst/>
          </a:prstGeom>
          <a:ln w="0">
            <a:noFill/>
          </a:ln>
        </p:spPr>
      </p:pic>
      <p:pic>
        <p:nvPicPr>
          <p:cNvPr id="105" name="Imagen 4" descr="Logotipo&#10;&#10;Descripción generada automáticamente"/>
          <p:cNvPicPr/>
          <p:nvPr/>
        </p:nvPicPr>
        <p:blipFill>
          <a:blip r:embed="rId5"/>
          <a:stretch/>
        </p:blipFill>
        <p:spPr>
          <a:xfrm>
            <a:off x="0" y="6075720"/>
            <a:ext cx="2051640" cy="811800"/>
          </a:xfrm>
          <a:prstGeom prst="rect">
            <a:avLst/>
          </a:prstGeom>
          <a:ln w="0">
            <a:noFill/>
          </a:ln>
        </p:spPr>
      </p:pic>
      <p:sp>
        <p:nvSpPr>
          <p:cNvPr id="106"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 name="PlaceHolder 1"/>
          <p:cNvSpPr>
            <a:spLocks noGrp="1"/>
          </p:cNvSpPr>
          <p:nvPr>
            <p:ph type="body"/>
          </p:nvPr>
        </p:nvSpPr>
        <p:spPr>
          <a:xfrm>
            <a:off x="2761560" y="1900080"/>
            <a:ext cx="8563320" cy="4481280"/>
          </a:xfrm>
          <a:prstGeom prst="rect">
            <a:avLst/>
          </a:prstGeom>
          <a:noFill/>
          <a:ln w="0">
            <a:noFill/>
          </a:ln>
        </p:spPr>
        <p:txBody>
          <a:bodyPr lIns="91440" tIns="45720" rIns="91440" bIns="45720" anchor="t">
            <a:normAutofit/>
          </a:bodyPr>
          <a:lstStyle/>
          <a:p>
            <a:pPr marL="228600" indent="-228600" algn="just"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Añade los objetivos del curso.</a:t>
            </a:r>
            <a:endParaRPr lang="es-MX" sz="2200" b="0" strike="noStrike" spc="-1">
              <a:solidFill>
                <a:schemeClr val="dk1"/>
              </a:solidFill>
              <a:latin typeface="Calibri"/>
            </a:endParaRPr>
          </a:p>
        </p:txBody>
      </p:sp>
      <p:pic>
        <p:nvPicPr>
          <p:cNvPr id="108" name="Imagen 1" descr="Logotipo&#10;&#10;Descripción generada automáticamente"/>
          <p:cNvPicPr/>
          <p:nvPr/>
        </p:nvPicPr>
        <p:blipFill>
          <a:blip r:embed="rId3"/>
          <a:srcRect l="45833" r="28181"/>
          <a:stretch/>
        </p:blipFill>
        <p:spPr>
          <a:xfrm>
            <a:off x="0" y="0"/>
            <a:ext cx="2375280" cy="6857640"/>
          </a:xfrm>
          <a:prstGeom prst="rect">
            <a:avLst/>
          </a:prstGeom>
          <a:ln w="0">
            <a:noFill/>
          </a:ln>
        </p:spPr>
      </p:pic>
      <p:sp>
        <p:nvSpPr>
          <p:cNvPr id="109" name="Título 1"/>
          <p:cNvSpPr/>
          <p:nvPr/>
        </p:nvSpPr>
        <p:spPr>
          <a:xfrm>
            <a:off x="2761560" y="253440"/>
            <a:ext cx="8563320" cy="127296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90000"/>
              </a:lnSpc>
              <a:tabLst>
                <a:tab pos="0" algn="l"/>
              </a:tabLst>
            </a:pPr>
            <a:r>
              <a:rPr lang="es-MX" sz="4000" b="1" strike="noStrike" spc="-1">
                <a:solidFill>
                  <a:srgbClr val="000000"/>
                </a:solidFill>
                <a:latin typeface="Neue Haas Grotesk Text Pro"/>
              </a:rPr>
              <a:t>Objetivos del curso</a:t>
            </a:r>
            <a:endParaRPr lang="en-US" sz="4000" b="0" strike="noStrike" spc="-1">
              <a:solidFill>
                <a:srgbClr val="000000"/>
              </a:solidFill>
              <a:latin typeface="Arial"/>
            </a:endParaRPr>
          </a:p>
        </p:txBody>
      </p:sp>
      <p:sp>
        <p:nvSpPr>
          <p:cNvPr id="110" name="Rectángulo 5"/>
          <p:cNvSpPr/>
          <p:nvPr/>
        </p:nvSpPr>
        <p:spPr>
          <a:xfrm>
            <a:off x="2375640" y="524520"/>
            <a:ext cx="127800" cy="703800"/>
          </a:xfrm>
          <a:prstGeom prst="rect">
            <a:avLst/>
          </a:prstGeom>
          <a:solidFill>
            <a:srgbClr val="F5A700"/>
          </a:solidFill>
          <a:ln w="12700">
            <a:solidFill>
              <a:srgbClr val="F5A700"/>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s-MX" sz="1800" b="0" strike="noStrike" spc="-1">
              <a:solidFill>
                <a:srgbClr val="FFFFFF"/>
              </a:solidFill>
              <a:latin typeface="Neue Haas Grotesk Text Pro"/>
            </a:endParaRPr>
          </a:p>
        </p:txBody>
      </p:sp>
      <p:pic>
        <p:nvPicPr>
          <p:cNvPr id="111" name="Imagen 3" descr="Logotipo&#10;&#10;Descripción generada automáticamente"/>
          <p:cNvPicPr/>
          <p:nvPr/>
        </p:nvPicPr>
        <p:blipFill>
          <a:blip r:embed="rId4"/>
          <a:stretch/>
        </p:blipFill>
        <p:spPr>
          <a:xfrm>
            <a:off x="10140120" y="6032880"/>
            <a:ext cx="2051640" cy="811800"/>
          </a:xfrm>
          <a:prstGeom prst="rect">
            <a:avLst/>
          </a:prstGeom>
          <a:ln w="0">
            <a:noFill/>
          </a:ln>
        </p:spPr>
      </p:pic>
      <p:sp>
        <p:nvSpPr>
          <p:cNvPr id="112"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3" name="Imagen 4"/>
          <p:cNvPicPr/>
          <p:nvPr/>
        </p:nvPicPr>
        <p:blipFill>
          <a:blip r:embed="rId3"/>
          <a:stretch/>
        </p:blipFill>
        <p:spPr>
          <a:xfrm>
            <a:off x="0" y="0"/>
            <a:ext cx="12191760" cy="6857640"/>
          </a:xfrm>
          <a:prstGeom prst="rect">
            <a:avLst/>
          </a:prstGeom>
          <a:ln w="0">
            <a:noFill/>
          </a:ln>
        </p:spPr>
      </p:pic>
      <p:sp>
        <p:nvSpPr>
          <p:cNvPr id="114" name="PlaceHolder 1"/>
          <p:cNvSpPr>
            <a:spLocks noGrp="1"/>
          </p:cNvSpPr>
          <p:nvPr>
            <p:ph type="body"/>
          </p:nvPr>
        </p:nvSpPr>
        <p:spPr>
          <a:xfrm>
            <a:off x="619200" y="3139920"/>
            <a:ext cx="6206760" cy="2964960"/>
          </a:xfrm>
          <a:prstGeom prst="rect">
            <a:avLst/>
          </a:prstGeom>
          <a:noFill/>
          <a:ln w="0">
            <a:noFill/>
          </a:ln>
        </p:spPr>
        <p:txBody>
          <a:bodyPr lIns="91440" tIns="45720" rIns="91440" bIns="45720" anchor="t">
            <a:normAutofit/>
          </a:bodyPr>
          <a:lstStyle/>
          <a:p>
            <a:pPr marL="457200" indent="-457200" algn="just"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Agrega los prerrequisitos que debería tener el participante.</a:t>
            </a:r>
            <a:endParaRPr lang="es-MX" sz="2200" b="0" strike="noStrike" spc="-1">
              <a:solidFill>
                <a:schemeClr val="dk1"/>
              </a:solidFill>
              <a:latin typeface="Calibri"/>
            </a:endParaRPr>
          </a:p>
        </p:txBody>
      </p:sp>
      <p:pic>
        <p:nvPicPr>
          <p:cNvPr id="115" name="Imagen 2" descr="Icono&#10;&#10;Descripción generada automáticamente"/>
          <p:cNvPicPr/>
          <p:nvPr/>
        </p:nvPicPr>
        <p:blipFill>
          <a:blip r:embed="rId4"/>
          <a:srcRect r="43610"/>
          <a:stretch/>
        </p:blipFill>
        <p:spPr>
          <a:xfrm>
            <a:off x="9320400" y="0"/>
            <a:ext cx="2871000" cy="6857640"/>
          </a:xfrm>
          <a:prstGeom prst="rect">
            <a:avLst/>
          </a:prstGeom>
          <a:ln w="0">
            <a:noFill/>
          </a:ln>
        </p:spPr>
      </p:pic>
      <p:sp>
        <p:nvSpPr>
          <p:cNvPr id="116" name="Título 1"/>
          <p:cNvSpPr/>
          <p:nvPr/>
        </p:nvSpPr>
        <p:spPr>
          <a:xfrm>
            <a:off x="612720" y="1078920"/>
            <a:ext cx="6268320" cy="153576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90000"/>
              </a:lnSpc>
              <a:tabLst>
                <a:tab pos="0" algn="l"/>
              </a:tabLst>
            </a:pPr>
            <a:r>
              <a:rPr lang="es-MX" sz="5200" b="1" strike="noStrike" spc="-1">
                <a:solidFill>
                  <a:srgbClr val="000000"/>
                </a:solidFill>
                <a:latin typeface="Neue Haas Grotesk Text Pro"/>
              </a:rPr>
              <a:t>Prerrequisitos</a:t>
            </a:r>
            <a:endParaRPr lang="en-US" sz="5200" b="0" strike="noStrike" spc="-1">
              <a:solidFill>
                <a:srgbClr val="000000"/>
              </a:solidFill>
              <a:latin typeface="Arial"/>
            </a:endParaRPr>
          </a:p>
        </p:txBody>
      </p:sp>
      <p:pic>
        <p:nvPicPr>
          <p:cNvPr id="117" name="Imagen 3" descr="Logotipo&#10;&#10;Descripción generada automáticamente"/>
          <p:cNvPicPr/>
          <p:nvPr/>
        </p:nvPicPr>
        <p:blipFill>
          <a:blip r:embed="rId5"/>
          <a:stretch/>
        </p:blipFill>
        <p:spPr>
          <a:xfrm>
            <a:off x="0" y="6075720"/>
            <a:ext cx="2051640" cy="811800"/>
          </a:xfrm>
          <a:prstGeom prst="rect">
            <a:avLst/>
          </a:prstGeom>
          <a:ln w="0">
            <a:noFill/>
          </a:ln>
        </p:spPr>
      </p:pic>
      <p:sp>
        <p:nvSpPr>
          <p:cNvPr id="11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9" name="Imagen 4"/>
          <p:cNvPicPr/>
          <p:nvPr/>
        </p:nvPicPr>
        <p:blipFill>
          <a:blip r:embed="rId3"/>
          <a:stretch/>
        </p:blipFill>
        <p:spPr>
          <a:xfrm>
            <a:off x="0" y="0"/>
            <a:ext cx="12191760" cy="6857640"/>
          </a:xfrm>
          <a:prstGeom prst="rect">
            <a:avLst/>
          </a:prstGeom>
          <a:ln w="0">
            <a:noFill/>
          </a:ln>
        </p:spPr>
      </p:pic>
      <p:sp>
        <p:nvSpPr>
          <p:cNvPr id="120" name="PlaceHolder 1"/>
          <p:cNvSpPr>
            <a:spLocks noGrp="1"/>
          </p:cNvSpPr>
          <p:nvPr>
            <p:ph type="body"/>
          </p:nvPr>
        </p:nvSpPr>
        <p:spPr>
          <a:xfrm>
            <a:off x="878040" y="2262240"/>
            <a:ext cx="5800320" cy="3704760"/>
          </a:xfrm>
          <a:prstGeom prst="rect">
            <a:avLst/>
          </a:prstGeom>
          <a:noFill/>
          <a:ln w="0">
            <a:noFill/>
          </a:ln>
        </p:spPr>
        <p:txBody>
          <a:bodyPr lIns="91440" tIns="45720" rIns="91440" bIns="45720" anchor="t">
            <a:normAutofit/>
          </a:bodyPr>
          <a:lstStyle/>
          <a:p>
            <a:pPr marL="228600" indent="-228600" algn="just"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Añade el público objetivo al que está destinado este curso. </a:t>
            </a:r>
            <a:endParaRPr lang="es-MX" sz="2200" b="0" strike="noStrike" spc="-1">
              <a:solidFill>
                <a:schemeClr val="dk1"/>
              </a:solidFill>
              <a:latin typeface="Calibri"/>
            </a:endParaRPr>
          </a:p>
        </p:txBody>
      </p:sp>
      <p:pic>
        <p:nvPicPr>
          <p:cNvPr id="121" name="Picture 2" descr="Beneficios de la segmentación de audiencias"/>
          <p:cNvPicPr/>
          <p:nvPr/>
        </p:nvPicPr>
        <p:blipFill>
          <a:blip r:embed="rId4"/>
          <a:stretch/>
        </p:blipFill>
        <p:spPr>
          <a:xfrm>
            <a:off x="7794000" y="1847520"/>
            <a:ext cx="4097160" cy="3162600"/>
          </a:xfrm>
          <a:prstGeom prst="rect">
            <a:avLst/>
          </a:prstGeom>
          <a:ln w="0">
            <a:noFill/>
          </a:ln>
        </p:spPr>
      </p:pic>
      <p:sp>
        <p:nvSpPr>
          <p:cNvPr id="122" name="Título 1"/>
          <p:cNvSpPr/>
          <p:nvPr/>
        </p:nvSpPr>
        <p:spPr>
          <a:xfrm>
            <a:off x="841320" y="978480"/>
            <a:ext cx="5990760" cy="11059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90000"/>
              </a:lnSpc>
              <a:tabLst>
                <a:tab pos="0" algn="l"/>
              </a:tabLst>
            </a:pPr>
            <a:r>
              <a:rPr lang="es-MX" sz="3200" b="1" strike="noStrike" spc="-1">
                <a:solidFill>
                  <a:srgbClr val="000000"/>
                </a:solidFill>
                <a:latin typeface="Neue Haas Grotesk Text Pro"/>
              </a:rPr>
              <a:t>Audiencia</a:t>
            </a:r>
            <a:endParaRPr lang="en-US" sz="3200" b="0" strike="noStrike" spc="-1">
              <a:solidFill>
                <a:srgbClr val="000000"/>
              </a:solidFill>
              <a:latin typeface="Arial"/>
            </a:endParaRPr>
          </a:p>
        </p:txBody>
      </p:sp>
      <p:pic>
        <p:nvPicPr>
          <p:cNvPr id="123" name="Imagen 3" descr="Logotipo&#10;&#10;Descripción generada automáticamente"/>
          <p:cNvPicPr/>
          <p:nvPr/>
        </p:nvPicPr>
        <p:blipFill>
          <a:blip r:embed="rId5"/>
          <a:stretch/>
        </p:blipFill>
        <p:spPr>
          <a:xfrm>
            <a:off x="0" y="6075720"/>
            <a:ext cx="2051640" cy="811800"/>
          </a:xfrm>
          <a:prstGeom prst="rect">
            <a:avLst/>
          </a:prstGeom>
          <a:ln w="0">
            <a:noFill/>
          </a:ln>
        </p:spPr>
      </p:pic>
      <p:sp>
        <p:nvSpPr>
          <p:cNvPr id="12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5" name="Imagen 4"/>
          <p:cNvPicPr/>
          <p:nvPr/>
        </p:nvPicPr>
        <p:blipFill>
          <a:blip r:embed="rId3"/>
          <a:stretch/>
        </p:blipFill>
        <p:spPr>
          <a:xfrm>
            <a:off x="0" y="0"/>
            <a:ext cx="12191760" cy="6857640"/>
          </a:xfrm>
          <a:prstGeom prst="rect">
            <a:avLst/>
          </a:prstGeom>
          <a:ln w="0">
            <a:noFill/>
          </a:ln>
        </p:spPr>
      </p:pic>
      <p:sp>
        <p:nvSpPr>
          <p:cNvPr id="126" name="PlaceHolder 1"/>
          <p:cNvSpPr>
            <a:spLocks noGrp="1"/>
          </p:cNvSpPr>
          <p:nvPr>
            <p:ph type="body"/>
          </p:nvPr>
        </p:nvSpPr>
        <p:spPr>
          <a:xfrm>
            <a:off x="955800" y="2235240"/>
            <a:ext cx="10280160" cy="3833280"/>
          </a:xfrm>
          <a:prstGeom prst="rect">
            <a:avLst/>
          </a:prstGeom>
          <a:noFill/>
          <a:ln w="0">
            <a:noFill/>
          </a:ln>
        </p:spPr>
        <p:txBody>
          <a:bodyPr lIns="91440" tIns="45720" rIns="91440" bIns="45720" numCol="2" spcCol="0" anchor="t">
            <a:normAutofit/>
          </a:bodyPr>
          <a:lstStyle/>
          <a:p>
            <a:pPr marL="228600" indent="-228600"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Capítulo 1: </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Capítulo 2:</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Capítulo 3:</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Capítulo 4: </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ES" sz="2200" b="0" strike="noStrike" spc="-1">
                <a:solidFill>
                  <a:schemeClr val="dk1"/>
                </a:solidFill>
                <a:latin typeface="Neue Haas Grotesk Text Pro"/>
              </a:rPr>
              <a:t>Capítulo 5: </a:t>
            </a:r>
            <a:endParaRPr lang="es-MX" sz="2200" b="0" strike="noStrike" spc="-1">
              <a:solidFill>
                <a:schemeClr val="dk1"/>
              </a:solidFill>
              <a:latin typeface="Calibri"/>
            </a:endParaRPr>
          </a:p>
        </p:txBody>
      </p:sp>
      <p:sp>
        <p:nvSpPr>
          <p:cNvPr id="127" name="Título 1"/>
          <p:cNvSpPr/>
          <p:nvPr/>
        </p:nvSpPr>
        <p:spPr>
          <a:xfrm>
            <a:off x="838080" y="253440"/>
            <a:ext cx="10515240" cy="127296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90000"/>
              </a:lnSpc>
              <a:tabLst>
                <a:tab pos="0" algn="l"/>
              </a:tabLst>
            </a:pPr>
            <a:r>
              <a:rPr lang="es-MX" sz="4000" b="1" strike="noStrike" spc="-1">
                <a:solidFill>
                  <a:srgbClr val="000000"/>
                </a:solidFill>
                <a:latin typeface="Neue Haas Grotesk Text Pro"/>
              </a:rPr>
              <a:t>Temario</a:t>
            </a:r>
            <a:endParaRPr lang="en-US" sz="4000" b="0" strike="noStrike" spc="-1">
              <a:solidFill>
                <a:srgbClr val="000000"/>
              </a:solidFill>
              <a:latin typeface="Arial"/>
            </a:endParaRPr>
          </a:p>
        </p:txBody>
      </p:sp>
      <p:pic>
        <p:nvPicPr>
          <p:cNvPr id="128" name="Imagen 3" descr="Logotipo&#10;&#10;Descripción generada automáticamente"/>
          <p:cNvPicPr/>
          <p:nvPr/>
        </p:nvPicPr>
        <p:blipFill>
          <a:blip r:embed="rId4"/>
          <a:stretch/>
        </p:blipFill>
        <p:spPr>
          <a:xfrm>
            <a:off x="0" y="6075720"/>
            <a:ext cx="2051640" cy="811800"/>
          </a:xfrm>
          <a:prstGeom prst="rect">
            <a:avLst/>
          </a:prstGeom>
          <a:ln w="0">
            <a:noFill/>
          </a:ln>
        </p:spPr>
      </p:pic>
      <p:sp>
        <p:nvSpPr>
          <p:cNvPr id="129"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0" name="Imagen 4"/>
          <p:cNvPicPr/>
          <p:nvPr/>
        </p:nvPicPr>
        <p:blipFill>
          <a:blip r:embed="rId3"/>
          <a:stretch/>
        </p:blipFill>
        <p:spPr>
          <a:xfrm>
            <a:off x="0" y="0"/>
            <a:ext cx="12191760" cy="6857640"/>
          </a:xfrm>
          <a:prstGeom prst="rect">
            <a:avLst/>
          </a:prstGeom>
          <a:ln w="0">
            <a:noFill/>
          </a:ln>
        </p:spPr>
      </p:pic>
      <p:sp>
        <p:nvSpPr>
          <p:cNvPr id="131" name="Marcador de contenido 2"/>
          <p:cNvSpPr/>
          <p:nvPr/>
        </p:nvSpPr>
        <p:spPr>
          <a:xfrm>
            <a:off x="396720" y="2309040"/>
            <a:ext cx="5065560" cy="368316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marL="12600" defTabSz="914400">
              <a:lnSpc>
                <a:spcPct val="110000"/>
              </a:lnSpc>
              <a:spcBef>
                <a:spcPts val="360"/>
              </a:spcBef>
              <a:tabLst>
                <a:tab pos="0" algn="l"/>
              </a:tabLst>
            </a:pPr>
            <a:r>
              <a:rPr lang="es-MX" sz="2200" b="0" strike="noStrike" spc="-1">
                <a:solidFill>
                  <a:srgbClr val="000000"/>
                </a:solidFill>
                <a:latin typeface="Neue Haas Grotesk Text Pro"/>
              </a:rPr>
              <a:t>¿Cuál es tu nombre?</a:t>
            </a:r>
            <a:endParaRPr lang="en-US" sz="2200" b="0" strike="noStrike" spc="-1">
              <a:solidFill>
                <a:srgbClr val="000000"/>
              </a:solidFill>
              <a:latin typeface="Arial"/>
            </a:endParaRPr>
          </a:p>
          <a:p>
            <a:pPr marL="12600" defTabSz="914400">
              <a:lnSpc>
                <a:spcPct val="110000"/>
              </a:lnSpc>
              <a:tabLst>
                <a:tab pos="0" algn="l"/>
              </a:tabLst>
            </a:pPr>
            <a:endParaRPr lang="en-US" sz="1400" b="0" strike="noStrike" spc="-1">
              <a:solidFill>
                <a:srgbClr val="000000"/>
              </a:solidFill>
              <a:latin typeface="Arial"/>
            </a:endParaRPr>
          </a:p>
          <a:p>
            <a:pPr marL="12600" defTabSz="914400">
              <a:lnSpc>
                <a:spcPct val="110000"/>
              </a:lnSpc>
              <a:tabLst>
                <a:tab pos="0" algn="l"/>
              </a:tabLst>
            </a:pPr>
            <a:r>
              <a:rPr lang="es-MX" sz="2200" b="0" strike="noStrike" spc="-1">
                <a:solidFill>
                  <a:srgbClr val="000000"/>
                </a:solidFill>
                <a:latin typeface="Neue Haas Grotesk Text Pro"/>
              </a:rPr>
              <a:t>¿Cuál es tu experiencia en desarrollo?</a:t>
            </a:r>
            <a:endParaRPr lang="en-US" sz="2200" b="0" strike="noStrike" spc="-1">
              <a:solidFill>
                <a:srgbClr val="000000"/>
              </a:solidFill>
              <a:latin typeface="Arial"/>
            </a:endParaRPr>
          </a:p>
          <a:p>
            <a:pPr marL="12600" defTabSz="914400">
              <a:lnSpc>
                <a:spcPct val="110000"/>
              </a:lnSpc>
              <a:tabLst>
                <a:tab pos="0" algn="l"/>
              </a:tabLst>
            </a:pPr>
            <a:endParaRPr lang="en-US" sz="1400" b="0" strike="noStrike" spc="-1">
              <a:solidFill>
                <a:srgbClr val="000000"/>
              </a:solidFill>
              <a:latin typeface="Arial"/>
            </a:endParaRPr>
          </a:p>
          <a:p>
            <a:pPr marL="12600" defTabSz="914400">
              <a:lnSpc>
                <a:spcPct val="110000"/>
              </a:lnSpc>
              <a:tabLst>
                <a:tab pos="0" algn="l"/>
              </a:tabLst>
            </a:pPr>
            <a:r>
              <a:rPr lang="es-MX" sz="2200" b="0" strike="noStrike" spc="-1">
                <a:solidFill>
                  <a:srgbClr val="000000"/>
                </a:solidFill>
                <a:latin typeface="Neue Haas Grotesk Text Pro"/>
              </a:rPr>
              <a:t>¿Qué tecnología/idea/software te ha impresionado?</a:t>
            </a:r>
            <a:endParaRPr lang="en-US" sz="2200" b="0" strike="noStrike" spc="-1">
              <a:solidFill>
                <a:srgbClr val="000000"/>
              </a:solidFill>
              <a:latin typeface="Arial"/>
            </a:endParaRPr>
          </a:p>
          <a:p>
            <a:pPr marL="12600" defTabSz="914400">
              <a:lnSpc>
                <a:spcPct val="110000"/>
              </a:lnSpc>
              <a:tabLst>
                <a:tab pos="0" algn="l"/>
              </a:tabLst>
            </a:pPr>
            <a:endParaRPr lang="en-US" sz="1400" b="0" strike="noStrike" spc="-1">
              <a:solidFill>
                <a:srgbClr val="000000"/>
              </a:solidFill>
              <a:latin typeface="Arial"/>
            </a:endParaRPr>
          </a:p>
          <a:p>
            <a:pPr marL="12600" defTabSz="914400">
              <a:lnSpc>
                <a:spcPct val="110000"/>
              </a:lnSpc>
              <a:tabLst>
                <a:tab pos="0" algn="l"/>
              </a:tabLst>
            </a:pPr>
            <a:r>
              <a:rPr lang="es-MX" sz="2200" b="0" strike="noStrike" spc="-1">
                <a:solidFill>
                  <a:srgbClr val="000000"/>
                </a:solidFill>
                <a:latin typeface="Neue Haas Grotesk Text Pro"/>
              </a:rPr>
              <a:t>¿Cuáles son tus expectativas respecto al curso?</a:t>
            </a:r>
            <a:endParaRPr lang="en-US" sz="2200" b="0" strike="noStrike" spc="-1">
              <a:solidFill>
                <a:srgbClr val="000000"/>
              </a:solidFill>
              <a:latin typeface="Arial"/>
            </a:endParaRPr>
          </a:p>
        </p:txBody>
      </p:sp>
      <p:sp>
        <p:nvSpPr>
          <p:cNvPr id="132" name="Título 1"/>
          <p:cNvSpPr/>
          <p:nvPr/>
        </p:nvSpPr>
        <p:spPr>
          <a:xfrm>
            <a:off x="374760" y="856440"/>
            <a:ext cx="4992120" cy="12430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90000"/>
              </a:lnSpc>
              <a:tabLst>
                <a:tab pos="0" algn="l"/>
              </a:tabLst>
            </a:pPr>
            <a:r>
              <a:rPr lang="es-MX" sz="3400" b="1" strike="noStrike" spc="-1">
                <a:solidFill>
                  <a:srgbClr val="000000"/>
                </a:solidFill>
                <a:latin typeface="Neue Haas Grotesk Text Pro"/>
              </a:rPr>
              <a:t>Presentación del grupo</a:t>
            </a:r>
            <a:endParaRPr lang="en-US" sz="3400" b="0" strike="noStrike" spc="-1">
              <a:solidFill>
                <a:srgbClr val="000000"/>
              </a:solidFill>
              <a:latin typeface="Arial"/>
            </a:endParaRPr>
          </a:p>
        </p:txBody>
      </p:sp>
      <p:pic>
        <p:nvPicPr>
          <p:cNvPr id="133" name="Imagen 3" descr="Logotipo&#10;&#10;Descripción generada automáticamente"/>
          <p:cNvPicPr/>
          <p:nvPr/>
        </p:nvPicPr>
        <p:blipFill>
          <a:blip r:embed="rId4"/>
          <a:stretch/>
        </p:blipFill>
        <p:spPr>
          <a:xfrm>
            <a:off x="0" y="6075720"/>
            <a:ext cx="2051640" cy="811800"/>
          </a:xfrm>
          <a:prstGeom prst="rect">
            <a:avLst/>
          </a:prstGeom>
          <a:ln w="0">
            <a:noFill/>
          </a:ln>
        </p:spPr>
      </p:pic>
      <p:sp>
        <p:nvSpPr>
          <p:cNvPr id="1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s-MX" sz="1800" b="0" strike="noStrike" spc="-1">
                <a:solidFill>
                  <a:schemeClr val="dk1"/>
                </a:solidFill>
                <a:latin typeface="Calibri"/>
              </a:rPr>
              <a:t>Click to edit the title text format</a:t>
            </a:r>
          </a:p>
        </p:txBody>
      </p:sp>
      <p:sp>
        <p:nvSpPr>
          <p:cNvPr id="13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MX" sz="2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MX" sz="20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MX"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MX"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MX"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6" name="Imagen 2"/>
          <p:cNvPicPr/>
          <p:nvPr/>
        </p:nvPicPr>
        <p:blipFill>
          <a:blip r:embed="rId3"/>
          <a:stretch/>
        </p:blipFill>
        <p:spPr>
          <a:xfrm>
            <a:off x="0" y="0"/>
            <a:ext cx="12191760" cy="6857640"/>
          </a:xfrm>
          <a:prstGeom prst="rect">
            <a:avLst/>
          </a:prstGeom>
          <a:ln w="0">
            <a:noFill/>
          </a:ln>
        </p:spPr>
      </p:pic>
      <p:sp>
        <p:nvSpPr>
          <p:cNvPr id="137" name="PlaceHolder 1"/>
          <p:cNvSpPr>
            <a:spLocks noGrp="1"/>
          </p:cNvSpPr>
          <p:nvPr>
            <p:ph type="body"/>
          </p:nvPr>
        </p:nvSpPr>
        <p:spPr>
          <a:xfrm>
            <a:off x="6240240" y="1011240"/>
            <a:ext cx="5278320" cy="1694520"/>
          </a:xfrm>
          <a:prstGeom prst="rect">
            <a:avLst/>
          </a:prstGeom>
          <a:noFill/>
          <a:ln w="0">
            <a:noFill/>
          </a:ln>
        </p:spPr>
        <p:txBody>
          <a:bodyPr lIns="91440" tIns="45720" rIns="91440" bIns="45720" anchor="t">
            <a:normAutofit/>
          </a:bodyPr>
          <a:lstStyle/>
          <a:p>
            <a:pPr marL="228600" indent="-228600" algn="just" defTabSz="914400">
              <a:lnSpc>
                <a:spcPct val="100000"/>
              </a:lnSpc>
              <a:buClr>
                <a:srgbClr val="000000"/>
              </a:buClr>
              <a:buFont typeface="Arial"/>
              <a:buChar char="•"/>
            </a:pPr>
            <a:r>
              <a:rPr lang="es-ES" sz="1800" b="0" strike="noStrike" spc="-1">
                <a:solidFill>
                  <a:schemeClr val="dk1"/>
                </a:solidFill>
                <a:latin typeface="Neue Haas Grotesk Text Pro"/>
              </a:rPr>
              <a:t>Agrega los objetivos del capítulo.</a:t>
            </a:r>
            <a:endParaRPr lang="es-MX" sz="1800" b="0" strike="noStrike" spc="-1">
              <a:solidFill>
                <a:schemeClr val="dk1"/>
              </a:solidFill>
              <a:latin typeface="Calibri"/>
            </a:endParaRPr>
          </a:p>
        </p:txBody>
      </p:sp>
      <p:sp>
        <p:nvSpPr>
          <p:cNvPr id="138" name="PlaceHolder 2"/>
          <p:cNvSpPr>
            <a:spLocks noGrp="1"/>
          </p:cNvSpPr>
          <p:nvPr>
            <p:ph type="title"/>
          </p:nvPr>
        </p:nvSpPr>
        <p:spPr>
          <a:xfrm>
            <a:off x="576000" y="1124640"/>
            <a:ext cx="5375160" cy="3172680"/>
          </a:xfrm>
          <a:prstGeom prst="rect">
            <a:avLst/>
          </a:prstGeom>
          <a:noFill/>
          <a:ln w="0">
            <a:noFill/>
          </a:ln>
        </p:spPr>
        <p:txBody>
          <a:bodyPr lIns="91440" tIns="45720" rIns="91440" bIns="45720" anchor="b">
            <a:normAutofit/>
          </a:bodyPr>
          <a:lstStyle/>
          <a:p>
            <a:pPr indent="0" defTabSz="914400">
              <a:lnSpc>
                <a:spcPct val="90000"/>
              </a:lnSpc>
              <a:buNone/>
            </a:pPr>
            <a:r>
              <a:rPr lang="es-MX" sz="8000" b="1" strike="noStrike" spc="-1">
                <a:solidFill>
                  <a:schemeClr val="dk1"/>
                </a:solidFill>
                <a:latin typeface="Neue Haas Grotesk Text Pro"/>
              </a:rPr>
              <a:t>Capítulo X</a:t>
            </a:r>
            <a:endParaRPr lang="es-MX" sz="8000" b="0" strike="noStrike" spc="-1">
              <a:solidFill>
                <a:schemeClr val="dk1"/>
              </a:solidFill>
              <a:latin typeface="Calibri"/>
            </a:endParaRPr>
          </a:p>
        </p:txBody>
      </p:sp>
      <p:sp>
        <p:nvSpPr>
          <p:cNvPr id="139" name="PlaceHolder 3"/>
          <p:cNvSpPr>
            <a:spLocks noGrp="1"/>
          </p:cNvSpPr>
          <p:nvPr>
            <p:ph type="body"/>
          </p:nvPr>
        </p:nvSpPr>
        <p:spPr>
          <a:xfrm>
            <a:off x="576000" y="4689360"/>
            <a:ext cx="11025000" cy="14871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2800" b="0" strike="noStrike" spc="-1">
                <a:solidFill>
                  <a:srgbClr val="FF0000"/>
                </a:solidFill>
                <a:latin typeface="Neue Haas Grotesk Text Pro"/>
              </a:rPr>
              <a:t>Nombre del capítulo</a:t>
            </a:r>
            <a:endParaRPr lang="es-MX" sz="2800" b="0" strike="noStrike" spc="-1">
              <a:solidFill>
                <a:schemeClr val="dk1"/>
              </a:solidFill>
              <a:latin typeface="Calibri"/>
            </a:endParaRPr>
          </a:p>
          <a:p>
            <a:pPr indent="0" defTabSz="914400">
              <a:lnSpc>
                <a:spcPct val="90000"/>
              </a:lnSpc>
              <a:spcBef>
                <a:spcPts val="1001"/>
              </a:spcBef>
              <a:buNone/>
              <a:tabLst>
                <a:tab pos="0" algn="l"/>
              </a:tabLst>
            </a:pPr>
            <a:endParaRPr lang="es-MX" sz="2800" b="0" strike="noStrike" spc="-1">
              <a:solidFill>
                <a:schemeClr val="dk1"/>
              </a:solidFill>
              <a:latin typeface="Calibri"/>
            </a:endParaRPr>
          </a:p>
        </p:txBody>
      </p:sp>
      <p:sp>
        <p:nvSpPr>
          <p:cNvPr id="140" name="Título 1"/>
          <p:cNvSpPr/>
          <p:nvPr/>
        </p:nvSpPr>
        <p:spPr>
          <a:xfrm>
            <a:off x="6527520" y="592200"/>
            <a:ext cx="4990680" cy="41868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algn="r" defTabSz="914400">
              <a:lnSpc>
                <a:spcPct val="90000"/>
              </a:lnSpc>
              <a:tabLst>
                <a:tab pos="0" algn="l"/>
              </a:tabLst>
            </a:pPr>
            <a:r>
              <a:rPr lang="es-MX" sz="2000" b="1" strike="noStrike" spc="-1">
                <a:solidFill>
                  <a:srgbClr val="000000"/>
                </a:solidFill>
                <a:latin typeface="Neue Haas Grotesk Text Pro"/>
              </a:rPr>
              <a:t>Objetivos:</a:t>
            </a:r>
            <a:endParaRPr lang="en-US" sz="2000" b="0" strike="noStrike" spc="-1">
              <a:solidFill>
                <a:srgbClr val="000000"/>
              </a:solidFill>
              <a:latin typeface="Arial"/>
            </a:endParaRPr>
          </a:p>
        </p:txBody>
      </p:sp>
      <p:pic>
        <p:nvPicPr>
          <p:cNvPr id="141" name="Imagen 1" descr="Logotipo&#10;&#10;Descripción generada automáticamente"/>
          <p:cNvPicPr/>
          <p:nvPr/>
        </p:nvPicPr>
        <p:blipFill>
          <a:blip r:embed="rId4"/>
          <a:stretch/>
        </p:blipFill>
        <p:spPr>
          <a:xfrm>
            <a:off x="0" y="6075720"/>
            <a:ext cx="2051640" cy="8118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8.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9.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6.xml"/><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6.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8.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8.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8.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9.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p:nvPr>
        </p:nvSpPr>
        <p:spPr>
          <a:xfrm>
            <a:off x="478080" y="1189080"/>
            <a:ext cx="4090680" cy="4479120"/>
          </a:xfrm>
          <a:prstGeom prst="rect">
            <a:avLst/>
          </a:prstGeom>
          <a:solidFill>
            <a:schemeClr val="lt1"/>
          </a:solid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600" b="1" strike="noStrike" spc="-1" dirty="0">
                <a:solidFill>
                  <a:schemeClr val="dk1"/>
                </a:solidFill>
                <a:latin typeface="Neue Haas Grotesk Text Pro"/>
              </a:rPr>
              <a:t>Administración de Confluent Apache Kafka</a:t>
            </a:r>
            <a:endParaRPr lang="es-MX" sz="3600" b="0" strike="noStrike" spc="-1" dirty="0">
              <a:solidFill>
                <a:schemeClr val="dk1"/>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p:nvPr>
        </p:nvSpPr>
        <p:spPr>
          <a:xfrm>
            <a:off x="369720" y="1440720"/>
            <a:ext cx="5648040" cy="4248360"/>
          </a:xfrm>
          <a:prstGeom prst="rect">
            <a:avLst/>
          </a:prstGeom>
          <a:noFill/>
          <a:ln w="0">
            <a:noFill/>
          </a:ln>
        </p:spPr>
        <p:txBody>
          <a:bodyPr lIns="91440" tIns="45720" rIns="91440" bIns="45720" anchor="t">
            <a:noAutofit/>
          </a:bodyPr>
          <a:lstStyle/>
          <a:p>
            <a:pPr marL="285840" indent="-285840" algn="just" defTabSz="914400">
              <a:lnSpc>
                <a:spcPct val="100000"/>
              </a:lnSpc>
              <a:spcBef>
                <a:spcPts val="1001"/>
              </a:spcBef>
              <a:buClr>
                <a:srgbClr val="000000"/>
              </a:buClr>
              <a:buFont typeface="Arial"/>
              <a:buChar char="•"/>
            </a:pPr>
            <a:r>
              <a:rPr lang="es-MX" sz="1500" b="0" strike="noStrike" spc="-1">
                <a:solidFill>
                  <a:schemeClr val="dk1"/>
                </a:solidFill>
                <a:latin typeface="Neue Haas Grotesk Text Pro"/>
              </a:rPr>
              <a:t>Este curso entrega los conocimientos teóricos y prácticos necesarios para administrar de forma profesional clústeres de Apache Kafka 4.2 sobre Confluent Platform 8.2.0, con un enfoque orientado a la operación de infraestructura. Se abordan la arquitectura KRaft sin ZooKeeper, el despliegue de clústeres multi-broker, la administración de tópicos y políticas de retención, el tuning de rendimiento a nivel de I/O, red, memoria, CPU y sistema operativo, la alta disponibilidad y la recuperación ante desastres, además de la integración con el ecosistema Confluent y la seguridad del clúster.</a:t>
            </a:r>
            <a:endParaRPr lang="es-MX" sz="1500" b="0" strike="noStrike" spc="-1">
              <a:solidFill>
                <a:schemeClr val="dk1"/>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p:nvPr>
        </p:nvSpPr>
        <p:spPr>
          <a:xfrm>
            <a:off x="447840" y="1523160"/>
            <a:ext cx="5648040" cy="4248360"/>
          </a:xfrm>
          <a:prstGeom prst="rect">
            <a:avLst/>
          </a:prstGeom>
          <a:noFill/>
          <a:ln w="0">
            <a:noFill/>
          </a:ln>
        </p:spPr>
        <p:txBody>
          <a:bodyPr lIns="91440" tIns="45720" rIns="91440" bIns="45720" anchor="t">
            <a:normAutofit/>
          </a:bodyPr>
          <a:lstStyle/>
          <a:p>
            <a:pPr marL="285840" indent="-285840" algn="just" defTabSz="914400">
              <a:lnSpc>
                <a:spcPct val="100000"/>
              </a:lnSpc>
              <a:spcBef>
                <a:spcPts val="1001"/>
              </a:spcBef>
              <a:buClr>
                <a:srgbClr val="000000"/>
              </a:buClr>
              <a:buFont typeface="Arial"/>
              <a:buChar char="•"/>
            </a:pPr>
            <a:r>
              <a:rPr lang="es-MX" sz="1500" b="0" strike="noStrike" spc="-1">
                <a:solidFill>
                  <a:schemeClr val="dk1"/>
                </a:solidFill>
                <a:latin typeface="Neue Haas Grotesk Text Pro"/>
              </a:rPr>
              <a:t>El enfoque es altamente práctico: cada unidad combina fundamentos con laboratorios guiados ejecutados sobre Docker Compose, en los que los participantes despliegan servicios, operan clústeres reales, miden rendimiento y simulan escenarios de fallo y recuperación. Al finalizar, los participantes estarán en condiciones de administrar plataformas Kafka 4.2 productivas sobre Confluent Platform 8.2.0 siguiendo las mejores prácticas vigentes en 2026.</a:t>
            </a:r>
            <a:endParaRPr lang="es-MX" sz="1500" b="0" strike="noStrike" spc="-1">
              <a:solidFill>
                <a:schemeClr val="dk1"/>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p:nvPr>
        </p:nvSpPr>
        <p:spPr>
          <a:xfrm>
            <a:off x="2732400" y="1521000"/>
            <a:ext cx="8590320" cy="4481280"/>
          </a:xfrm>
          <a:prstGeom prst="rect">
            <a:avLst/>
          </a:prstGeom>
          <a:noFill/>
          <a:ln w="0">
            <a:noFill/>
          </a:ln>
        </p:spPr>
        <p:txBody>
          <a:bodyPr lIns="91440" tIns="45720" rIns="91440" bIns="45720" anchor="t">
            <a:normAutofit fontScale="93195"/>
          </a:bodyPr>
          <a:lstStyle/>
          <a:p>
            <a:pPr indent="0" algn="just" defTabSz="914400">
              <a:lnSpc>
                <a:spcPct val="100000"/>
              </a:lnSpc>
              <a:spcBef>
                <a:spcPts val="1001"/>
              </a:spcBef>
              <a:buNone/>
              <a:tabLst>
                <a:tab pos="0" algn="l"/>
              </a:tabLst>
            </a:pPr>
            <a:r>
              <a:rPr lang="es-MX" sz="2200" b="0" strike="noStrike" spc="-1">
                <a:solidFill>
                  <a:schemeClr val="dk1"/>
                </a:solidFill>
                <a:latin typeface="Neue Haas Grotesk Text Pro"/>
              </a:rPr>
              <a:t>Al finalizar el curso, los participantes estarán en condiciones de:</a:t>
            </a:r>
            <a:endParaRPr lang="es-MX" sz="2200" b="0" strike="noStrike" spc="-1">
              <a:solidFill>
                <a:schemeClr val="dk1"/>
              </a:solidFill>
              <a:latin typeface="Calibri"/>
            </a:endParaRPr>
          </a:p>
          <a:p>
            <a:pPr indent="0" algn="just" defTabSz="914400">
              <a:lnSpc>
                <a:spcPct val="100000"/>
              </a:lnSpc>
              <a:spcBef>
                <a:spcPts val="1001"/>
              </a:spcBef>
              <a:buNone/>
              <a:tabLst>
                <a:tab pos="0" algn="l"/>
              </a:tabLst>
            </a:pP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1. Comprender la arquitectura distribuida de Apache Kafka 4.2 y el modo KRaft sin ZooKeeper.</a:t>
            </a:r>
            <a:endParaRPr lang="es-MX" sz="2200" b="0" strike="noStrike" spc="-1">
              <a:solidFill>
                <a:schemeClr val="dk1"/>
              </a:solidFill>
              <a:latin typeface="Calibri"/>
            </a:endParaRPr>
          </a:p>
          <a:p>
            <a:pPr indent="0" algn="just" defTabSz="914400">
              <a:lnSpc>
                <a:spcPct val="100000"/>
              </a:lnSpc>
              <a:spcBef>
                <a:spcPts val="1001"/>
              </a:spcBef>
              <a:buNone/>
              <a:tabLst>
                <a:tab pos="0" algn="l"/>
              </a:tabLst>
            </a:pP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2. Inicializar y operar un clúster KRaft multi-broker en entorno local con Docker Compose.</a:t>
            </a:r>
            <a:endParaRPr lang="es-MX" sz="2200" b="0" strike="noStrike" spc="-1">
              <a:solidFill>
                <a:schemeClr val="dk1"/>
              </a:solidFill>
              <a:latin typeface="Calibri"/>
            </a:endParaRPr>
          </a:p>
          <a:p>
            <a:pPr indent="0" algn="just" defTabSz="914400">
              <a:lnSpc>
                <a:spcPct val="100000"/>
              </a:lnSpc>
              <a:spcBef>
                <a:spcPts val="1001"/>
              </a:spcBef>
              <a:buNone/>
              <a:tabLst>
                <a:tab pos="0" algn="l"/>
              </a:tabLst>
            </a:pP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3. Administrar tópicos, particiones, réplicas y políticas de retención, segmentación y compresión.</a:t>
            </a:r>
            <a:endParaRPr lang="es-MX" sz="2200" b="0" strike="noStrike" spc="-1">
              <a:solidFill>
                <a:schemeClr val="dk1"/>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p:nvPr>
        </p:nvSpPr>
        <p:spPr>
          <a:xfrm>
            <a:off x="2742120" y="1005120"/>
            <a:ext cx="8563320" cy="4481280"/>
          </a:xfrm>
          <a:prstGeom prst="rect">
            <a:avLst/>
          </a:prstGeom>
          <a:noFill/>
          <a:ln w="0">
            <a:noFill/>
          </a:ln>
        </p:spPr>
        <p:txBody>
          <a:bodyPr lIns="91440" tIns="45720" rIns="91440" bIns="45720" anchor="t">
            <a:noAutofit/>
          </a:bodyPr>
          <a:lstStyle/>
          <a:p>
            <a:pPr indent="0" algn="just" defTabSz="914400">
              <a:lnSpc>
                <a:spcPct val="100000"/>
              </a:lnSpc>
              <a:spcBef>
                <a:spcPts val="1001"/>
              </a:spcBef>
              <a:buNone/>
              <a:tabLst>
                <a:tab pos="0" algn="l"/>
              </a:tabLst>
            </a:pPr>
            <a:r>
              <a:rPr lang="es-MX" sz="2200" b="0" strike="noStrike" spc="-1">
                <a:solidFill>
                  <a:schemeClr val="dk1"/>
                </a:solidFill>
                <a:latin typeface="Neue Haas Grotesk Text Pro"/>
              </a:rPr>
              <a:t>4. Afinar el rendimiento del clúster a nivel de I/O, red, RAM, CPU y sistema operativo, así como de productores y consumidores.</a:t>
            </a: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5. Garantizar alta disponibilidad e implementar estrategias de recuperación ante desastres y conmutación por error.</a:t>
            </a: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6. Integrar y monitorear el clúster con el ecosistema Confluent (Kafka Connect, Schema Registry, ksqlDB, REST Proxy, Control Center, Prometheus y Grafana).</a:t>
            </a: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7. Producir y consumir mensajes mediante clientes Java y Spring.</a:t>
            </a:r>
            <a:endParaRPr lang="es-MX" sz="2200" b="0" strike="noStrike" spc="-1">
              <a:solidFill>
                <a:schemeClr val="dk1"/>
              </a:solidFill>
              <a:latin typeface="Calibri"/>
            </a:endParaRPr>
          </a:p>
          <a:p>
            <a:pPr marL="228600" indent="-228600" algn="just" defTabSz="914400">
              <a:lnSpc>
                <a:spcPct val="100000"/>
              </a:lnSpc>
              <a:spcBef>
                <a:spcPts val="1001"/>
              </a:spcBef>
              <a:buClr>
                <a:srgbClr val="000000"/>
              </a:buClr>
              <a:buFont typeface="Arial"/>
              <a:buChar char="•"/>
              <a:tabLst>
                <a:tab pos="0" algn="l"/>
              </a:tabLst>
            </a:pPr>
            <a:r>
              <a:rPr lang="es-MX" sz="2200" b="0" strike="noStrike" spc="-1">
                <a:solidFill>
                  <a:schemeClr val="dk1"/>
                </a:solidFill>
                <a:latin typeface="Neue Haas Grotesk Text Pro"/>
              </a:rPr>
              <a:t>8. Aplicar controles de seguridad con TLS/SASL y ACLs.</a:t>
            </a:r>
            <a:endParaRPr lang="es-MX" sz="2200" b="0" strike="noStrike" spc="-1">
              <a:solidFill>
                <a:schemeClr val="dk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p:nvPr>
        </p:nvSpPr>
        <p:spPr>
          <a:xfrm>
            <a:off x="619200" y="3139920"/>
            <a:ext cx="6206760" cy="2964960"/>
          </a:xfrm>
          <a:prstGeom prst="rect">
            <a:avLst/>
          </a:prstGeom>
          <a:noFill/>
          <a:ln w="0">
            <a:noFill/>
          </a:ln>
        </p:spPr>
        <p:txBody>
          <a:bodyPr lIns="91440" tIns="45720" rIns="91440" bIns="45720" anchor="t">
            <a:normAutofit fontScale="68191"/>
          </a:bodyPr>
          <a:lstStyle/>
          <a:p>
            <a:pPr marL="457200" indent="-457200" algn="just"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Para un adecuado aprovechamiento del curso se recomienda contar con:</a:t>
            </a:r>
            <a:endParaRPr lang="es-MX" sz="2200" b="0" strike="noStrike" spc="-1">
              <a:solidFill>
                <a:schemeClr val="dk1"/>
              </a:solidFill>
              <a:latin typeface="Calibri"/>
            </a:endParaRPr>
          </a:p>
          <a:p>
            <a:pPr marL="457200" indent="-457200" algn="just"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Conocimientos de sistemas operativos tipo Unix/Linux: navegación por terminal, lectura de logs y gestión de procesos.</a:t>
            </a:r>
            <a:endParaRPr lang="es-MX" sz="2200" b="0" strike="noStrike" spc="-1">
              <a:solidFill>
                <a:schemeClr val="dk1"/>
              </a:solidFill>
              <a:latin typeface="Calibri"/>
            </a:endParaRPr>
          </a:p>
          <a:p>
            <a:pPr marL="457200" indent="-457200" algn="just"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Familiaridad con redes TCP/IP, puertos y comunicación entre aplicaciones distribuidas.</a:t>
            </a:r>
            <a:endParaRPr lang="es-MX" sz="2200" b="0" strike="noStrike" spc="-1">
              <a:solidFill>
                <a:schemeClr val="dk1"/>
              </a:solidFill>
              <a:latin typeface="Calibri"/>
            </a:endParaRPr>
          </a:p>
          <a:p>
            <a:pPr marL="457200" indent="-457200" algn="just"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Experiencia básica con contenedores Docker y archivos Docker Compose.</a:t>
            </a:r>
            <a:endParaRPr lang="es-MX" sz="2200" b="0" strike="noStrike" spc="-1">
              <a:solidFill>
                <a:schemeClr val="dk1"/>
              </a:solidFill>
              <a:latin typeface="Calibri"/>
            </a:endParaRPr>
          </a:p>
          <a:p>
            <a:pPr marL="457200" indent="-457200" algn="just"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Nociones de mensajería o procesamiento asincrónico.</a:t>
            </a:r>
            <a:endParaRPr lang="es-MX" sz="2200" b="0" strike="noStrike" spc="-1">
              <a:solidFill>
                <a:schemeClr val="dk1"/>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p:cNvSpPr>
          <p:nvPr>
            <p:ph/>
          </p:nvPr>
        </p:nvSpPr>
        <p:spPr>
          <a:xfrm>
            <a:off x="619200" y="3139920"/>
            <a:ext cx="6206760" cy="2964960"/>
          </a:xfrm>
          <a:prstGeom prst="rect">
            <a:avLst/>
          </a:prstGeom>
          <a:noFill/>
          <a:ln w="0">
            <a:noFill/>
          </a:ln>
        </p:spPr>
        <p:txBody>
          <a:bodyPr lIns="91440" tIns="45720" rIns="91440" bIns="45720" anchor="t">
            <a:normAutofit/>
          </a:bodyPr>
          <a:lstStyle/>
          <a:p>
            <a:pPr marL="457200" indent="-457200" algn="just" defTabSz="914400">
              <a:lnSpc>
                <a:spcPct val="100000"/>
              </a:lnSpc>
              <a:spcBef>
                <a:spcPts val="1001"/>
              </a:spcBef>
              <a:buClr>
                <a:srgbClr val="000000"/>
              </a:buClr>
              <a:buFont typeface="Arial"/>
              <a:buChar char="•"/>
            </a:pPr>
            <a:r>
              <a:rPr lang="es-MX" sz="1700" b="0" strike="noStrike" spc="-1">
                <a:solidFill>
                  <a:schemeClr val="dk1"/>
                </a:solidFill>
                <a:latin typeface="Neue Haas Grotesk Text Pro"/>
              </a:rPr>
              <a:t>Es deseable, aunque no obligatorio, conocimiento introductorio de Java para los módulos de clientes.</a:t>
            </a:r>
            <a:endParaRPr lang="es-MX" sz="1700" b="0" strike="noStrike" spc="-1">
              <a:solidFill>
                <a:schemeClr val="dk1"/>
              </a:solidFill>
              <a:latin typeface="Calibri"/>
            </a:endParaRPr>
          </a:p>
          <a:p>
            <a:pPr marL="457200" indent="-457200" algn="just" defTabSz="914400">
              <a:lnSpc>
                <a:spcPct val="100000"/>
              </a:lnSpc>
              <a:spcBef>
                <a:spcPts val="1001"/>
              </a:spcBef>
              <a:buClr>
                <a:srgbClr val="000000"/>
              </a:buClr>
              <a:buFont typeface="Arial"/>
              <a:buChar char="•"/>
            </a:pPr>
            <a:r>
              <a:rPr lang="es-MX" sz="1700" b="0" strike="noStrike" spc="-1">
                <a:solidFill>
                  <a:schemeClr val="dk1"/>
                </a:solidFill>
                <a:latin typeface="Neue Haas Grotesk Text Pro"/>
              </a:rPr>
              <a:t>Cada participante debe disponer de un equipo con Docker instalado, conexión a internet y permisos de administrador para ejecutar los entornos de laboratorio.</a:t>
            </a:r>
            <a:endParaRPr lang="es-MX" sz="1700" b="0" strike="noStrike" spc="-1">
              <a:solidFill>
                <a:schemeClr val="dk1"/>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p:nvPr>
        </p:nvSpPr>
        <p:spPr>
          <a:xfrm>
            <a:off x="654120" y="2203920"/>
            <a:ext cx="6261840" cy="3704760"/>
          </a:xfrm>
          <a:prstGeom prst="rect">
            <a:avLst/>
          </a:prstGeom>
          <a:noFill/>
          <a:ln w="0">
            <a:noFill/>
          </a:ln>
        </p:spPr>
        <p:txBody>
          <a:bodyPr lIns="91440" tIns="45720" rIns="91440" bIns="45720" anchor="t">
            <a:normAutofit/>
          </a:bodyPr>
          <a:lstStyle/>
          <a:p>
            <a:pPr marL="228600" indent="-228600" algn="just" defTabSz="914400">
              <a:lnSpc>
                <a:spcPct val="100000"/>
              </a:lnSpc>
              <a:spcBef>
                <a:spcPts val="1001"/>
              </a:spcBef>
              <a:buClr>
                <a:srgbClr val="000000"/>
              </a:buClr>
              <a:buFont typeface="Arial"/>
              <a:buChar char="•"/>
            </a:pPr>
            <a:r>
              <a:rPr lang="es-MX" sz="2000" b="0" strike="noStrike" spc="-1">
                <a:solidFill>
                  <a:schemeClr val="dk1"/>
                </a:solidFill>
                <a:latin typeface="Neue Haas Grotesk Text Pro"/>
              </a:rPr>
              <a:t>Este curso está dirigido a administradores de sistemas, ingenieros de infraestructura, ingenieros SRE, profesionales DevOps y arquitectos responsables de implementar, operar y mantener plataformas de mensajería basadas en Apache Kafka y Confluent Platform en entornos productivos.</a:t>
            </a:r>
            <a:endParaRPr lang="es-MX" sz="2000" b="0" strike="noStrike" spc="-1">
              <a:solidFill>
                <a:schemeClr val="dk1"/>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p:nvPr>
        </p:nvSpPr>
        <p:spPr>
          <a:xfrm>
            <a:off x="878040" y="2262240"/>
            <a:ext cx="5800320" cy="3704760"/>
          </a:xfrm>
          <a:prstGeom prst="rect">
            <a:avLst/>
          </a:prstGeom>
          <a:noFill/>
          <a:ln w="0">
            <a:noFill/>
          </a:ln>
        </p:spPr>
        <p:txBody>
          <a:bodyPr lIns="91440" tIns="45720" rIns="91440" bIns="45720" anchor="t">
            <a:normAutofit/>
          </a:bodyPr>
          <a:lstStyle/>
          <a:p>
            <a:pPr indent="0" algn="just" defTabSz="914400">
              <a:lnSpc>
                <a:spcPct val="100000"/>
              </a:lnSpc>
              <a:spcBef>
                <a:spcPts val="1001"/>
              </a:spcBef>
              <a:buNone/>
              <a:tabLst>
                <a:tab pos="0" algn="l"/>
              </a:tabLst>
            </a:pPr>
            <a:r>
              <a:rPr lang="es-MX" sz="2200" b="0" strike="noStrike" spc="-1">
                <a:solidFill>
                  <a:schemeClr val="dk1"/>
                </a:solidFill>
                <a:latin typeface="Neue Haas Grotesk Text Pro"/>
              </a:rPr>
              <a:t>El énfasis está puesto en la alta disponibilidad, la escalabilidad y el rendimiento. Resulta especialmente adecuado para equipos que operan o van a operar Kafka 4.2 sobre Confluent Platform en entornos exigentes, y que necesitan dominar su administración de punta a punta: desde la inicialización del clúster hasta la seguridad y la recuperación ante desastres.</a:t>
            </a:r>
            <a:endParaRPr lang="es-MX" sz="2200" b="0" strike="noStrike" spc="-1">
              <a:solidFill>
                <a:schemeClr val="dk1"/>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p:cNvSpPr>
          <p:nvPr>
            <p:ph/>
          </p:nvPr>
        </p:nvSpPr>
        <p:spPr>
          <a:xfrm>
            <a:off x="887760" y="2254680"/>
            <a:ext cx="10280160" cy="3833280"/>
          </a:xfrm>
          <a:prstGeom prst="rect">
            <a:avLst/>
          </a:prstGeom>
          <a:noFill/>
          <a:ln w="0">
            <a:noFill/>
          </a:ln>
        </p:spPr>
        <p:txBody>
          <a:bodyPr lIns="91440" tIns="45720" rIns="91440" bIns="45720" numCol="1" spcCol="0" anchor="t">
            <a:noAutofit/>
          </a:bodyPr>
          <a:lstStyle/>
          <a:p>
            <a:pPr marL="228600" indent="-228600" defTabSz="914400">
              <a:lnSpc>
                <a:spcPct val="100000"/>
              </a:lnSpc>
              <a:spcBef>
                <a:spcPts val="1001"/>
              </a:spcBef>
              <a:buClr>
                <a:srgbClr val="000000"/>
              </a:buClr>
              <a:buFont typeface="Arial"/>
              <a:buChar char="•"/>
            </a:pPr>
            <a:r>
              <a:rPr lang="es-MX" sz="2200" b="1" strike="noStrike" spc="-1">
                <a:solidFill>
                  <a:schemeClr val="dk1"/>
                </a:solidFill>
                <a:latin typeface="Neue Haas Grotesk Text Pro"/>
              </a:rPr>
              <a:t>Capítulo 1: Arquitectura, fundamentos y ecosistema</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Capítulo 2: KRaft — metadatos, quorum y resiliencia</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Capítulo 3: Configuración del clúster, tópicos y rendimiento</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Capítulo 4: Ecosistema de clientes, REST y esquemas</a:t>
            </a:r>
            <a:endParaRPr lang="es-MX" sz="2200" b="0" strike="noStrike" spc="-1">
              <a:solidFill>
                <a:schemeClr val="dk1"/>
              </a:solidFill>
              <a:latin typeface="Calibri"/>
            </a:endParaRPr>
          </a:p>
          <a:p>
            <a:pPr marL="228600" indent="-228600" defTabSz="914400">
              <a:lnSpc>
                <a:spcPct val="100000"/>
              </a:lnSpc>
              <a:spcBef>
                <a:spcPts val="1001"/>
              </a:spcBef>
              <a:buClr>
                <a:srgbClr val="000000"/>
              </a:buClr>
              <a:buFont typeface="Arial"/>
              <a:buChar char="•"/>
            </a:pPr>
            <a:r>
              <a:rPr lang="es-MX" sz="2200" b="0" strike="noStrike" spc="-1">
                <a:solidFill>
                  <a:schemeClr val="dk1"/>
                </a:solidFill>
                <a:latin typeface="Neue Haas Grotesk Text Pro"/>
              </a:rPr>
              <a:t>Capítulo 5: Procesamiento, integración, HA/DR y seguridad</a:t>
            </a:r>
            <a:endParaRPr lang="es-MX" sz="2200" b="0" strike="noStrike" spc="-1">
              <a:solidFill>
                <a:schemeClr val="dk1"/>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p:nvPr>
        </p:nvSpPr>
        <p:spPr>
          <a:xfrm>
            <a:off x="6240240" y="1011240"/>
            <a:ext cx="5278320" cy="1694520"/>
          </a:xfrm>
          <a:prstGeom prst="rect">
            <a:avLst/>
          </a:prstGeom>
          <a:noFill/>
          <a:ln w="0">
            <a:noFill/>
          </a:ln>
        </p:spPr>
        <p:txBody>
          <a:bodyPr lIns="91440" tIns="45720" rIns="91440" bIns="45720" anchor="t">
            <a:noAutofit/>
          </a:bodyPr>
          <a:lstStyle/>
          <a:p>
            <a:pPr marL="228600" indent="-228600" algn="just" defTabSz="914400">
              <a:lnSpc>
                <a:spcPct val="100000"/>
              </a:lnSpc>
              <a:buClr>
                <a:srgbClr val="4472C4"/>
              </a:buClr>
              <a:buFont typeface="Arial"/>
              <a:buChar char="•"/>
            </a:pPr>
            <a:r>
              <a:rPr lang="es-MX" sz="1400" b="1" strike="noStrike" spc="-1">
                <a:solidFill>
                  <a:srgbClr val="4472C4"/>
                </a:solidFill>
                <a:latin typeface="Neue Haas Grotesk Text Pro"/>
              </a:rPr>
              <a:t>Al terminar este capítulo:</a:t>
            </a:r>
            <a:endParaRPr lang="es-MX" sz="14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Entender por qué existe Kafka y qué problema resuelve</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Conocer su arquitectura distribuida</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Ubicar los componentes de Confluent Platform</a:t>
            </a:r>
            <a:endParaRPr lang="es-MX" sz="1200" b="0" strike="noStrike" spc="-1">
              <a:solidFill>
                <a:schemeClr val="dk1"/>
              </a:solidFill>
              <a:latin typeface="Calibri"/>
            </a:endParaRPr>
          </a:p>
        </p:txBody>
      </p:sp>
      <p:sp>
        <p:nvSpPr>
          <p:cNvPr id="159" name="PlaceHolder 2"/>
          <p:cNvSpPr>
            <a:spLocks noGrp="1"/>
          </p:cNvSpPr>
          <p:nvPr>
            <p:ph type="title"/>
          </p:nvPr>
        </p:nvSpPr>
        <p:spPr>
          <a:xfrm>
            <a:off x="576000" y="1124640"/>
            <a:ext cx="5375160" cy="3172680"/>
          </a:xfrm>
          <a:prstGeom prst="rect">
            <a:avLst/>
          </a:prstGeom>
          <a:noFill/>
          <a:ln w="0">
            <a:noFill/>
          </a:ln>
        </p:spPr>
        <p:txBody>
          <a:bodyPr lIns="91440" tIns="45720" rIns="91440" bIns="45720" anchor="b">
            <a:noAutofit/>
          </a:bodyPr>
          <a:lstStyle/>
          <a:p>
            <a:pPr indent="0" defTabSz="914400">
              <a:lnSpc>
                <a:spcPct val="90000"/>
              </a:lnSpc>
              <a:buNone/>
            </a:pPr>
            <a:r>
              <a:rPr lang="es-MX" sz="8000" b="1" strike="noStrike" spc="-1">
                <a:solidFill>
                  <a:schemeClr val="dk1"/>
                </a:solidFill>
                <a:latin typeface="Neue Haas Grotesk Text Pro"/>
              </a:rPr>
              <a:t>Capítulo 1</a:t>
            </a:r>
            <a:endParaRPr lang="es-MX" sz="8000" b="0" strike="noStrike" spc="-1">
              <a:solidFill>
                <a:schemeClr val="dk1"/>
              </a:solidFill>
              <a:latin typeface="Calibri"/>
            </a:endParaRPr>
          </a:p>
        </p:txBody>
      </p:sp>
      <p:sp>
        <p:nvSpPr>
          <p:cNvPr id="160" name="PlaceHolder 3"/>
          <p:cNvSpPr>
            <a:spLocks noGrp="1"/>
          </p:cNvSpPr>
          <p:nvPr>
            <p:ph/>
          </p:nvPr>
        </p:nvSpPr>
        <p:spPr>
          <a:xfrm>
            <a:off x="576000" y="4689360"/>
            <a:ext cx="11025000" cy="14871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2800" b="0" strike="noStrike" spc="-1">
                <a:solidFill>
                  <a:srgbClr val="1F3864"/>
                </a:solidFill>
                <a:latin typeface="Neue Haas Grotesk Text Pro"/>
              </a:rPr>
              <a:t>Arquitectura, fundamentos y ecosistema</a:t>
            </a:r>
            <a:endParaRPr lang="es-MX" sz="2800" b="0" strike="noStrike" spc="-1">
              <a:solidFill>
                <a:schemeClr val="dk1"/>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Agenda y las reglas del juego</a:t>
            </a:r>
            <a:endParaRPr lang="es-MX" sz="3200" b="0" strike="noStrike" spc="-1">
              <a:solidFill>
                <a:schemeClr val="dk1"/>
              </a:solidFill>
              <a:latin typeface="Calibri"/>
            </a:endParaRPr>
          </a:p>
        </p:txBody>
      </p:sp>
      <p:sp>
        <p:nvSpPr>
          <p:cNvPr id="16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800" b="0" strike="noStrike" spc="-1">
                <a:solidFill>
                  <a:srgbClr val="262626"/>
                </a:solidFill>
                <a:latin typeface="Neue Haas Grotesk Text Pro"/>
              </a:rPr>
              <a:t>Las 4 unidades del curso, una línea cada una</a:t>
            </a:r>
            <a:endParaRPr lang="es-MX" sz="18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800" b="0" strike="noStrike" spc="-1">
                <a:solidFill>
                  <a:srgbClr val="262626"/>
                </a:solidFill>
                <a:latin typeface="Neue Haas Grotesk Text Pro"/>
              </a:rPr>
              <a:t>45% teoría  /  55% práctica</a:t>
            </a:r>
            <a:endParaRPr lang="es-MX" sz="18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800" b="0" strike="noStrike" spc="-1">
                <a:solidFill>
                  <a:srgbClr val="262626"/>
                </a:solidFill>
                <a:latin typeface="Neue Haas Grotesk Text Pro"/>
              </a:rPr>
              <a:t>14 laboratorios + capstone integrador</a:t>
            </a:r>
            <a:endParaRPr lang="es-MX" sz="18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800" b="0" strike="noStrike" spc="-1">
                <a:solidFill>
                  <a:srgbClr val="262626"/>
                </a:solidFill>
                <a:latin typeface="Neue Haas Grotesk Text Pro"/>
              </a:rPr>
              <a:t>Stack: Kafka 4.2 · Confluent Platform 8.2.0 · KRaft · Docker</a:t>
            </a:r>
            <a:endParaRPr lang="es-MX" sz="1800" b="0" strike="noStrike" spc="-1">
              <a:solidFill>
                <a:schemeClr val="dk1"/>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1.1. Mensajería basada en eventos y rol de Kafka</a:t>
            </a:r>
            <a:endParaRPr lang="es-MX" sz="3000" b="0" strike="noStrike" spc="-1">
              <a:solidFill>
                <a:schemeClr val="dk1"/>
              </a:solidFill>
              <a:latin typeface="Calibri"/>
            </a:endParaRPr>
          </a:p>
        </p:txBody>
      </p:sp>
      <p:sp>
        <p:nvSpPr>
          <p:cNvPr id="164"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NovaTech Logistics: el caso que nos acompaña</a:t>
            </a:r>
            <a:endParaRPr lang="es-MX" sz="2400" b="0" strike="noStrike" spc="-1">
              <a:solidFill>
                <a:schemeClr val="dk1"/>
              </a:solidFill>
              <a:latin typeface="Calibri"/>
            </a:endParaRPr>
          </a:p>
        </p:txBody>
      </p:sp>
      <p:sp>
        <p:nvSpPr>
          <p:cNvPr id="16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167" name="Picture 3" descr="s3-mapa-novatech.png"/>
          <p:cNvPicPr/>
          <p:nvPr/>
        </p:nvPicPr>
        <p:blipFill>
          <a:blip r:embed="rId3"/>
          <a:stretch/>
        </p:blipFill>
        <p:spPr>
          <a:xfrm>
            <a:off x="1329480" y="1554480"/>
            <a:ext cx="9532800" cy="457164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El cableado directo: la telaraña que se paga cara</a:t>
            </a:r>
            <a:endParaRPr lang="es-MX" sz="2400" b="0" strike="noStrike" spc="-1">
              <a:solidFill>
                <a:schemeClr val="dk1"/>
              </a:solidFill>
              <a:latin typeface="Calibri"/>
            </a:endParaRPr>
          </a:p>
        </p:txBody>
      </p:sp>
      <p:sp>
        <p:nvSpPr>
          <p:cNvPr id="16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N sistemas hablándose directo = N×(N−1) conexiones.</a:t>
            </a:r>
            <a:br>
              <a:rPr sz="2200"/>
            </a:br>
            <a:r>
              <a:rPr lang="es-MX" sz="2400" b="1" strike="noStrike" spc="-1">
                <a:solidFill>
                  <a:srgbClr val="1F3864"/>
                </a:solidFill>
                <a:latin typeface="Neue Haas Grotesk Text Pro"/>
              </a:rPr>
              <a:t>Cada sistema nuevo obliga a tocar los existentes.</a:t>
            </a:r>
            <a:endParaRPr lang="es-MX" sz="2400" b="0" strike="noStrike" spc="-1">
              <a:solidFill>
                <a:schemeClr val="dk1"/>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Acoplamiento temporal: el tirano invisible</a:t>
            </a:r>
            <a:endParaRPr lang="es-MX" sz="2800" b="0" strike="noStrike" spc="-1">
              <a:solidFill>
                <a:schemeClr val="dk1"/>
              </a:solidFill>
              <a:latin typeface="Calibri"/>
            </a:endParaRPr>
          </a:p>
        </p:txBody>
      </p:sp>
      <p:sp>
        <p:nvSpPr>
          <p:cNvPr id="17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Síncrono = el que llama espera al que responde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 el receptor cae, el emisor cae con él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 disponibilidad de un sistema queda atada a la de todos aquellos a los que llama</a:t>
            </a:r>
            <a:endParaRPr lang="es-MX" sz="1600" b="0" strike="noStrike" spc="-1">
              <a:solidFill>
                <a:schemeClr val="dk1"/>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Desacoplar en el tiempo, el espacio y el flujo</a:t>
            </a:r>
            <a:endParaRPr lang="es-MX" sz="2400" b="0" strike="noStrike" spc="-1">
              <a:solidFill>
                <a:schemeClr val="dk1"/>
              </a:solidFill>
              <a:latin typeface="Calibri"/>
            </a:endParaRPr>
          </a:p>
        </p:txBody>
      </p:sp>
      <p:sp>
        <p:nvSpPr>
          <p:cNvPr id="173"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Asincronía: el emisor deja el evento y sigue; el receptor lo toma cuando puede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Desacople temporal (cuándo)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Desacople de espacio (dónde)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Desacople de flujo (a qué ritmo)</a:t>
            </a:r>
            <a:endParaRPr lang="es-MX" sz="1600" b="0" strike="noStrike" spc="-1">
              <a:solidFill>
                <a:schemeClr val="dk1"/>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Cola vs log de eventos: NO son lo mismo</a:t>
            </a:r>
            <a:endParaRPr lang="es-MX" sz="2800" b="0" strike="noStrike" spc="-1">
              <a:solidFill>
                <a:schemeClr val="dk1"/>
              </a:solidFill>
              <a:latin typeface="Calibri"/>
            </a:endParaRPr>
          </a:p>
        </p:txBody>
      </p:sp>
      <p:sp>
        <p:nvSpPr>
          <p:cNvPr id="175"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176" name="Picture 3" descr="s7-cola-vs-log.png"/>
          <p:cNvPicPr/>
          <p:nvPr/>
        </p:nvPicPr>
        <p:blipFill>
          <a:blip r:embed="rId3"/>
          <a:stretch/>
        </p:blipFill>
        <p:spPr>
          <a:xfrm>
            <a:off x="1809720" y="1554480"/>
            <a:ext cx="8572320" cy="457164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evento: un hecho inmutable con clave</a:t>
            </a:r>
            <a:endParaRPr lang="es-MX" sz="2800" b="0" strike="noStrike" spc="-1">
              <a:solidFill>
                <a:schemeClr val="dk1"/>
              </a:solidFill>
              <a:latin typeface="Calibri"/>
            </a:endParaRPr>
          </a:p>
        </p:txBody>
      </p:sp>
      <p:sp>
        <p:nvSpPr>
          <p:cNvPr id="178"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evento es un hecho ya ocurrido ("el vehículo 47 reportó posición X"), no una orden</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Los hechos no se editan: se corrigen con nuevos hechos → el log solo crece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Estructura mínima: clave (decide orden y destino), valor, timestamp, headers</a:t>
            </a:r>
            <a:endParaRPr lang="es-MX" sz="1600" b="0" strike="noStrike" spc="-1">
              <a:solidFill>
                <a:schemeClr val="dk1"/>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log: la estructura más subestimada</a:t>
            </a:r>
            <a:endParaRPr lang="es-MX" sz="2800" b="0" strike="noStrike" spc="-1">
              <a:solidFill>
                <a:schemeClr val="dk1"/>
              </a:solidFill>
              <a:latin typeface="Calibri"/>
            </a:endParaRPr>
          </a:p>
        </p:txBody>
      </p:sp>
      <p:sp>
        <p:nvSpPr>
          <p:cNvPr id="18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Secuencia ordenada, solo-anexar, numerada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Simple hasta lo aburrido — y por eso rapidísima: escribir es "al final", leer es secuencial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 genialidad de Kafka es distribuir esa estructura trivial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Tres ideas de esta sesión: cascada síncrona · desacople del log · hecho inmutable con clave</a:t>
            </a:r>
            <a:endParaRPr lang="es-MX" sz="1600" b="0" strike="noStrike" spc="-1">
              <a:solidFill>
                <a:schemeClr val="dk1"/>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600" b="1" strike="noStrike" spc="-1">
                <a:solidFill>
                  <a:srgbClr val="1F3864"/>
                </a:solidFill>
                <a:latin typeface="Neue Haas Grotesk Text Pro"/>
              </a:rPr>
              <a:t>1.2. Arquitectura de Apache Kafka 4.2</a:t>
            </a:r>
            <a:endParaRPr lang="es-MX" sz="3600" b="0" strike="noStrike" spc="-1">
              <a:solidFill>
                <a:schemeClr val="dk1"/>
              </a:solidFill>
              <a:latin typeface="Calibri"/>
            </a:endParaRPr>
          </a:p>
        </p:txBody>
      </p:sp>
      <p:sp>
        <p:nvSpPr>
          <p:cNvPr id="182"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Vista de helicóptero de un clúster</a:t>
            </a:r>
            <a:endParaRPr lang="es-MX" sz="2800" b="0" strike="noStrike" spc="-1">
              <a:solidFill>
                <a:schemeClr val="dk1"/>
              </a:solidFill>
              <a:latin typeface="Calibri"/>
            </a:endParaRPr>
          </a:p>
        </p:txBody>
      </p:sp>
      <p:sp>
        <p:nvSpPr>
          <p:cNvPr id="184"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185" name="Picture 3" descr="s11-plano-datos.png"/>
          <p:cNvPicPr/>
          <p:nvPr/>
        </p:nvPicPr>
        <p:blipFill>
          <a:blip r:embed="rId3"/>
          <a:stretch/>
        </p:blipFill>
        <p:spPr>
          <a:xfrm>
            <a:off x="1615320" y="1554480"/>
            <a:ext cx="8960760" cy="457164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Broker, tópico y partición</a:t>
            </a:r>
            <a:endParaRPr lang="es-MX" sz="3200" b="0" strike="noStrike" spc="-1">
              <a:solidFill>
                <a:schemeClr val="dk1"/>
              </a:solidFill>
              <a:latin typeface="Calibri"/>
            </a:endParaRPr>
          </a:p>
        </p:txBody>
      </p:sp>
      <p:sp>
        <p:nvSpPr>
          <p:cNvPr id="187"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Broker = el caballo de carga (recibe, almacena, sirve).</a:t>
            </a:r>
            <a:br>
              <a:rPr sz="2200"/>
            </a:br>
            <a:r>
              <a:rPr lang="es-MX" sz="2400" b="1" strike="noStrike" spc="-1">
                <a:solidFill>
                  <a:srgbClr val="1F3864"/>
                </a:solidFill>
                <a:latin typeface="Neue Haas Grotesk Text Pro"/>
              </a:rPr>
              <a:t>Tópico = nombre lógico.  Partición = unidad de paralelismo.</a:t>
            </a:r>
            <a:br>
              <a:rPr sz="2200"/>
            </a:br>
            <a:r>
              <a:rPr lang="es-MX" sz="2400" b="1" strike="noStrike" spc="-1">
                <a:solidFill>
                  <a:srgbClr val="1F3864"/>
                </a:solidFill>
                <a:latin typeface="Neue Haas Grotesk Text Pro"/>
              </a:rPr>
              <a:t>El orden se garantiza DENTRO de una partición, no entre particiones.</a:t>
            </a:r>
            <a:endParaRPr lang="es-MX" sz="2400" b="0" strike="noStrike" spc="-1">
              <a:solidFill>
                <a:schemeClr val="dk1"/>
              </a:solidFill>
              <a:latin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Productor, consumidor y consumer group</a:t>
            </a:r>
            <a:endParaRPr lang="es-MX" sz="2800" b="0" strike="noStrike" spc="-1">
              <a:solidFill>
                <a:schemeClr val="dk1"/>
              </a:solidFill>
              <a:latin typeface="Calibri"/>
            </a:endParaRPr>
          </a:p>
        </p:txBody>
      </p:sp>
      <p:sp>
        <p:nvSpPr>
          <p:cNvPr id="18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Productor escribe (y vía la clave influye la partición)</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Consumidor lee y lleva su propio offset</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Los consumidores se agrupan para repartirse las particiones y escalar horizontalmente</a:t>
            </a:r>
            <a:endParaRPr lang="es-MX" sz="1600" b="0" strike="noStrike" spc="-1">
              <a:solidFill>
                <a:schemeClr val="dk1"/>
              </a:solidFill>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offset: la memoria de quién leyó qué</a:t>
            </a:r>
            <a:endParaRPr lang="es-MX" sz="2800" b="0" strike="noStrike" spc="-1">
              <a:solidFill>
                <a:schemeClr val="dk1"/>
              </a:solidFill>
              <a:latin typeface="Calibri"/>
            </a:endParaRPr>
          </a:p>
        </p:txBody>
      </p:sp>
      <p:sp>
        <p:nvSpPr>
          <p:cNvPr id="19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Cada evento tiene un número secuencial: el offset</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consumidor no borra; solo avanza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Dos consumidores leen el mismo evento sin estorbarse porque cada uno recuerda su posición</a:t>
            </a:r>
            <a:endParaRPr lang="es-MX" sz="1600" b="0" strike="noStrike" spc="-1">
              <a:solidFill>
                <a:schemeClr val="dk1"/>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Replicación e ISR: el círculo de confianza</a:t>
            </a:r>
            <a:endParaRPr lang="es-MX" sz="2800" b="0" strike="noStrike" spc="-1">
              <a:solidFill>
                <a:schemeClr val="dk1"/>
              </a:solidFill>
              <a:latin typeface="Calibri"/>
            </a:endParaRPr>
          </a:p>
        </p:txBody>
      </p:sp>
      <p:sp>
        <p:nvSpPr>
          <p:cNvPr id="193"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194" name="Picture 3" descr="s16-replicacion-isr.png"/>
          <p:cNvPicPr/>
          <p:nvPr/>
        </p:nvPicPr>
        <p:blipFill>
          <a:blip r:embed="rId3"/>
          <a:stretch/>
        </p:blipFill>
        <p:spPr>
          <a:xfrm>
            <a:off x="1523880" y="1554480"/>
            <a:ext cx="9143640" cy="4571640"/>
          </a:xfrm>
          <a:prstGeom prst="rect">
            <a:avLst/>
          </a:prstGeom>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La tríada de la durabilidad: acks, RF y min.ISR</a:t>
            </a:r>
            <a:endParaRPr lang="es-MX" sz="2400" b="0" strike="noStrike" spc="-1">
              <a:solidFill>
                <a:schemeClr val="dk1"/>
              </a:solidFill>
              <a:latin typeface="Calibri"/>
            </a:endParaRPr>
          </a:p>
        </p:txBody>
      </p:sp>
      <p:sp>
        <p:nvSpPr>
          <p:cNvPr id="19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Tres perillas que juntas responden "¿cuán seguro está mi evento?":</a:t>
            </a:r>
            <a:br>
              <a:rPr sz="2200"/>
            </a:br>
            <a:r>
              <a:rPr lang="es-MX" sz="2400" b="1" strike="noStrike" spc="-1">
                <a:solidFill>
                  <a:srgbClr val="1F3864"/>
                </a:solidFill>
                <a:latin typeface="Neue Haas Grotesk Text Pro"/>
              </a:rPr>
              <a:t>factor de replicación · min.insync.replicas · acks del productor.</a:t>
            </a:r>
            <a:br>
              <a:rPr sz="2200"/>
            </a:br>
            <a:r>
              <a:rPr lang="es-MX" sz="2400" b="1" strike="noStrike" spc="-1">
                <a:solidFill>
                  <a:srgbClr val="1F3864"/>
                </a:solidFill>
                <a:latin typeface="Neue Haas Grotesk Text Pro"/>
              </a:rPr>
              <a:t>Se calibran en conjunto.</a:t>
            </a:r>
            <a:endParaRPr lang="es-MX" sz="2400" b="0" strike="noStrike" spc="-1">
              <a:solidFill>
                <a:schemeClr val="dk1"/>
              </a:solidFill>
              <a:latin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Cuando un broker cae: el momento de la verdad</a:t>
            </a:r>
            <a:endParaRPr lang="es-MX" sz="2400" b="0" strike="noStrike" spc="-1">
              <a:solidFill>
                <a:schemeClr val="dk1"/>
              </a:solidFill>
              <a:latin typeface="Calibri"/>
            </a:endParaRPr>
          </a:p>
        </p:txBody>
      </p:sp>
      <p:sp>
        <p:nvSpPr>
          <p:cNvPr id="198"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Cae el líder → Kafka lo detecta → promueve una réplica del ISR →</a:t>
            </a:r>
            <a:br>
              <a:rPr sz="2200"/>
            </a:br>
            <a:r>
              <a:rPr lang="es-MX" sz="2400" b="1" strike="noStrike" spc="-1">
                <a:solidFill>
                  <a:srgbClr val="1F3864"/>
                </a:solidFill>
                <a:latin typeface="Neue Haas Grotesk Text Pro"/>
              </a:rPr>
              <a:t>productores y consumidores redirigen → el servicio continúa. Sin humanos.</a:t>
            </a:r>
            <a:endParaRPr lang="es-MX" sz="2400" b="0" strike="noStrike" spc="-1">
              <a:solidFill>
                <a:schemeClr val="dk1"/>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límite honesto y el plano de control</a:t>
            </a:r>
            <a:endParaRPr lang="es-MX" sz="2800" b="0" strike="noStrike" spc="-1">
              <a:solidFill>
                <a:schemeClr val="dk1"/>
              </a:solidFill>
              <a:latin typeface="Calibri"/>
            </a:endParaRPr>
          </a:p>
        </p:txBody>
      </p:sp>
      <p:sp>
        <p:nvSpPr>
          <p:cNvPr id="20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Tolerar la caída de N brokers exige más de N réplicas al día — cuesta disco, red, latencia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clúster de 3 con RF 3 tolera perder 1 broker, no 2: la resiliencia se dimensiona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Y alguien lleva la cuenta de todo: el plano de control (metadatos)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Antes lo hacía ZooKeeper; Kafka 4.2 lo hace dentro, con KRaft → Unidad 2 completa</a:t>
            </a:r>
            <a:endParaRPr lang="es-MX" sz="1600" b="0" strike="noStrike" spc="-1">
              <a:solidFill>
                <a:schemeClr val="dk1"/>
              </a:solidFill>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1.3. Componentes de Confluent Platform 8.2.0</a:t>
            </a:r>
            <a:endParaRPr lang="es-MX" sz="3000" b="0" strike="noStrike" spc="-1">
              <a:solidFill>
                <a:schemeClr val="dk1"/>
              </a:solidFill>
              <a:latin typeface="Calibri"/>
            </a:endParaRPr>
          </a:p>
        </p:txBody>
      </p:sp>
      <p:sp>
        <p:nvSpPr>
          <p:cNvPr id="202"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Apache Kafka vs Confluent Platform</a:t>
            </a:r>
            <a:endParaRPr lang="es-MX" sz="2800" b="0" strike="noStrike" spc="-1">
              <a:solidFill>
                <a:schemeClr val="dk1"/>
              </a:solidFill>
              <a:latin typeface="Calibri"/>
            </a:endParaRPr>
          </a:p>
        </p:txBody>
      </p:sp>
      <p:sp>
        <p:nvSpPr>
          <p:cNvPr id="204" name="PlaceHolder 2"/>
          <p:cNvSpPr>
            <a:spLocks noGrp="1"/>
          </p:cNvSpPr>
          <p:nvPr>
            <p:ph/>
          </p:nvPr>
        </p:nvSpPr>
        <p:spPr>
          <a:xfrm>
            <a:off x="664920" y="1336680"/>
            <a:ext cx="5430600" cy="4696920"/>
          </a:xfrm>
          <a:prstGeom prst="rect">
            <a:avLst/>
          </a:prstGeom>
          <a:noFill/>
          <a:ln w="0">
            <a:noFill/>
          </a:ln>
        </p:spPr>
        <p:txBody>
          <a:bodyPr lIns="91440" tIns="45720" rIns="91440" bIns="45720" anchor="t">
            <a:noAutofit/>
          </a:bodyPr>
          <a:lstStyle/>
          <a:p>
            <a:pPr marL="343080" indent="-343080" defTabSz="914400">
              <a:lnSpc>
                <a:spcPct val="90000"/>
              </a:lnSpc>
              <a:spcBef>
                <a:spcPts val="1001"/>
              </a:spcBef>
              <a:buClr>
                <a:srgbClr val="4472C4"/>
              </a:buClr>
              <a:buFont typeface="Arial"/>
              <a:buChar char="•"/>
            </a:pPr>
            <a:r>
              <a:rPr lang="es-MX" sz="1900" b="1" strike="noStrike" spc="-1">
                <a:solidFill>
                  <a:srgbClr val="4472C4"/>
                </a:solidFill>
                <a:latin typeface="Neue Haas Grotesk Text Pro"/>
              </a:rPr>
              <a:t>Apache Kafka</a:t>
            </a:r>
            <a:endParaRPr lang="es-MX" sz="19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Proyecto open source</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El núcleo: brokers, tópicos, el log</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La estructura distribuida</a:t>
            </a:r>
            <a:endParaRPr lang="es-MX" sz="1500" b="0" strike="noStrike" spc="-1">
              <a:solidFill>
                <a:schemeClr val="dk1"/>
              </a:solidFill>
              <a:latin typeface="Calibri"/>
            </a:endParaRPr>
          </a:p>
        </p:txBody>
      </p:sp>
      <p:sp>
        <p:nvSpPr>
          <p:cNvPr id="205" name="PlaceHolder 3"/>
          <p:cNvSpPr>
            <a:spLocks noGrp="1"/>
          </p:cNvSpPr>
          <p:nvPr>
            <p:ph/>
          </p:nvPr>
        </p:nvSpPr>
        <p:spPr>
          <a:xfrm>
            <a:off x="6174360" y="1336680"/>
            <a:ext cx="5430600" cy="4696920"/>
          </a:xfrm>
          <a:prstGeom prst="rect">
            <a:avLst/>
          </a:prstGeom>
          <a:noFill/>
          <a:ln w="0">
            <a:noFill/>
          </a:ln>
        </p:spPr>
        <p:txBody>
          <a:bodyPr lIns="91440" tIns="45720" rIns="91440" bIns="45720" anchor="t">
            <a:noAutofit/>
          </a:bodyPr>
          <a:lstStyle/>
          <a:p>
            <a:pPr marL="343080" indent="-343080" defTabSz="914400">
              <a:lnSpc>
                <a:spcPct val="90000"/>
              </a:lnSpc>
              <a:spcBef>
                <a:spcPts val="1001"/>
              </a:spcBef>
              <a:buClr>
                <a:srgbClr val="4472C4"/>
              </a:buClr>
              <a:buFont typeface="Arial"/>
              <a:buChar char="•"/>
            </a:pPr>
            <a:r>
              <a:rPr lang="es-MX" sz="1900" b="1" strike="noStrike" spc="-1">
                <a:solidFill>
                  <a:srgbClr val="4472C4"/>
                </a:solidFill>
                <a:latin typeface="Neue Haas Grotesk Text Pro"/>
              </a:rPr>
              <a:t>Confluent Platform 8.2.0</a:t>
            </a:r>
            <a:endParaRPr lang="es-MX" sz="19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Empaqueta y extiende Kafka</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Componentes empresariales</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Este curso trabaja aquí, en KRaft</a:t>
            </a:r>
            <a:endParaRPr lang="es-MX" sz="1500" b="0" strike="noStrike" spc="-1">
              <a:solidFill>
                <a:schemeClr val="dk1"/>
              </a:solidFill>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El ecosistema en una imagen</a:t>
            </a:r>
            <a:endParaRPr lang="es-MX" sz="3200" b="0" strike="noStrike" spc="-1">
              <a:solidFill>
                <a:schemeClr val="dk1"/>
              </a:solidFill>
              <a:latin typeface="Calibri"/>
            </a:endParaRPr>
          </a:p>
        </p:txBody>
      </p:sp>
      <p:sp>
        <p:nvSpPr>
          <p:cNvPr id="207"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08" name="Picture 3" descr="s22-ecosistema.png"/>
          <p:cNvPicPr/>
          <p:nvPr/>
        </p:nvPicPr>
        <p:blipFill>
          <a:blip r:embed="rId3"/>
          <a:stretch/>
        </p:blipFill>
        <p:spPr>
          <a:xfrm>
            <a:off x="1981080" y="1554480"/>
            <a:ext cx="8229240" cy="4754520"/>
          </a:xfrm>
          <a:prstGeom prst="rect">
            <a:avLst/>
          </a:prstGeom>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Cómo se conectan: todo pasa por Kafka</a:t>
            </a:r>
            <a:endParaRPr lang="es-MX" sz="2800" b="0" strike="noStrike" spc="-1">
              <a:solidFill>
                <a:schemeClr val="dk1"/>
              </a:solidFill>
              <a:latin typeface="Calibri"/>
            </a:endParaRPr>
          </a:p>
        </p:txBody>
      </p:sp>
      <p:sp>
        <p:nvSpPr>
          <p:cNvPr id="21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Connect escribe/lee tópicos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Schema Registry guarda esquemas en un tópico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ksqlDB consume y produce tópicos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REST Proxy traduce HTTP a protocolo Kafka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 es el sustrato; el resto, especialistas conectados</a:t>
            </a:r>
            <a:endParaRPr lang="es-MX" sz="1600" b="0" strike="noStrike" spc="-1">
              <a:solidFill>
                <a:schemeClr val="dk1"/>
              </a:solidFill>
              <a:latin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Kafka Connect: integración sin código</a:t>
            </a:r>
            <a:endParaRPr lang="es-MX" sz="2800" b="0" strike="noStrike" spc="-1">
              <a:solidFill>
                <a:schemeClr val="dk1"/>
              </a:solidFill>
              <a:latin typeface="Calibri"/>
            </a:endParaRPr>
          </a:p>
        </p:txBody>
      </p:sp>
      <p:sp>
        <p:nvSpPr>
          <p:cNvPr id="21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Mueve datos entre Kafka y sistemas externos con connectors configurables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Source (hacia Kafka) y Sink (desde Kafka)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Piezas operativas: workers, tasks, offsets</a:t>
            </a:r>
            <a:endParaRPr lang="es-MX" sz="1600" b="0" strike="noStrike" spc="-1">
              <a:solidFill>
                <a:schemeClr val="dk1"/>
              </a:solidFill>
              <a:latin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Schema Registry: el notario de los datos</a:t>
            </a:r>
            <a:endParaRPr lang="es-MX" sz="2800" b="0" strike="noStrike" spc="-1">
              <a:solidFill>
                <a:schemeClr val="dk1"/>
              </a:solidFill>
              <a:latin typeface="Calibri"/>
            </a:endParaRPr>
          </a:p>
        </p:txBody>
      </p:sp>
      <p:sp>
        <p:nvSpPr>
          <p:cNvPr id="214"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Registra y versiona esquemas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Verifica compatibilidad: BACKWARD, FORWARD, FULL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Impide publicar mensajes que rompan el contrato con los consumidores existentes</a:t>
            </a:r>
            <a:endParaRPr lang="es-MX" sz="1600" b="0" strike="noStrike" spc="-1">
              <a:solidFill>
                <a:schemeClr val="dk1"/>
              </a:solidFill>
              <a:latin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ksqlDB y REST Proxy</a:t>
            </a:r>
            <a:endParaRPr lang="es-MX" sz="3200" b="0" strike="noStrike" spc="-1">
              <a:solidFill>
                <a:schemeClr val="dk1"/>
              </a:solidFill>
              <a:latin typeface="Calibri"/>
            </a:endParaRPr>
          </a:p>
        </p:txBody>
      </p:sp>
      <p:sp>
        <p:nvSpPr>
          <p:cNvPr id="216" name="PlaceHolder 2"/>
          <p:cNvSpPr>
            <a:spLocks noGrp="1"/>
          </p:cNvSpPr>
          <p:nvPr>
            <p:ph/>
          </p:nvPr>
        </p:nvSpPr>
        <p:spPr>
          <a:xfrm>
            <a:off x="664920" y="1336680"/>
            <a:ext cx="5430600" cy="4696920"/>
          </a:xfrm>
          <a:prstGeom prst="rect">
            <a:avLst/>
          </a:prstGeom>
          <a:noFill/>
          <a:ln w="0">
            <a:noFill/>
          </a:ln>
        </p:spPr>
        <p:txBody>
          <a:bodyPr lIns="91440" tIns="45720" rIns="91440" bIns="45720" anchor="t">
            <a:noAutofit/>
          </a:bodyPr>
          <a:lstStyle/>
          <a:p>
            <a:pPr marL="343080" indent="-343080" defTabSz="914400">
              <a:lnSpc>
                <a:spcPct val="90000"/>
              </a:lnSpc>
              <a:spcBef>
                <a:spcPts val="1001"/>
              </a:spcBef>
              <a:buClr>
                <a:srgbClr val="4472C4"/>
              </a:buClr>
              <a:buFont typeface="Arial"/>
              <a:buChar char="•"/>
            </a:pPr>
            <a:r>
              <a:rPr lang="es-MX" sz="1900" b="1" strike="noStrike" spc="-1">
                <a:solidFill>
                  <a:srgbClr val="4472C4"/>
                </a:solidFill>
                <a:latin typeface="Neue Haas Grotesk Text Pro"/>
              </a:rPr>
              <a:t>ksqlDB</a:t>
            </a:r>
            <a:endParaRPr lang="es-MX" sz="19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SQL sobre flujos en movimiento</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STREAM, TABLE, consultas persistentes</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Lab 12</a:t>
            </a:r>
            <a:endParaRPr lang="es-MX" sz="1500" b="0" strike="noStrike" spc="-1">
              <a:solidFill>
                <a:schemeClr val="dk1"/>
              </a:solidFill>
              <a:latin typeface="Calibri"/>
            </a:endParaRPr>
          </a:p>
        </p:txBody>
      </p:sp>
      <p:sp>
        <p:nvSpPr>
          <p:cNvPr id="217" name="PlaceHolder 3"/>
          <p:cNvSpPr>
            <a:spLocks noGrp="1"/>
          </p:cNvSpPr>
          <p:nvPr>
            <p:ph/>
          </p:nvPr>
        </p:nvSpPr>
        <p:spPr>
          <a:xfrm>
            <a:off x="6174360" y="1336680"/>
            <a:ext cx="5430600" cy="4696920"/>
          </a:xfrm>
          <a:prstGeom prst="rect">
            <a:avLst/>
          </a:prstGeom>
          <a:noFill/>
          <a:ln w="0">
            <a:noFill/>
          </a:ln>
        </p:spPr>
        <p:txBody>
          <a:bodyPr lIns="91440" tIns="45720" rIns="91440" bIns="45720" anchor="t">
            <a:noAutofit/>
          </a:bodyPr>
          <a:lstStyle/>
          <a:p>
            <a:pPr marL="343080" indent="-343080" defTabSz="914400">
              <a:lnSpc>
                <a:spcPct val="90000"/>
              </a:lnSpc>
              <a:spcBef>
                <a:spcPts val="1001"/>
              </a:spcBef>
              <a:buClr>
                <a:srgbClr val="4472C4"/>
              </a:buClr>
              <a:buFont typeface="Arial"/>
              <a:buChar char="•"/>
            </a:pPr>
            <a:r>
              <a:rPr lang="es-MX" sz="1900" b="1" strike="noStrike" spc="-1">
                <a:solidFill>
                  <a:srgbClr val="4472C4"/>
                </a:solidFill>
                <a:latin typeface="Neue Haas Grotesk Text Pro"/>
              </a:rPr>
              <a:t>REST Proxy</a:t>
            </a:r>
            <a:endParaRPr lang="es-MX" sz="19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Kafka sobre HTTP</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Para quien no habla protocolo Kafka</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Cómodo, pero con costo · Lab 10</a:t>
            </a:r>
            <a:endParaRPr lang="es-MX" sz="1500" b="0" strike="noStrike" spc="-1">
              <a:solidFill>
                <a:schemeClr val="dk1"/>
              </a:solidFill>
              <a:latin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Exploración visual y operación</a:t>
            </a:r>
            <a:endParaRPr lang="es-MX" sz="3200" b="0" strike="noStrike" spc="-1">
              <a:solidFill>
                <a:schemeClr val="dk1"/>
              </a:solidFill>
              <a:latin typeface="Calibri"/>
            </a:endParaRPr>
          </a:p>
        </p:txBody>
      </p:sp>
      <p:sp>
        <p:nvSpPr>
          <p:cNvPr id="21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Interfaces gráficas para explorar tópicos/mensajes sin CLI</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temario nombra "Landoop" → descontinuado e incompatible con Kafka 4.x</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curso usa Kafbat UI, su reemplazo comunitario activo (ADR-001)</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Confluent CLI y Control Center para operar y observar</a:t>
            </a:r>
            <a:endParaRPr lang="es-MX" sz="1600" b="0" strike="noStrike" spc="-1">
              <a:solidFill>
                <a:schemeClr val="dk1"/>
              </a:solidFill>
              <a:latin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El stack real + mapa componente → laboratorio</a:t>
            </a:r>
            <a:endParaRPr lang="es-MX" sz="2400" b="0" strike="noStrike" spc="-1">
              <a:solidFill>
                <a:schemeClr val="dk1"/>
              </a:solidFill>
              <a:latin typeface="Calibri"/>
            </a:endParaRPr>
          </a:p>
        </p:txBody>
      </p:sp>
      <p:sp>
        <p:nvSpPr>
          <p:cNvPr id="22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22" name="Picture 3" descr="s28-componente-lab.png"/>
          <p:cNvPicPr/>
          <p:nvPr/>
        </p:nvPicPr>
        <p:blipFill>
          <a:blip r:embed="rId3"/>
          <a:stretch/>
        </p:blipFill>
        <p:spPr>
          <a:xfrm>
            <a:off x="1619280" y="1554480"/>
            <a:ext cx="8953200" cy="4571640"/>
          </a:xfrm>
          <a:prstGeom prst="rect">
            <a:avLst/>
          </a:prstGeom>
          <a:ln w="0">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p:nvPr>
        </p:nvSpPr>
        <p:spPr>
          <a:xfrm>
            <a:off x="950760" y="2004840"/>
            <a:ext cx="7555320" cy="3573360"/>
          </a:xfrm>
          <a:prstGeom prst="rect">
            <a:avLst/>
          </a:prstGeom>
          <a:noFill/>
          <a:ln w="0">
            <a:noFill/>
          </a:ln>
        </p:spPr>
        <p:txBody>
          <a:bodyPr lIns="91440" tIns="45720" rIns="91440" bIns="45720" anchor="t">
            <a:noAutofit/>
          </a:bodyPr>
          <a:lstStyle/>
          <a:p>
            <a:pPr marL="228600" indent="-228600" algn="just" defTabSz="914400">
              <a:lnSpc>
                <a:spcPct val="100000"/>
              </a:lnSpc>
              <a:spcBef>
                <a:spcPts val="1001"/>
              </a:spcBef>
              <a:buClr>
                <a:srgbClr val="1F3864"/>
              </a:buClr>
              <a:buFont typeface="Arial"/>
              <a:buChar char="•"/>
            </a:pPr>
            <a:r>
              <a:rPr lang="es-MX" sz="1800" b="1" strike="noStrike" spc="-1">
                <a:solidFill>
                  <a:srgbClr val="1F3864"/>
                </a:solidFill>
                <a:latin typeface="Neue Haas Grotesk Text Pro"/>
              </a:rPr>
              <a:t>1 · Kafka desacopla sistemas vía un log de eventos inmutables con clave</a:t>
            </a:r>
            <a:endParaRPr lang="es-MX" sz="18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800" b="1" strike="noStrike" spc="-1">
                <a:solidFill>
                  <a:srgbClr val="1F3864"/>
                </a:solidFill>
                <a:latin typeface="Neue Haas Grotesk Text Pro"/>
              </a:rPr>
              <a:t>2 · Su arquitectura distribuida (particiones, réplicas, ISR) da durabilidad y tolerancia a fallos</a:t>
            </a:r>
            <a:endParaRPr lang="es-MX" sz="18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800" b="1" strike="noStrike" spc="-1">
                <a:solidFill>
                  <a:srgbClr val="1F3864"/>
                </a:solidFill>
                <a:latin typeface="Neue Haas Grotesk Text Pro"/>
              </a:rPr>
              <a:t>3 · Confluent Platform rodea ese núcleo con un ecosistema de especialistas</a:t>
            </a:r>
            <a:endParaRPr lang="es-MX" sz="1800" b="0" strike="noStrike" spc="-1">
              <a:solidFill>
                <a:schemeClr val="dk1"/>
              </a:solidFill>
              <a:latin typeface="Calibri"/>
            </a:endParaRPr>
          </a:p>
          <a:p>
            <a:pPr marL="228600" indent="-228600" algn="just" defTabSz="914400">
              <a:lnSpc>
                <a:spcPct val="100000"/>
              </a:lnSpc>
              <a:spcBef>
                <a:spcPts val="1001"/>
              </a:spcBef>
              <a:buClr>
                <a:srgbClr val="7F7F7F"/>
              </a:buClr>
              <a:buFont typeface="Arial"/>
              <a:buChar char="•"/>
            </a:pPr>
            <a:r>
              <a:rPr lang="es-MX" sz="1600" b="0" strike="noStrike" spc="-1">
                <a:solidFill>
                  <a:srgbClr val="7F7F7F"/>
                </a:solidFill>
                <a:latin typeface="Neue Haas Grotesk Text Pro"/>
              </a:rPr>
              <a:t>Próximo capítulo: manos al clúster con KRaft — y los primeros laboratorios</a:t>
            </a:r>
            <a:endParaRPr lang="es-MX" sz="1600" b="0" strike="noStrike" spc="-1">
              <a:solidFill>
                <a:schemeClr val="dk1"/>
              </a:solidFill>
              <a:latin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Práctica: validación del entorno de laboratorio</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NovaTech contrató a tu equipo para operar su nueva plataforma de eventos. Antes de tocar un solo broker,</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un operador profesional certifica su herramienta de trabajo: si el entorno falla a mitad de un despliegue,</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el problema deja de ser Kafka y pasa a ser tu máquina. Hoy blindamos ese frente.</a:t>
            </a:r>
            <a:endParaRPr lang="es-MX" sz="1300" b="0" strike="noStrike" spc="-1">
              <a:solidFill>
                <a:schemeClr val="dk1"/>
              </a:solidFill>
              <a:latin typeface="Calibri"/>
            </a:endParaRPr>
          </a:p>
        </p:txBody>
      </p:sp>
      <p:sp>
        <p:nvSpPr>
          <p:cNvPr id="225"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Dejar el entorno Docker certificado y listo para los 14 laboratorios del curso.</a:t>
            </a:r>
            <a:endParaRPr lang="es-MX" sz="1400" b="0" strike="noStrike" spc="-1">
              <a:solidFill>
                <a:schemeClr val="dk1"/>
              </a:solidFill>
              <a:latin typeface="Calibri"/>
            </a:endParaRPr>
          </a:p>
        </p:txBody>
      </p:sp>
      <p:sp>
        <p:nvSpPr>
          <p:cNvPr id="226"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Verificar versiones de Docker y Docker Compose; revisar CPU, RAM y disco asignados; levantar un contenedor de prueba y confirmar que responde; registrar el resultado en la guía de validación del curso.</a:t>
            </a:r>
            <a:endParaRPr lang="es-MX" sz="1300" b="0" strike="noStrike" spc="-1">
              <a:solidFill>
                <a:schemeClr val="dk1"/>
              </a:solidFill>
              <a:latin typeface="Calibri"/>
            </a:endParaRPr>
          </a:p>
        </p:txBody>
      </p:sp>
      <p:sp>
        <p:nvSpPr>
          <p:cNvPr id="227"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30 min.</a:t>
            </a:r>
            <a:endParaRPr lang="es-MX" sz="1200" b="0" strike="noStrike" spc="-1">
              <a:solidFill>
                <a:schemeClr val="dk1"/>
              </a:solidFill>
              <a:latin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Resultado esperado</a:t>
            </a:r>
            <a:endParaRPr lang="es-MX" sz="2800" b="0" strike="noStrike" spc="-1">
              <a:solidFill>
                <a:schemeClr val="dk1"/>
              </a:solidFill>
              <a:latin typeface="Calibri"/>
            </a:endParaRPr>
          </a:p>
        </p:txBody>
      </p:sp>
      <p:sp>
        <p:nvSpPr>
          <p:cNvPr id="229"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Docker y Docker Compose operativos en la versión requerida por el curso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Recursos suficientes asignados: CPU, RAM y disco verificados para cargas multi-broker</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Un contenedor de prueba levanta, responde y se elimina limpiamente</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Checklist de validación completado y firmado en la guía del curso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Entorno certificado: puerta abierta al Lab 01 — Inicialización KRaft (Capítulo 2)</a:t>
            </a:r>
            <a:endParaRPr lang="es-MX" sz="1550" b="0" strike="noStrike" spc="-1">
              <a:solidFill>
                <a:schemeClr val="dk1"/>
              </a:solidFill>
              <a:latin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p:cNvSpPr>
          <p:nvPr>
            <p:ph/>
          </p:nvPr>
        </p:nvSpPr>
        <p:spPr>
          <a:xfrm>
            <a:off x="371160" y="2803680"/>
            <a:ext cx="7919640" cy="3421440"/>
          </a:xfrm>
          <a:prstGeom prst="rect">
            <a:avLst/>
          </a:prstGeom>
          <a:noFill/>
          <a:ln w="0">
            <a:noFill/>
          </a:ln>
        </p:spPr>
        <p:txBody>
          <a:bodyPr lIns="91440" tIns="45720" rIns="91440" bIns="45720" anchor="t">
            <a:noAutofit/>
          </a:bodyPr>
          <a:lstStyle/>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Documentación oficial de Apache Kafka — kafka.apache.org/documentation</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Documentación de Confluent Platform — docs.confluent.io/platform/current</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Kafbat UI (sucesor comunitario de UI for Apache Kafka) — github.com/kafbat/kafka-ui · docs: ui.docs.kafbat.io</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Kleppmann, M. — Designing Data-Intensive Applications (O’Reilly): capítulo de logs y sistemas basados en eventos</a:t>
            </a:r>
            <a:endParaRPr lang="es-MX" sz="1400" b="0" strike="noStrike" spc="-1">
              <a:solidFill>
                <a:schemeClr val="dk1"/>
              </a:solidFill>
              <a:latin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PlaceHolder 1"/>
          <p:cNvSpPr>
            <a:spLocks noGrp="1"/>
          </p:cNvSpPr>
          <p:nvPr>
            <p:ph/>
          </p:nvPr>
        </p:nvSpPr>
        <p:spPr>
          <a:xfrm>
            <a:off x="6240240" y="1011240"/>
            <a:ext cx="5278320" cy="1694520"/>
          </a:xfrm>
          <a:prstGeom prst="rect">
            <a:avLst/>
          </a:prstGeom>
          <a:noFill/>
          <a:ln w="0">
            <a:noFill/>
          </a:ln>
        </p:spPr>
        <p:txBody>
          <a:bodyPr lIns="91440" tIns="45720" rIns="91440" bIns="45720" anchor="t">
            <a:noAutofit/>
          </a:bodyPr>
          <a:lstStyle/>
          <a:p>
            <a:pPr marL="228600" indent="-228600" algn="just" defTabSz="914400">
              <a:lnSpc>
                <a:spcPct val="100000"/>
              </a:lnSpc>
              <a:buClr>
                <a:srgbClr val="4472C4"/>
              </a:buClr>
              <a:buFont typeface="Arial"/>
              <a:buChar char="•"/>
            </a:pPr>
            <a:r>
              <a:rPr lang="es-MX" sz="1400" b="1" strike="noStrike" spc="-1">
                <a:solidFill>
                  <a:srgbClr val="4472C4"/>
                </a:solidFill>
                <a:latin typeface="Neue Haas Grotesk Text Pro"/>
              </a:rPr>
              <a:t>Al terminar este capítulo:</a:t>
            </a:r>
            <a:endParaRPr lang="es-MX" sz="14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Entender el plano de control KRaft y su quorum</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Dominar los parámetros que definen un nodo</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Inicializar y validar un clúster real (Labs 01 y 02)</a:t>
            </a:r>
            <a:endParaRPr lang="es-MX" sz="1200" b="0" strike="noStrike" spc="-1">
              <a:solidFill>
                <a:schemeClr val="dk1"/>
              </a:solidFill>
              <a:latin typeface="Calibri"/>
            </a:endParaRPr>
          </a:p>
        </p:txBody>
      </p:sp>
      <p:sp>
        <p:nvSpPr>
          <p:cNvPr id="232" name="PlaceHolder 2"/>
          <p:cNvSpPr>
            <a:spLocks noGrp="1"/>
          </p:cNvSpPr>
          <p:nvPr>
            <p:ph type="title"/>
          </p:nvPr>
        </p:nvSpPr>
        <p:spPr>
          <a:xfrm>
            <a:off x="576000" y="1124640"/>
            <a:ext cx="5375160" cy="3172680"/>
          </a:xfrm>
          <a:prstGeom prst="rect">
            <a:avLst/>
          </a:prstGeom>
          <a:noFill/>
          <a:ln w="0">
            <a:noFill/>
          </a:ln>
        </p:spPr>
        <p:txBody>
          <a:bodyPr lIns="91440" tIns="45720" rIns="91440" bIns="45720" anchor="b">
            <a:noAutofit/>
          </a:bodyPr>
          <a:lstStyle/>
          <a:p>
            <a:pPr indent="0" defTabSz="914400">
              <a:lnSpc>
                <a:spcPct val="90000"/>
              </a:lnSpc>
              <a:buNone/>
            </a:pPr>
            <a:r>
              <a:rPr lang="es-MX" sz="8000" b="1" strike="noStrike" spc="-1">
                <a:solidFill>
                  <a:schemeClr val="dk1"/>
                </a:solidFill>
                <a:latin typeface="Neue Haas Grotesk Text Pro"/>
              </a:rPr>
              <a:t>Capítulo 2</a:t>
            </a:r>
            <a:endParaRPr lang="es-MX" sz="8000" b="0" strike="noStrike" spc="-1">
              <a:solidFill>
                <a:schemeClr val="dk1"/>
              </a:solidFill>
              <a:latin typeface="Calibri"/>
            </a:endParaRPr>
          </a:p>
        </p:txBody>
      </p:sp>
      <p:sp>
        <p:nvSpPr>
          <p:cNvPr id="233" name="PlaceHolder 3"/>
          <p:cNvSpPr>
            <a:spLocks noGrp="1"/>
          </p:cNvSpPr>
          <p:nvPr>
            <p:ph/>
          </p:nvPr>
        </p:nvSpPr>
        <p:spPr>
          <a:xfrm>
            <a:off x="576000" y="4689360"/>
            <a:ext cx="11025000" cy="14871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2800" b="0" strike="noStrike" spc="-1">
                <a:solidFill>
                  <a:srgbClr val="1F3864"/>
                </a:solidFill>
                <a:latin typeface="Neue Haas Grotesk Text Pro"/>
              </a:rPr>
              <a:t>KRaft — metadatos, quorum y resiliencia</a:t>
            </a:r>
            <a:endParaRPr lang="es-MX" sz="2800" b="0" strike="noStrike" spc="-1">
              <a:solidFill>
                <a:schemeClr val="dk1"/>
              </a:solidFill>
              <a:latin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2600" b="1" strike="noStrike" spc="-1">
                <a:solidFill>
                  <a:srgbClr val="1F3864"/>
                </a:solidFill>
                <a:latin typeface="Neue Haas Grotesk Text Pro"/>
              </a:rPr>
              <a:t>2.1. KRaft a fondo: roles, líder de metadatos y tolerancia a fallos</a:t>
            </a:r>
            <a:endParaRPr lang="es-MX" sz="2600" b="0" strike="noStrike" spc="-1">
              <a:solidFill>
                <a:schemeClr val="dk1"/>
              </a:solidFill>
              <a:latin typeface="Calibri"/>
            </a:endParaRPr>
          </a:p>
        </p:txBody>
      </p:sp>
      <p:sp>
        <p:nvSpPr>
          <p:cNvPr id="235"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Recap: el plano de control</a:t>
            </a:r>
            <a:endParaRPr lang="es-MX" sz="3200" b="0" strike="noStrike" spc="-1">
              <a:solidFill>
                <a:schemeClr val="dk1"/>
              </a:solidFill>
              <a:latin typeface="Calibri"/>
            </a:endParaRPr>
          </a:p>
        </p:txBody>
      </p:sp>
      <p:sp>
        <p:nvSpPr>
          <p:cNvPr id="237"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Plano de datos = los eventos (lo del Capítulo 1)</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Plano de control = los metadatos: qué brokers hay, qué particiones existen, quién lidera, quién está en el ISR</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 se pierde el consenso sobre la metadata, el clúster no sabe quién manda</a:t>
            </a:r>
            <a:endParaRPr lang="es-MX" sz="1600" b="0" strike="noStrike" spc="-1">
              <a:solidFill>
                <a:schemeClr val="dk1"/>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La era ZooKeeper: el inquilino externo</a:t>
            </a:r>
            <a:endParaRPr lang="es-MX" sz="2800" b="0" strike="noStrike" spc="-1">
              <a:solidFill>
                <a:schemeClr val="dk1"/>
              </a:solidFill>
              <a:latin typeface="Calibri"/>
            </a:endParaRPr>
          </a:p>
        </p:txBody>
      </p:sp>
      <p:sp>
        <p:nvSpPr>
          <p:cNvPr id="23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Durante años, Kafka guardó su metadata en ZooKeeper: un sistema de consenso SEPARADO.</a:t>
            </a:r>
            <a:br>
              <a:rPr sz="2200"/>
            </a:br>
            <a:r>
              <a:rPr lang="es-MX" sz="2400" b="1" strike="noStrike" spc="-1">
                <a:solidFill>
                  <a:srgbClr val="1F3864"/>
                </a:solidFill>
                <a:latin typeface="Neue Haas Grotesk Text Pro"/>
              </a:rPr>
              <a:t>Dos sistemas que operar, asegurar y actualizar. Un salto de red hasta tu propia verdad.</a:t>
            </a:r>
            <a:endParaRPr lang="es-MX" sz="2400" b="0" strike="noStrike" spc="-1">
              <a:solidFill>
                <a:schemeClr val="dk1"/>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KRaft: la metadata se muda adentro</a:t>
            </a:r>
            <a:endParaRPr lang="es-MX" sz="2800" b="0" strike="noStrike" spc="-1">
              <a:solidFill>
                <a:schemeClr val="dk1"/>
              </a:solidFill>
              <a:latin typeface="Calibri"/>
            </a:endParaRPr>
          </a:p>
        </p:txBody>
      </p:sp>
      <p:sp>
        <p:nvSpPr>
          <p:cNvPr id="24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KRaft (Kafka Raft) mete el consenso de metadatos DENTRO de Kafka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subconjunto de nodos asume el rol de controladores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 metadata vive como un log de eventos replicado (__cluster_metadata)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Sin ZooKeeper. Un solo sistema, un solo modelo mental</a:t>
            </a:r>
            <a:endParaRPr lang="es-MX" sz="1600" b="0" strike="noStrike" spc="-1">
              <a:solidFill>
                <a:schemeClr val="dk1"/>
              </a:solidFill>
              <a:latin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process.roles: tres formas de ser un nodo</a:t>
            </a:r>
            <a:endParaRPr lang="es-MX" sz="2800" b="0" strike="noStrike" spc="-1">
              <a:solidFill>
                <a:schemeClr val="dk1"/>
              </a:solidFill>
              <a:latin typeface="Calibri"/>
            </a:endParaRPr>
          </a:p>
        </p:txBody>
      </p:sp>
      <p:sp>
        <p:nvSpPr>
          <p:cNvPr id="243"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44" name="Picture 3" descr="c2-roles.png"/>
          <p:cNvPicPr/>
          <p:nvPr/>
        </p:nvPicPr>
        <p:blipFill>
          <a:blip r:embed="rId3"/>
          <a:stretch/>
        </p:blipFill>
        <p:spPr>
          <a:xfrm>
            <a:off x="1108440" y="1554480"/>
            <a:ext cx="9974880" cy="4571640"/>
          </a:xfrm>
          <a:prstGeom prst="rect">
            <a:avLst/>
          </a:prstGeom>
          <a:ln w="0">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El quorum de controladores y el líder de metadatos</a:t>
            </a:r>
            <a:endParaRPr lang="es-MX" sz="2400" b="0" strike="noStrike" spc="-1">
              <a:solidFill>
                <a:schemeClr val="dk1"/>
              </a:solidFill>
              <a:latin typeface="Calibri"/>
            </a:endParaRPr>
          </a:p>
        </p:txBody>
      </p:sp>
      <p:sp>
        <p:nvSpPr>
          <p:cNvPr id="24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Los controladores forman un quorum impar (3 o 5) que vota.</a:t>
            </a:r>
            <a:br>
              <a:rPr sz="2200"/>
            </a:br>
            <a:r>
              <a:rPr lang="es-MX" sz="2400" b="1" strike="noStrike" spc="-1">
                <a:solidFill>
                  <a:srgbClr val="1F3864"/>
                </a:solidFill>
                <a:latin typeface="Neue Haas Grotesk Text Pro"/>
              </a:rPr>
              <a:t>Uno es el líder de metadatos (active controller); el resto replica.</a:t>
            </a:r>
            <a:br>
              <a:rPr sz="2200"/>
            </a:br>
            <a:r>
              <a:rPr lang="es-MX" sz="2400" b="1" strike="noStrike" spc="-1">
                <a:solidFill>
                  <a:srgbClr val="1F3864"/>
                </a:solidFill>
                <a:latin typeface="Neue Haas Grotesk Text Pro"/>
              </a:rPr>
              <a:t>Si el líder cae, el quorum ELIGE uno nuevo.</a:t>
            </a:r>
            <a:endParaRPr lang="es-MX" sz="2400" b="0" strike="noStrike" spc="-1">
              <a:solidFill>
                <a:schemeClr val="dk1"/>
              </a:solidFill>
              <a:latin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Raft: cómo se ponen de acuerdo</a:t>
            </a:r>
            <a:endParaRPr lang="es-MX" sz="3200" b="0" strike="noStrike" spc="-1">
              <a:solidFill>
                <a:schemeClr val="dk1"/>
              </a:solidFill>
              <a:latin typeface="Calibri"/>
            </a:endParaRPr>
          </a:p>
        </p:txBody>
      </p:sp>
      <p:sp>
        <p:nvSpPr>
          <p:cNvPr id="248"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Raft es el algoritmo de consenso del quorum</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Una escritura de metadata se confirma cuando la MAYORÍA la registró</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 3 controladores la mayoría es 2; con 5, es 3</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Mayoría = verdad única: nunca dos versiones de la realidad</a:t>
            </a:r>
            <a:endParaRPr lang="es-MX" sz="1600" b="0" strike="noStrike" spc="-1">
              <a:solidFill>
                <a:schemeClr val="dk1"/>
              </a:solidFill>
              <a:latin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Cuántos controladores puedo perder</a:t>
            </a:r>
            <a:endParaRPr lang="es-MX" sz="2800" b="0" strike="noStrike" spc="-1">
              <a:solidFill>
                <a:schemeClr val="dk1"/>
              </a:solidFill>
              <a:latin typeface="Calibri"/>
            </a:endParaRPr>
          </a:p>
        </p:txBody>
      </p:sp>
      <p:sp>
        <p:nvSpPr>
          <p:cNvPr id="25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51" name="Picture 3" descr="c2-tolerancia.png"/>
          <p:cNvPicPr/>
          <p:nvPr/>
        </p:nvPicPr>
        <p:blipFill>
          <a:blip r:embed="rId3"/>
          <a:stretch/>
        </p:blipFill>
        <p:spPr>
          <a:xfrm>
            <a:off x="1108440" y="1554480"/>
            <a:ext cx="9974880" cy="4571640"/>
          </a:xfrm>
          <a:prstGeom prst="rect">
            <a:avLst/>
          </a:prstGeom>
          <a:ln w="0">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Por qué esto es mejor: el cierre honesto</a:t>
            </a:r>
            <a:endParaRPr lang="es-MX" sz="2800" b="0" strike="noStrike" spc="-1">
              <a:solidFill>
                <a:schemeClr val="dk1"/>
              </a:solidFill>
              <a:latin typeface="Calibri"/>
            </a:endParaRPr>
          </a:p>
        </p:txBody>
      </p:sp>
      <p:sp>
        <p:nvSpPr>
          <p:cNvPr id="253"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Menos piezas: un sistema, no dos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Arranque y recuperación más rápidos; más particiones soportadas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solo modelo de seguridad y operación</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 4.x es KRaft-only: ZooKeeper ya no existe como opción</a:t>
            </a:r>
            <a:endParaRPr lang="es-MX" sz="1600" b="0" strike="noStrike" spc="-1">
              <a:solidFill>
                <a:schemeClr val="dk1"/>
              </a:solidFill>
              <a:latin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600" b="1" strike="noStrike" spc="-1">
                <a:solidFill>
                  <a:srgbClr val="1F3864"/>
                </a:solidFill>
                <a:latin typeface="Neue Haas Grotesk Text Pro"/>
              </a:rPr>
              <a:t>2.2. Parámetros clave de KRaft</a:t>
            </a:r>
            <a:endParaRPr lang="es-MX" sz="3600" b="0" strike="noStrike" spc="-1">
              <a:solidFill>
                <a:schemeClr val="dk1"/>
              </a:solidFill>
              <a:latin typeface="Calibri"/>
            </a:endParaRPr>
          </a:p>
        </p:txBody>
      </p:sp>
      <p:sp>
        <p:nvSpPr>
          <p:cNvPr id="255"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carnet de identidad de un nodo KRaft</a:t>
            </a:r>
            <a:endParaRPr lang="es-MX" sz="2800" b="0" strike="noStrike" spc="-1">
              <a:solidFill>
                <a:schemeClr val="dk1"/>
              </a:solidFill>
              <a:latin typeface="Calibri"/>
            </a:endParaRPr>
          </a:p>
        </p:txBody>
      </p:sp>
      <p:sp>
        <p:nvSpPr>
          <p:cNvPr id="257"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58" name="Picture 3" descr="c2-carnet.png"/>
          <p:cNvPicPr/>
          <p:nvPr/>
        </p:nvPicPr>
        <p:blipFill>
          <a:blip r:embed="rId3"/>
          <a:stretch/>
        </p:blipFill>
        <p:spPr>
          <a:xfrm>
            <a:off x="992520" y="1554480"/>
            <a:ext cx="10206720" cy="4571640"/>
          </a:xfrm>
          <a:prstGeom prst="rect">
            <a:avLst/>
          </a:prstGeom>
          <a:ln w="0">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controller.quorum.voters: la libreta del directorio</a:t>
            </a:r>
            <a:endParaRPr lang="es-MX" sz="2400" b="0" strike="noStrike" spc="-1">
              <a:solidFill>
                <a:schemeClr val="dk1"/>
              </a:solidFill>
              <a:latin typeface="Calibri"/>
            </a:endParaRPr>
          </a:p>
        </p:txBody>
      </p:sp>
      <p:sp>
        <p:nvSpPr>
          <p:cNvPr id="26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Lista de los controladores del quorum: formato id@host:puerto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Ejemplo: 1@ctrl1:9093,2@ctrl2:9093,3@ctrl3:9093</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Todos los nodos la conocen: a quién pedirle metadata, con quién votar</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 la lista no calza entre nodos, el quorum NO se forma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 4.x moderno: con Dynamic Quorum se usa controller.quorum.bootstrap.servers</a:t>
            </a:r>
            <a:endParaRPr lang="es-MX" sz="1600" b="0" strike="noStrike" spc="-1">
              <a:solidFill>
                <a:schemeClr val="dk1"/>
              </a:solidFill>
              <a:latin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Listeners: la línea privada del directorio</a:t>
            </a:r>
            <a:endParaRPr lang="es-MX" sz="2800" b="0" strike="noStrike" spc="-1">
              <a:solidFill>
                <a:schemeClr val="dk1"/>
              </a:solidFill>
              <a:latin typeface="Calibri"/>
            </a:endParaRPr>
          </a:p>
        </p:txBody>
      </p:sp>
      <p:sp>
        <p:nvSpPr>
          <p:cNvPr id="26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nodo puede exponer varios listeners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controller.listener.names designa el del tráfico entre controladores (votos, replicación de metadata)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Los demás listeners atienden a clientes y brokers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Separar el consenso del ruido de datos</a:t>
            </a:r>
            <a:endParaRPr lang="es-MX" sz="1600" b="0" strike="noStrike" spc="-1">
              <a:solidFill>
                <a:schemeClr val="dk1"/>
              </a:solidFill>
              <a:latin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kafka-storage.sh: el acta de nacimiento del clúster</a:t>
            </a:r>
            <a:endParaRPr lang="es-MX" sz="2400" b="0" strike="noStrike" spc="-1">
              <a:solidFill>
                <a:schemeClr val="dk1"/>
              </a:solidFill>
              <a:latin typeface="Calibri"/>
            </a:endParaRPr>
          </a:p>
        </p:txBody>
      </p:sp>
      <p:sp>
        <p:nvSpPr>
          <p:cNvPr id="264"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1F3864"/>
              </a:buClr>
              <a:buFont typeface="Arial"/>
              <a:buChar char="•"/>
            </a:pPr>
            <a:r>
              <a:rPr lang="es-MX" sz="2400" b="1" strike="noStrike" spc="-1">
                <a:solidFill>
                  <a:srgbClr val="1F3864"/>
                </a:solidFill>
                <a:latin typeface="Neue Haas Grotesk Text Pro"/>
              </a:rPr>
              <a:t>Antes de arrancar, cada nodo se formatea con kafka-storage.sh:</a:t>
            </a:r>
            <a:br>
              <a:rPr sz="2200"/>
            </a:br>
            <a:r>
              <a:rPr lang="es-MX" sz="2400" b="1" strike="noStrike" spc="-1">
                <a:solidFill>
                  <a:srgbClr val="1F3864"/>
                </a:solidFill>
                <a:latin typeface="Neue Haas Grotesk Text Pro"/>
              </a:rPr>
              <a:t>1) generar un cluster id (UUID único del clúster)</a:t>
            </a:r>
            <a:br>
              <a:rPr sz="2200"/>
            </a:br>
            <a:r>
              <a:rPr lang="es-MX" sz="2400" b="1" strike="noStrike" spc="-1">
                <a:solidFill>
                  <a:srgbClr val="1F3864"/>
                </a:solidFill>
                <a:latin typeface="Neue Haas Grotesk Text Pro"/>
              </a:rPr>
              <a:t>2) formatear el log de metadata de cada nodo con ese id.</a:t>
            </a:r>
            <a:br>
              <a:rPr sz="2200"/>
            </a:br>
            <a:r>
              <a:rPr lang="es-MX" sz="2400" b="1" strike="noStrike" spc="-1">
                <a:solidFill>
                  <a:srgbClr val="1F3864"/>
                </a:solidFill>
                <a:latin typeface="Neue Haas Grotesk Text Pro"/>
              </a:rPr>
              <a:t>Sin acta, el nodo no sabe a qué familia pertenece.</a:t>
            </a:r>
            <a:endParaRPr lang="es-MX" sz="2400" b="0" strike="noStrike" spc="-1">
              <a:solidFill>
                <a:schemeClr val="dk1"/>
              </a:solidFill>
              <a:latin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Del UUID al clúster vivo: el arranque en 5 pasos</a:t>
            </a:r>
            <a:endParaRPr lang="es-MX" sz="2400" b="0" strike="noStrike" spc="-1">
              <a:solidFill>
                <a:schemeClr val="dk1"/>
              </a:solidFill>
              <a:latin typeface="Calibri"/>
            </a:endParaRPr>
          </a:p>
        </p:txBody>
      </p:sp>
      <p:sp>
        <p:nvSpPr>
          <p:cNvPr id="26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67" name="Picture 3" descr="c2-arranque.png"/>
          <p:cNvPicPr/>
          <p:nvPr/>
        </p:nvPicPr>
        <p:blipFill>
          <a:blip r:embed="rId3"/>
          <a:stretch/>
        </p:blipFill>
        <p:spPr>
          <a:xfrm>
            <a:off x="700920" y="1554480"/>
            <a:ext cx="10789560" cy="4183560"/>
          </a:xfrm>
          <a:prstGeom prst="rect">
            <a:avLst/>
          </a:prstGeom>
          <a:ln w="0">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2.3. Dimensionamiento del quorum y Dynamic Quorum</a:t>
            </a:r>
            <a:endParaRPr lang="es-MX" sz="3000" b="0" strike="noStrike" spc="-1">
              <a:solidFill>
                <a:schemeClr val="dk1"/>
              </a:solidFill>
              <a:latin typeface="Calibri"/>
            </a:endParaRPr>
          </a:p>
        </p:txBody>
      </p:sp>
      <p:sp>
        <p:nvSpPr>
          <p:cNvPr id="269"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¿3 o 5 controladores? La decisión con criterio</a:t>
            </a:r>
            <a:endParaRPr lang="es-MX" sz="2400" b="0" strike="noStrike" spc="-1">
              <a:solidFill>
                <a:schemeClr val="dk1"/>
              </a:solidFill>
              <a:latin typeface="Calibri"/>
            </a:endParaRPr>
          </a:p>
        </p:txBody>
      </p:sp>
      <p:sp>
        <p:nvSpPr>
          <p:cNvPr id="271" name="PlaceHolder 2"/>
          <p:cNvSpPr>
            <a:spLocks noGrp="1"/>
          </p:cNvSpPr>
          <p:nvPr>
            <p:ph/>
          </p:nvPr>
        </p:nvSpPr>
        <p:spPr>
          <a:xfrm>
            <a:off x="664920" y="1336680"/>
            <a:ext cx="5430600" cy="4696920"/>
          </a:xfrm>
          <a:prstGeom prst="rect">
            <a:avLst/>
          </a:prstGeom>
          <a:noFill/>
          <a:ln w="0">
            <a:noFill/>
          </a:ln>
        </p:spPr>
        <p:txBody>
          <a:bodyPr lIns="91440" tIns="45720" rIns="91440" bIns="45720" anchor="t">
            <a:noAutofit/>
          </a:bodyPr>
          <a:lstStyle/>
          <a:p>
            <a:pPr marL="343080" indent="-343080" defTabSz="914400">
              <a:lnSpc>
                <a:spcPct val="90000"/>
              </a:lnSpc>
              <a:spcBef>
                <a:spcPts val="1001"/>
              </a:spcBef>
              <a:buClr>
                <a:srgbClr val="4472C4"/>
              </a:buClr>
              <a:buFont typeface="Arial"/>
              <a:buChar char="•"/>
            </a:pPr>
            <a:r>
              <a:rPr lang="es-MX" sz="1900" b="1" strike="noStrike" spc="-1">
                <a:solidFill>
                  <a:srgbClr val="4472C4"/>
                </a:solidFill>
                <a:latin typeface="Neue Haas Grotesk Text Pro"/>
              </a:rPr>
              <a:t>Quorum de 3</a:t>
            </a:r>
            <a:endParaRPr lang="es-MX" sz="19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Tolera 1 caída · mayoría = 2</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Menos overhead de consenso</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Cubre la gran mayoría de los casos</a:t>
            </a:r>
            <a:endParaRPr lang="es-MX" sz="1500" b="0" strike="noStrike" spc="-1">
              <a:solidFill>
                <a:schemeClr val="dk1"/>
              </a:solidFill>
              <a:latin typeface="Calibri"/>
            </a:endParaRPr>
          </a:p>
        </p:txBody>
      </p:sp>
      <p:sp>
        <p:nvSpPr>
          <p:cNvPr id="272" name="PlaceHolder 3"/>
          <p:cNvSpPr>
            <a:spLocks noGrp="1"/>
          </p:cNvSpPr>
          <p:nvPr>
            <p:ph/>
          </p:nvPr>
        </p:nvSpPr>
        <p:spPr>
          <a:xfrm>
            <a:off x="6174360" y="1336680"/>
            <a:ext cx="5430600" cy="4696920"/>
          </a:xfrm>
          <a:prstGeom prst="rect">
            <a:avLst/>
          </a:prstGeom>
          <a:noFill/>
          <a:ln w="0">
            <a:noFill/>
          </a:ln>
        </p:spPr>
        <p:txBody>
          <a:bodyPr lIns="91440" tIns="45720" rIns="91440" bIns="45720" anchor="t">
            <a:noAutofit/>
          </a:bodyPr>
          <a:lstStyle/>
          <a:p>
            <a:pPr marL="343080" indent="-343080" defTabSz="914400">
              <a:lnSpc>
                <a:spcPct val="90000"/>
              </a:lnSpc>
              <a:spcBef>
                <a:spcPts val="1001"/>
              </a:spcBef>
              <a:buClr>
                <a:srgbClr val="4472C4"/>
              </a:buClr>
              <a:buFont typeface="Arial"/>
              <a:buChar char="•"/>
            </a:pPr>
            <a:r>
              <a:rPr lang="es-MX" sz="1900" b="1" strike="noStrike" spc="-1">
                <a:solidFill>
                  <a:srgbClr val="4472C4"/>
                </a:solidFill>
                <a:latin typeface="Neue Haas Grotesk Text Pro"/>
              </a:rPr>
              <a:t>Quorum de 5</a:t>
            </a:r>
            <a:endParaRPr lang="es-MX" sz="19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Tolera 2 caídas · mayoría = 3</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Más tráfico de replicación</a:t>
            </a:r>
            <a:endParaRPr lang="es-MX" sz="1500" b="0" strike="noStrike" spc="-1">
              <a:solidFill>
                <a:schemeClr val="dk1"/>
              </a:solidFill>
              <a:latin typeface="Calibri"/>
            </a:endParaRPr>
          </a:p>
          <a:p>
            <a:pPr marL="343080" indent="-343080" defTabSz="914400">
              <a:lnSpc>
                <a:spcPct val="90000"/>
              </a:lnSpc>
              <a:spcBef>
                <a:spcPts val="1001"/>
              </a:spcBef>
              <a:buClr>
                <a:srgbClr val="262626"/>
              </a:buClr>
              <a:buFont typeface="Arial"/>
              <a:buChar char="•"/>
            </a:pPr>
            <a:r>
              <a:rPr lang="es-MX" sz="1500" b="0" strike="noStrike" spc="-1">
                <a:solidFill>
                  <a:srgbClr val="262626"/>
                </a:solidFill>
                <a:latin typeface="Neue Haas Grotesk Text Pro"/>
              </a:rPr>
              <a:t>Para requisitos duros: multi-rack, multi-AZ</a:t>
            </a:r>
            <a:endParaRPr lang="es-MX" sz="1500" b="0" strike="noStrike" spc="-1">
              <a:solidFill>
                <a:schemeClr val="dk1"/>
              </a:solidFill>
              <a:latin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Por qué SIEMPRE impar</a:t>
            </a:r>
            <a:endParaRPr lang="es-MX" sz="3200" b="0" strike="noStrike" spc="-1">
              <a:solidFill>
                <a:schemeClr val="dk1"/>
              </a:solidFill>
              <a:latin typeface="Calibri"/>
            </a:endParaRPr>
          </a:p>
        </p:txBody>
      </p:sp>
      <p:sp>
        <p:nvSpPr>
          <p:cNvPr id="274"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 número par, el empate es posible (2 vs 2): no hay mayoría clara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Impar garantiza mayoría estricta siempre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4 controladores toleran lo mismo que 3 (una caída) pero cuestan más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 peor de ambos mundos: por eso nadie usa pares</a:t>
            </a:r>
            <a:endParaRPr lang="es-MX" sz="1600" b="0" strike="noStrike" spc="-1">
              <a:solidFill>
                <a:schemeClr val="dk1"/>
              </a:solidFill>
              <a:latin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Dynamic Quorum: cambiar el directorio en caliente</a:t>
            </a:r>
            <a:endParaRPr lang="es-MX" sz="2400" b="0" strike="noStrike" spc="-1">
              <a:solidFill>
                <a:schemeClr val="dk1"/>
              </a:solidFill>
              <a:latin typeface="Calibri"/>
            </a:endParaRPr>
          </a:p>
        </p:txBody>
      </p:sp>
      <p:sp>
        <p:nvSpPr>
          <p:cNvPr id="27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Históricamente el quorum era estático: la libreta controller.quorum.voters, fija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Dynamic Quorum (KIP-853) permite agregar y quitar controladores en caliente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Sin reformatear, sin parar el clúster: kafka-metadata-quorum.sh gestiona los votantes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controlador nuevo entra primero como observador; cuando alcanza al líder, se suma al quorum</a:t>
            </a:r>
            <a:endParaRPr lang="es-MX" sz="1600" b="0" strike="noStrike" spc="-1">
              <a:solidFill>
                <a:schemeClr val="dk1"/>
              </a:solidFill>
              <a:latin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p:nvPr>
        </p:nvSpPr>
        <p:spPr>
          <a:xfrm>
            <a:off x="950760" y="2004840"/>
            <a:ext cx="7555320" cy="3573360"/>
          </a:xfrm>
          <a:prstGeom prst="rect">
            <a:avLst/>
          </a:prstGeom>
          <a:noFill/>
          <a:ln w="0">
            <a:noFill/>
          </a:ln>
        </p:spPr>
        <p:txBody>
          <a:bodyPr lIns="91440" tIns="45720" rIns="91440" bIns="45720" anchor="t">
            <a:noAutofit/>
          </a:bodyPr>
          <a:lstStyle/>
          <a:p>
            <a:pPr marL="228600" indent="-228600" algn="just" defTabSz="914400">
              <a:lnSpc>
                <a:spcPct val="100000"/>
              </a:lnSpc>
              <a:spcBef>
                <a:spcPts val="1001"/>
              </a:spcBef>
              <a:buClr>
                <a:srgbClr val="1F3864"/>
              </a:buClr>
              <a:buFont typeface="Arial"/>
              <a:buChar char="•"/>
            </a:pPr>
            <a:r>
              <a:rPr lang="es-MX" sz="1700" b="1" strike="noStrike" spc="-1">
                <a:solidFill>
                  <a:srgbClr val="1F3864"/>
                </a:solidFill>
                <a:latin typeface="Neue Haas Grotesk Text Pro"/>
              </a:rPr>
              <a:t>1 · KRaft interioriza la metadata como un log replicado — sin ZooKeeper</a:t>
            </a:r>
            <a:endParaRPr lang="es-MX" sz="17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700" b="1" strike="noStrike" spc="-1">
                <a:solidFill>
                  <a:srgbClr val="1F3864"/>
                </a:solidFill>
                <a:latin typeface="Neue Haas Grotesk Text Pro"/>
              </a:rPr>
              <a:t>2 · Los controladores forman un quorum impar que vota; Raft = mayoría = verdad única</a:t>
            </a:r>
            <a:endParaRPr lang="es-MX" sz="17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700" b="1" strike="noStrike" spc="-1">
                <a:solidFill>
                  <a:srgbClr val="1F3864"/>
                </a:solidFill>
                <a:latin typeface="Neue Haas Grotesk Text Pro"/>
              </a:rPr>
              <a:t>3 · Los parámetros son el carnet del nodo; kafka-storage.sh, su acta de nacimiento</a:t>
            </a:r>
            <a:endParaRPr lang="es-MX" sz="17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700" b="1" strike="noStrike" spc="-1">
                <a:solidFill>
                  <a:srgbClr val="1F3864"/>
                </a:solidFill>
                <a:latin typeface="Neue Haas Grotesk Text Pro"/>
              </a:rPr>
              <a:t>4 · Se dimensiona impar (3 o 5); el Dynamic Quorum lo flexibiliza en caliente</a:t>
            </a:r>
            <a:endParaRPr lang="es-MX" sz="1700" b="0" strike="noStrike" spc="-1">
              <a:solidFill>
                <a:schemeClr val="dk1"/>
              </a:solidFill>
              <a:latin typeface="Calibri"/>
            </a:endParaRPr>
          </a:p>
          <a:p>
            <a:pPr marL="228600" indent="-228600" algn="just" defTabSz="914400">
              <a:lnSpc>
                <a:spcPct val="100000"/>
              </a:lnSpc>
              <a:spcBef>
                <a:spcPts val="1001"/>
              </a:spcBef>
              <a:buClr>
                <a:srgbClr val="7F7F7F"/>
              </a:buClr>
              <a:buFont typeface="Arial"/>
              <a:buChar char="•"/>
            </a:pPr>
            <a:r>
              <a:rPr lang="es-MX" sz="1600" b="0" strike="noStrike" spc="-1">
                <a:solidFill>
                  <a:srgbClr val="7F7F7F"/>
                </a:solidFill>
                <a:latin typeface="Neue Haas Grotesk Text Pro"/>
              </a:rPr>
              <a:t>Ahora: la terminal — Labs 01 y 02</a:t>
            </a:r>
            <a:endParaRPr lang="es-MX" sz="1600" b="0" strike="noStrike" spc="-1">
              <a:solidFill>
                <a:schemeClr val="dk1"/>
              </a:solidFill>
              <a:latin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01 · Inicialización KRaft</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NovaTech aprobó la plataforma de eventos. El primer encargo de tu equipo: dar a luz el clúster.</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Hoy generas el folio único del clúster (cluster id), inscribes a cada nodo bajo ese folio con</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kafka-storage.sh y haces el bootstrap del quorum de tres controladores — sin ZooKeeper.</a:t>
            </a:r>
            <a:endParaRPr lang="es-MX" sz="1300" b="0" strike="noStrike" spc="-1">
              <a:solidFill>
                <a:schemeClr val="dk1"/>
              </a:solidFill>
              <a:latin typeface="Calibri"/>
            </a:endParaRPr>
          </a:p>
        </p:txBody>
      </p:sp>
      <p:sp>
        <p:nvSpPr>
          <p:cNvPr id="279"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Formatear el log de metadatos y hacer el bootstrap de un quorum de tres controladores con kafka-storage.sh.</a:t>
            </a:r>
            <a:endParaRPr lang="es-MX" sz="1400" b="0" strike="noStrike" spc="-1">
              <a:solidFill>
                <a:schemeClr val="dk1"/>
              </a:solidFill>
              <a:latin typeface="Calibri"/>
            </a:endParaRPr>
          </a:p>
        </p:txBody>
      </p:sp>
      <p:sp>
        <p:nvSpPr>
          <p:cNvPr id="280"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01 paso a paso; generar el cluster id; formatear cada nodo; arrancar el quorum; provocar y diagnosticar el InconsistentClusterIdException; validar el avance con bin/90-test-lab.sh.</a:t>
            </a:r>
            <a:endParaRPr lang="es-MX" sz="1300" b="0" strike="noStrike" spc="-1">
              <a:solidFill>
                <a:schemeClr val="dk1"/>
              </a:solidFill>
              <a:latin typeface="Calibri"/>
            </a:endParaRPr>
          </a:p>
        </p:txBody>
      </p:sp>
      <p:sp>
        <p:nvSpPr>
          <p:cNvPr id="281"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01 · Resultado esperado</a:t>
            </a:r>
            <a:endParaRPr lang="es-MX" sz="2800" b="0" strike="noStrike" spc="-1">
              <a:solidFill>
                <a:schemeClr val="dk1"/>
              </a:solidFill>
              <a:latin typeface="Calibri"/>
            </a:endParaRPr>
          </a:p>
        </p:txBody>
      </p:sp>
      <p:sp>
        <p:nvSpPr>
          <p:cNvPr id="283"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Cluster id generado y compartido por los tres controladores (un solo folio)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Los tres nodos formateados con kafka-storage.sh sin errores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Quorum formado: un líder de metadatos electo y dos seguidores replicando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error InconsistentClusterIdException provocado, comprendido y corregido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 el clúster nació sano y sin ZooKeeper</a:t>
            </a:r>
            <a:endParaRPr lang="es-MX" sz="1550" b="0" strike="noStrike" spc="-1">
              <a:solidFill>
                <a:schemeClr val="dk1"/>
              </a:solidFill>
              <a:latin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02 · Validación de quorum y prueba de resiliencia</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El clúster de NovaTech ya respira. Pero un clúster que no ha demostrado sobrevivir a un fallo</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es una promesa, no una garantía. Hoy inspeccionas el quorum por dentro con kafka-metadata-quorum.sh</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luego haces lo impensable: apagas un controlador en vivo — para ver la reelección con tus propios ojos.</a:t>
            </a:r>
            <a:endParaRPr lang="es-MX" sz="1300" b="0" strike="noStrike" spc="-1">
              <a:solidFill>
                <a:schemeClr val="dk1"/>
              </a:solidFill>
              <a:latin typeface="Calibri"/>
            </a:endParaRPr>
          </a:p>
        </p:txBody>
      </p:sp>
      <p:sp>
        <p:nvSpPr>
          <p:cNvPr id="285"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Validar el estado del quorum y ejecutar una prueba real de resiliencia del plano de control.</a:t>
            </a:r>
            <a:endParaRPr lang="es-MX" sz="1400" b="0" strike="noStrike" spc="-1">
              <a:solidFill>
                <a:schemeClr val="dk1"/>
              </a:solidFill>
              <a:latin typeface="Calibri"/>
            </a:endParaRPr>
          </a:p>
        </p:txBody>
      </p:sp>
      <p:sp>
        <p:nvSpPr>
          <p:cNvPr id="286"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02; inspeccionar quorum y líder con kafka-metadata-quorum.sh; apagar un controlador; verificar la reelección del líder y la continuidad del servicio; validar con bin/90-test-lab.sh.</a:t>
            </a:r>
            <a:endParaRPr lang="es-MX" sz="1300" b="0" strike="noStrike" spc="-1">
              <a:solidFill>
                <a:schemeClr val="dk1"/>
              </a:solidFill>
              <a:latin typeface="Calibri"/>
            </a:endParaRPr>
          </a:p>
        </p:txBody>
      </p:sp>
      <p:sp>
        <p:nvSpPr>
          <p:cNvPr id="287"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02 · Resultado esperado</a:t>
            </a:r>
            <a:endParaRPr lang="es-MX" sz="2800" b="0" strike="noStrike" spc="-1">
              <a:solidFill>
                <a:schemeClr val="dk1"/>
              </a:solidFill>
              <a:latin typeface="Calibri"/>
            </a:endParaRPr>
          </a:p>
        </p:txBody>
      </p:sp>
      <p:sp>
        <p:nvSpPr>
          <p:cNvPr id="289"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Estado del quorum inspeccionado: líder de metadatos y seguidores identificados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Un controlador apagado deliberadamente con el clúster en operación</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Reelección observada: un seguidor al día promovido a líder de metadatos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Continuidad verificada: el servicio nunca se detuvo durante el fallo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 la resiliencia dejó de ser una promesa</a:t>
            </a:r>
            <a:endParaRPr lang="es-MX" sz="1550" b="0" strike="noStrike" spc="-1">
              <a:solidFill>
                <a:schemeClr val="dk1"/>
              </a:solidFill>
              <a:latin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p:nvPr>
        </p:nvSpPr>
        <p:spPr>
          <a:xfrm>
            <a:off x="371160" y="2803680"/>
            <a:ext cx="7919640" cy="3421440"/>
          </a:xfrm>
          <a:prstGeom prst="rect">
            <a:avLst/>
          </a:prstGeom>
          <a:noFill/>
          <a:ln w="0">
            <a:noFill/>
          </a:ln>
        </p:spPr>
        <p:txBody>
          <a:bodyPr lIns="91440" tIns="45720" rIns="91440" bIns="45720" anchor="t">
            <a:noAutofit/>
          </a:bodyPr>
          <a:lstStyle/>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Apache Kafka — Documentación de KRaft (operación y configuración) — kafka.apache.org/documentation</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KIP-853: KRaft Controller Membership Changes (Dynamic Quorum) — cwiki.apache.org/confluence/display/KAFKA</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Confluent Platform — Configuración de KRaft — docs.confluent.io/platform/current</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Ongaro, D. &amp; Ousterhout, J. — In Search of an Understandable Consensus Algorithm (paper original de Raft)</a:t>
            </a:r>
            <a:endParaRPr lang="es-MX" sz="1400" b="0" strike="noStrike" spc="-1">
              <a:solidFill>
                <a:schemeClr val="dk1"/>
              </a:solidFill>
              <a:latin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p:nvPr>
        </p:nvSpPr>
        <p:spPr>
          <a:xfrm>
            <a:off x="6240240" y="1011240"/>
            <a:ext cx="5278320" cy="1694520"/>
          </a:xfrm>
          <a:prstGeom prst="rect">
            <a:avLst/>
          </a:prstGeom>
          <a:noFill/>
          <a:ln w="0">
            <a:noFill/>
          </a:ln>
        </p:spPr>
        <p:txBody>
          <a:bodyPr lIns="91440" tIns="45720" rIns="91440" bIns="45720" anchor="t">
            <a:noAutofit/>
          </a:bodyPr>
          <a:lstStyle/>
          <a:p>
            <a:pPr marL="228600" indent="-228600" algn="just" defTabSz="914400">
              <a:lnSpc>
                <a:spcPct val="100000"/>
              </a:lnSpc>
              <a:buClr>
                <a:srgbClr val="4472C4"/>
              </a:buClr>
              <a:buFont typeface="Arial"/>
              <a:buChar char="•"/>
            </a:pPr>
            <a:r>
              <a:rPr lang="es-MX" sz="1400" b="1" strike="noStrike" spc="-1">
                <a:solidFill>
                  <a:srgbClr val="4472C4"/>
                </a:solidFill>
                <a:latin typeface="Neue Haas Grotesk Text Pro"/>
              </a:rPr>
              <a:t>Al terminar este capítulo:</a:t>
            </a:r>
            <a:endParaRPr lang="es-MX" sz="14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Configurar y exponer brokers correctamente</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Administrar tópicos y su ciclo de vida</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Medir rendimiento y mantener el clúster en caliente</a:t>
            </a:r>
            <a:endParaRPr lang="es-MX" sz="1200" b="0" strike="noStrike" spc="-1">
              <a:solidFill>
                <a:schemeClr val="dk1"/>
              </a:solidFill>
              <a:latin typeface="Calibri"/>
            </a:endParaRPr>
          </a:p>
        </p:txBody>
      </p:sp>
      <p:sp>
        <p:nvSpPr>
          <p:cNvPr id="292" name="PlaceHolder 2"/>
          <p:cNvSpPr>
            <a:spLocks noGrp="1"/>
          </p:cNvSpPr>
          <p:nvPr>
            <p:ph type="title"/>
          </p:nvPr>
        </p:nvSpPr>
        <p:spPr>
          <a:xfrm>
            <a:off x="576000" y="1124640"/>
            <a:ext cx="5375160" cy="3172680"/>
          </a:xfrm>
          <a:prstGeom prst="rect">
            <a:avLst/>
          </a:prstGeom>
          <a:noFill/>
          <a:ln w="0">
            <a:noFill/>
          </a:ln>
        </p:spPr>
        <p:txBody>
          <a:bodyPr lIns="91440" tIns="45720" rIns="91440" bIns="45720" anchor="b">
            <a:noAutofit/>
          </a:bodyPr>
          <a:lstStyle/>
          <a:p>
            <a:pPr indent="0" defTabSz="914400">
              <a:lnSpc>
                <a:spcPct val="90000"/>
              </a:lnSpc>
              <a:buNone/>
            </a:pPr>
            <a:r>
              <a:rPr lang="es-MX" sz="8000" b="1" strike="noStrike" spc="-1">
                <a:solidFill>
                  <a:schemeClr val="dk1"/>
                </a:solidFill>
                <a:latin typeface="Neue Haas Grotesk Text Pro"/>
              </a:rPr>
              <a:t>Capítulo 3</a:t>
            </a:r>
            <a:endParaRPr lang="es-MX" sz="8000" b="0" strike="noStrike" spc="-1">
              <a:solidFill>
                <a:schemeClr val="dk1"/>
              </a:solidFill>
              <a:latin typeface="Calibri"/>
            </a:endParaRPr>
          </a:p>
        </p:txBody>
      </p:sp>
      <p:sp>
        <p:nvSpPr>
          <p:cNvPr id="293" name="PlaceHolder 3"/>
          <p:cNvSpPr>
            <a:spLocks noGrp="1"/>
          </p:cNvSpPr>
          <p:nvPr>
            <p:ph/>
          </p:nvPr>
        </p:nvSpPr>
        <p:spPr>
          <a:xfrm>
            <a:off x="576000" y="4689360"/>
            <a:ext cx="11025000" cy="14871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2800" b="0" strike="noStrike" spc="-1">
                <a:solidFill>
                  <a:srgbClr val="1F3864"/>
                </a:solidFill>
                <a:latin typeface="Neue Haas Grotesk Text Pro"/>
              </a:rPr>
              <a:t>Configuración del clúster, tópicos y rendimiento</a:t>
            </a:r>
            <a:endParaRPr lang="es-MX" sz="2800" b="0" strike="noStrike" spc="-1">
              <a:solidFill>
                <a:schemeClr val="dk1"/>
              </a:solidFill>
              <a:latin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El mapa de la unidad: seis prácticos, un hilo</a:t>
            </a:r>
            <a:endParaRPr lang="es-MX" sz="2400" b="0" strike="noStrike" spc="-1">
              <a:solidFill>
                <a:schemeClr val="dk1"/>
              </a:solidFill>
              <a:latin typeface="Calibri"/>
            </a:endParaRPr>
          </a:p>
        </p:txBody>
      </p:sp>
      <p:sp>
        <p:nvSpPr>
          <p:cNvPr id="295"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296" name="Picture 3" descr="c3-progresion.png"/>
          <p:cNvPicPr/>
          <p:nvPr/>
        </p:nvPicPr>
        <p:blipFill>
          <a:blip r:embed="rId3"/>
          <a:stretch/>
        </p:blipFill>
        <p:spPr>
          <a:xfrm>
            <a:off x="700920" y="1554480"/>
            <a:ext cx="10789560" cy="3735360"/>
          </a:xfrm>
          <a:prstGeom prst="rect">
            <a:avLst/>
          </a:prstGeom>
          <a:ln w="0">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3.1. Configuración e inicialización de brokers</a:t>
            </a:r>
            <a:endParaRPr lang="es-MX" sz="3000" b="0" strike="noStrike" spc="-1">
              <a:solidFill>
                <a:schemeClr val="dk1"/>
              </a:solidFill>
              <a:latin typeface="Calibri"/>
            </a:endParaRPr>
          </a:p>
        </p:txBody>
      </p:sp>
      <p:sp>
        <p:nvSpPr>
          <p:cNvPr id="298"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El broker por dentro: los archivos que mandan</a:t>
            </a:r>
            <a:endParaRPr lang="es-MX" sz="2400" b="0" strike="noStrike" spc="-1">
              <a:solidFill>
                <a:schemeClr val="dk1"/>
              </a:solidFill>
              <a:latin typeface="Calibri"/>
            </a:endParaRPr>
          </a:p>
        </p:txBody>
      </p:sp>
      <p:sp>
        <p:nvSpPr>
          <p:cNvPr id="30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log.dirs: dónde viven los datos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listeners y puerto: por dónde atiende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node.id: quién es (más los parámetros base de KRaft del Cap 2)</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Configurar un broker es escribir su identidad y su comportamiento</a:t>
            </a:r>
            <a:endParaRPr lang="es-MX" sz="1600" b="0" strike="noStrike" spc="-1">
              <a:solidFill>
                <a:schemeClr val="dk1"/>
              </a:solidFill>
              <a:latin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Docker Compose: el clúster como código</a:t>
            </a:r>
            <a:endParaRPr lang="es-MX" sz="2800" b="0" strike="noStrike" spc="-1">
              <a:solidFill>
                <a:schemeClr val="dk1"/>
              </a:solidFill>
              <a:latin typeface="Calibri"/>
            </a:endParaRPr>
          </a:p>
        </p:txBody>
      </p:sp>
      <p:sp>
        <p:nvSpPr>
          <p:cNvPr id="30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Cada broker es un servicio con su configuración declarada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archivo describe el clúster completo; docker compose up lo materializa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Reproducible, versionable, desechable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Pueden romper y reconstruir el clúster mil veces sin miedo</a:t>
            </a:r>
            <a:endParaRPr lang="es-MX" sz="1600" b="0" strike="noStrike" spc="-1">
              <a:solidFill>
                <a:schemeClr val="dk1"/>
              </a:solidFill>
              <a:latin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3.2. Clúster multi-broker y advertised.listeners</a:t>
            </a:r>
            <a:endParaRPr lang="es-MX" sz="3000" b="0" strike="noStrike" spc="-1">
              <a:solidFill>
                <a:schemeClr val="dk1"/>
              </a:solidFill>
              <a:latin typeface="Calibri"/>
            </a:endParaRPr>
          </a:p>
        </p:txBody>
      </p:sp>
      <p:sp>
        <p:nvSpPr>
          <p:cNvPr id="304"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advertised.listeners: la dirección que el conserje entrega</a:t>
            </a:r>
            <a:endParaRPr lang="es-MX" sz="2400" b="0" strike="noStrike" spc="-1">
              <a:solidFill>
                <a:schemeClr val="dk1"/>
              </a:solidFill>
              <a:latin typeface="Calibri"/>
            </a:endParaRPr>
          </a:p>
        </p:txBody>
      </p:sp>
      <p:sp>
        <p:nvSpPr>
          <p:cNvPr id="30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07" name="Picture 3" descr="c3-listeners.png"/>
          <p:cNvPicPr/>
          <p:nvPr/>
        </p:nvPicPr>
        <p:blipFill>
          <a:blip r:embed="rId3"/>
          <a:stretch/>
        </p:blipFill>
        <p:spPr>
          <a:xfrm>
            <a:off x="1426680" y="1554480"/>
            <a:ext cx="9338040" cy="4571640"/>
          </a:xfrm>
          <a:prstGeom prst="rect">
            <a:avLst/>
          </a:prstGeom>
          <a:ln w="0">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Un clúster de varios: reparto y descubrimiento</a:t>
            </a:r>
            <a:endParaRPr lang="es-MX" sz="2400" b="0" strike="noStrike" spc="-1">
              <a:solidFill>
                <a:schemeClr val="dk1"/>
              </a:solidFill>
              <a:latin typeface="Calibri"/>
            </a:endParaRPr>
          </a:p>
        </p:txBody>
      </p:sp>
      <p:sp>
        <p:nvSpPr>
          <p:cNvPr id="30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Los brokers se descubren entre sí y reparten las particiones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cliente necesita UN broker de bootstrap para conocer a todos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 topología de red (interna vs externa, Docker vs host) determina qué anunciar</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 anunciado debe ser alcanzable desde donde el cliente vive</a:t>
            </a:r>
            <a:endParaRPr lang="es-MX" sz="1600" b="0" strike="noStrike" spc="-1">
              <a:solidFill>
                <a:schemeClr val="dk1"/>
              </a:solidFill>
              <a:latin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2600" b="1" strike="noStrike" spc="-1">
                <a:solidFill>
                  <a:srgbClr val="1F3864"/>
                </a:solidFill>
                <a:latin typeface="Neue Haas Grotesk Text Pro"/>
              </a:rPr>
              <a:t>3.3. Operación de tópicos y producción/consumo por consola</a:t>
            </a:r>
            <a:endParaRPr lang="es-MX" sz="2600" b="0" strike="noStrike" spc="-1">
              <a:solidFill>
                <a:schemeClr val="dk1"/>
              </a:solidFill>
              <a:latin typeface="Calibri"/>
            </a:endParaRPr>
          </a:p>
        </p:txBody>
      </p:sp>
      <p:sp>
        <p:nvSpPr>
          <p:cNvPr id="311"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Administrar tópicos: kafka-topics.sh</a:t>
            </a:r>
            <a:endParaRPr lang="es-MX" sz="2800" b="0" strike="noStrike" spc="-1">
              <a:solidFill>
                <a:schemeClr val="dk1"/>
              </a:solidFill>
              <a:latin typeface="Calibri"/>
            </a:endParaRPr>
          </a:p>
        </p:txBody>
      </p:sp>
      <p:sp>
        <p:nvSpPr>
          <p:cNvPr id="313"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Crear, listar, describir y modificar: particiones, factor de replicación, configuraciones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Crear un tópico es una decisión de diseño: particiones = techo de paralelismo; RF = durabilidad</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Las particiones se pueden AUMENTAR, nunca reducir (rompería el orden por clave)</a:t>
            </a:r>
            <a:endParaRPr lang="es-MX" sz="1600" b="0" strike="noStrike" spc="-1">
              <a:solidFill>
                <a:schemeClr val="dk1"/>
              </a:solidFill>
              <a:latin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El ciclo de vida del dato: retención por segmentos</a:t>
            </a:r>
            <a:endParaRPr lang="es-MX" sz="2400" b="0" strike="noStrike" spc="-1">
              <a:solidFill>
                <a:schemeClr val="dk1"/>
              </a:solidFill>
              <a:latin typeface="Calibri"/>
            </a:endParaRPr>
          </a:p>
        </p:txBody>
      </p:sp>
      <p:sp>
        <p:nvSpPr>
          <p:cNvPr id="315"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16" name="Picture 3" descr="c3-segmentos.png"/>
          <p:cNvPicPr/>
          <p:nvPr/>
        </p:nvPicPr>
        <p:blipFill>
          <a:blip r:embed="rId3"/>
          <a:stretch/>
        </p:blipFill>
        <p:spPr>
          <a:xfrm>
            <a:off x="700920" y="1554480"/>
            <a:ext cx="10789560" cy="4495320"/>
          </a:xfrm>
          <a:prstGeom prst="rect">
            <a:avLst/>
          </a:prstGeom>
          <a:ln w="0">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Producción y consumo desde la consola</a:t>
            </a:r>
            <a:endParaRPr lang="es-MX" sz="2800" b="0" strike="noStrike" spc="-1">
              <a:solidFill>
                <a:schemeClr val="dk1"/>
              </a:solidFill>
              <a:latin typeface="Calibri"/>
            </a:endParaRPr>
          </a:p>
        </p:txBody>
      </p:sp>
      <p:sp>
        <p:nvSpPr>
          <p:cNvPr id="318"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kafka-console-producer.sh inyecta mensajes; kafka-console-consumer.sh los lee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 --from-beginning se lee desde el offset 0; sin él, solo lo nuevo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consumidor avanza su offset a medida que lee: esa es su memoria</a:t>
            </a:r>
            <a:endParaRPr lang="es-MX" sz="1600" b="0" strike="noStrike" spc="-1">
              <a:solidFill>
                <a:schemeClr val="dk1"/>
              </a:solidFill>
              <a:latin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3.4. Rendimiento: I/O, red, memoria y CPU</a:t>
            </a:r>
            <a:endParaRPr lang="es-MX" sz="3000" b="0" strike="noStrike" spc="-1">
              <a:solidFill>
                <a:schemeClr val="dk1"/>
              </a:solidFill>
              <a:latin typeface="Calibri"/>
            </a:endParaRPr>
          </a:p>
        </p:txBody>
      </p:sp>
      <p:sp>
        <p:nvSpPr>
          <p:cNvPr id="320"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La cocina en hora punta: los cuatro recursos</a:t>
            </a:r>
            <a:endParaRPr lang="es-MX" sz="2400" b="0" strike="noStrike" spc="-1">
              <a:solidFill>
                <a:schemeClr val="dk1"/>
              </a:solidFill>
              <a:latin typeface="Calibri"/>
            </a:endParaRPr>
          </a:p>
        </p:txBody>
      </p:sp>
      <p:sp>
        <p:nvSpPr>
          <p:cNvPr id="32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23" name="Picture 3" descr="c3-recursos.png"/>
          <p:cNvPicPr/>
          <p:nvPr/>
        </p:nvPicPr>
        <p:blipFill>
          <a:blip r:embed="rId3"/>
          <a:stretch/>
        </p:blipFill>
        <p:spPr>
          <a:xfrm>
            <a:off x="1108440" y="1554480"/>
            <a:ext cx="9974880" cy="4571640"/>
          </a:xfrm>
          <a:prstGeom prst="rect">
            <a:avLst/>
          </a:prstGeom>
          <a:ln w="0">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page cache: el arma secreta de Kafka</a:t>
            </a:r>
            <a:endParaRPr lang="es-MX" sz="2800" b="0" strike="noStrike" spc="-1">
              <a:solidFill>
                <a:schemeClr val="dk1"/>
              </a:solidFill>
              <a:latin typeface="Calibri"/>
            </a:endParaRPr>
          </a:p>
        </p:txBody>
      </p:sp>
      <p:sp>
        <p:nvSpPr>
          <p:cNvPr id="325"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 casi no gestiona su propia caché: delega en el page cache del sistema operativo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Escritura secuencial (el SO la bufferiza) + lectura secuencial (se sirve desde RAM)</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Por eso Kafka vuela con hardware modesto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Contraintuitivo: dar TODA la RAM al heap de la JVM empeora el rendimiento</a:t>
            </a:r>
            <a:endParaRPr lang="es-MX" sz="1600" b="0" strike="noStrike" spc="-1">
              <a:solidFill>
                <a:schemeClr val="dk1"/>
              </a:solidFill>
              <a:latin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2600" b="1" strike="noStrike" spc="-1">
                <a:solidFill>
                  <a:srgbClr val="1F3864"/>
                </a:solidFill>
                <a:latin typeface="Neue Haas Grotesk Text Pro"/>
              </a:rPr>
              <a:t>3.5. Ubicación de réplicas y mantenimiento en caliente</a:t>
            </a:r>
            <a:endParaRPr lang="es-MX" sz="2600" b="0" strike="noStrike" spc="-1">
              <a:solidFill>
                <a:schemeClr val="dk1"/>
              </a:solidFill>
              <a:latin typeface="Calibri"/>
            </a:endParaRPr>
          </a:p>
        </p:txBody>
      </p:sp>
      <p:sp>
        <p:nvSpPr>
          <p:cNvPr id="327"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Dónde viven las réplicas y quién lidera</a:t>
            </a:r>
            <a:endParaRPr lang="es-MX" sz="2800" b="0" strike="noStrike" spc="-1">
              <a:solidFill>
                <a:schemeClr val="dk1"/>
              </a:solidFill>
              <a:latin typeface="Calibri"/>
            </a:endParaRPr>
          </a:p>
        </p:txBody>
      </p:sp>
      <p:sp>
        <p:nvSpPr>
          <p:cNvPr id="32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 distribuye las réplicas de cada partición buscando balance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líder atiende el tráfico; los seguidores replican</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 el tiempo (brokers nuevos, caídas, crecimiento) el balance se pierde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Reasignar = redistribuir la carga</a:t>
            </a:r>
            <a:endParaRPr lang="es-MX" sz="1600" b="0" strike="noStrike" spc="-1">
              <a:solidFill>
                <a:schemeClr val="dk1"/>
              </a:solidFill>
              <a:latin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Reasignación: redistribuir turnos sin cerrar el hospital</a:t>
            </a:r>
            <a:endParaRPr lang="es-MX" sz="2400" b="0" strike="noStrike" spc="-1">
              <a:solidFill>
                <a:schemeClr val="dk1"/>
              </a:solidFill>
              <a:latin typeface="Calibri"/>
            </a:endParaRPr>
          </a:p>
        </p:txBody>
      </p:sp>
      <p:sp>
        <p:nvSpPr>
          <p:cNvPr id="33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32" name="Picture 3" descr="c3-reasignacion.png"/>
          <p:cNvPicPr/>
          <p:nvPr/>
        </p:nvPicPr>
        <p:blipFill>
          <a:blip r:embed="rId3"/>
          <a:stretch/>
        </p:blipFill>
        <p:spPr>
          <a:xfrm>
            <a:off x="1108440" y="1554480"/>
            <a:ext cx="9974880" cy="4571640"/>
          </a:xfrm>
          <a:prstGeom prst="rect">
            <a:avLst/>
          </a:prstGeom>
          <a:ln w="0">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p:nvPr>
        </p:nvSpPr>
        <p:spPr>
          <a:xfrm>
            <a:off x="950760" y="2004840"/>
            <a:ext cx="7555320" cy="3573360"/>
          </a:xfrm>
          <a:prstGeom prst="rect">
            <a:avLst/>
          </a:prstGeom>
          <a:noFill/>
          <a:ln w="0">
            <a:noFill/>
          </a:ln>
        </p:spPr>
        <p:txBody>
          <a:bodyPr lIns="91440" tIns="45720" rIns="91440" bIns="45720" anchor="t">
            <a:noAutofit/>
          </a:bodyPr>
          <a:lstStyle/>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1 · Un broker se define por su configuración; el clúster, como código (Compose)</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2 · advertised.listeners: lo anunciado debe ser alcanzable desde el cliente</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3 · Los tópicos tienen ciclo de vida: retención y purga por segmentos</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4 · El rendimiento balancea disco, red, RAM y CPU; el page cache es el arma secreta</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5 · El clúster se reorganiza en caliente: reasignación sin downtime</a:t>
            </a:r>
            <a:endParaRPr lang="es-MX" sz="1600" b="0" strike="noStrike" spc="-1">
              <a:solidFill>
                <a:schemeClr val="dk1"/>
              </a:solidFill>
              <a:latin typeface="Calibri"/>
            </a:endParaRPr>
          </a:p>
          <a:p>
            <a:pPr marL="228600" indent="-228600" algn="just" defTabSz="914400">
              <a:lnSpc>
                <a:spcPct val="100000"/>
              </a:lnSpc>
              <a:spcBef>
                <a:spcPts val="1001"/>
              </a:spcBef>
              <a:buClr>
                <a:srgbClr val="7F7F7F"/>
              </a:buClr>
              <a:buFont typeface="Arial"/>
              <a:buChar char="•"/>
            </a:pPr>
            <a:r>
              <a:rPr lang="es-MX" sz="1500" b="0" strike="noStrike" spc="-1">
                <a:solidFill>
                  <a:srgbClr val="7F7F7F"/>
                </a:solidFill>
                <a:latin typeface="Neue Haas Grotesk Text Pro"/>
              </a:rPr>
              <a:t>Ahora: seis laboratorios, uno tras otro</a:t>
            </a:r>
            <a:endParaRPr lang="es-MX" sz="1500" b="0" strike="noStrike" spc="-1">
              <a:solidFill>
                <a:schemeClr val="dk1"/>
              </a:solidFill>
              <a:latin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03 · Configuración e inicialización de brokers</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NovaTech necesita ambientes reproducibles: el clúster debe poder nacer, morir y renacer idéntico</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en la máquina de cualquier operador. Hoy declaras el clúster como código con Docker Compose</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lees los archivos de configuración que definen la identidad de cada broker.</a:t>
            </a:r>
            <a:endParaRPr lang="es-MX" sz="1300" b="0" strike="noStrike" spc="-1">
              <a:solidFill>
                <a:schemeClr val="dk1"/>
              </a:solidFill>
              <a:latin typeface="Calibri"/>
            </a:endParaRPr>
          </a:p>
        </p:txBody>
      </p:sp>
      <p:sp>
        <p:nvSpPr>
          <p:cNvPr id="335"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Desplegar el entorno con Docker Compose y dominar los archivos de configuración esenciales del broker.</a:t>
            </a:r>
            <a:endParaRPr lang="es-MX" sz="1400" b="0" strike="noStrike" spc="-1">
              <a:solidFill>
                <a:schemeClr val="dk1"/>
              </a:solidFill>
              <a:latin typeface="Calibri"/>
            </a:endParaRPr>
          </a:p>
        </p:txBody>
      </p:sp>
      <p:sp>
        <p:nvSpPr>
          <p:cNvPr id="336"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03; levantar los brokers en modo KRaft; inspeccionar log.dirs, listeners, node.id y los parámetros base; validar con bin/90-test-lab.sh.</a:t>
            </a:r>
            <a:endParaRPr lang="es-MX" sz="1300" b="0" strike="noStrike" spc="-1">
              <a:solidFill>
                <a:schemeClr val="dk1"/>
              </a:solidFill>
              <a:latin typeface="Calibri"/>
            </a:endParaRPr>
          </a:p>
        </p:txBody>
      </p:sp>
      <p:sp>
        <p:nvSpPr>
          <p:cNvPr id="337"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03 · Resultado esperado</a:t>
            </a:r>
            <a:endParaRPr lang="es-MX" sz="2800" b="0" strike="noStrike" spc="-1">
              <a:solidFill>
                <a:schemeClr val="dk1"/>
              </a:solidFill>
              <a:latin typeface="Calibri"/>
            </a:endParaRPr>
          </a:p>
        </p:txBody>
      </p:sp>
      <p:sp>
        <p:nvSpPr>
          <p:cNvPr id="339"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Clúster multi-broker levantado con Docker Compose en modo KRaft</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Archivos de configuración de cada broker localizados e interpretados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log.dirs, listeners y node.id identificados y explicados con sus valores reales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clúster destruido y reconstruido idéntico: reproducibilidad demostrada</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04 · Clúster multi-broker y advertised.listeners</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Los clientes externos de NovaTech no logran conectarse: ven el clúster pero las conexiones expiran.</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El síntoma clásico del conserje que da mal la dirección. Hoy reproduces ese error a propósito,</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lo diagnosticas con evidencia y lo corriges configurando advertised.listeners como corresponde.</a:t>
            </a:r>
            <a:endParaRPr lang="es-MX" sz="1300" b="0" strike="noStrike" spc="-1">
              <a:solidFill>
                <a:schemeClr val="dk1"/>
              </a:solidFill>
              <a:latin typeface="Calibri"/>
            </a:endParaRPr>
          </a:p>
        </p:txBody>
      </p:sp>
      <p:sp>
        <p:nvSpPr>
          <p:cNvPr id="341"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Exponer correctamente un clúster multi-broker a clientes internos y externos.</a:t>
            </a:r>
            <a:endParaRPr lang="es-MX" sz="1400" b="0" strike="noStrike" spc="-1">
              <a:solidFill>
                <a:schemeClr val="dk1"/>
              </a:solidFill>
              <a:latin typeface="Calibri"/>
            </a:endParaRPr>
          </a:p>
        </p:txBody>
      </p:sp>
      <p:sp>
        <p:nvSpPr>
          <p:cNvPr id="342"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04; provocar el error de dirección inalcanzable; diagnosticar el Timeout con las herramientas del lab; corregir advertised.listeners; validar con bin/90-test-lab.sh.</a:t>
            </a:r>
            <a:endParaRPr lang="es-MX" sz="1300" b="0" strike="noStrike" spc="-1">
              <a:solidFill>
                <a:schemeClr val="dk1"/>
              </a:solidFill>
              <a:latin typeface="Calibri"/>
            </a:endParaRPr>
          </a:p>
        </p:txBody>
      </p:sp>
      <p:sp>
        <p:nvSpPr>
          <p:cNvPr id="343"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04 · Resultado esperado</a:t>
            </a:r>
            <a:endParaRPr lang="es-MX" sz="2800" b="0" strike="noStrike" spc="-1">
              <a:solidFill>
                <a:schemeClr val="dk1"/>
              </a:solidFill>
              <a:latin typeface="Calibri"/>
            </a:endParaRPr>
          </a:p>
        </p:txBody>
      </p:sp>
      <p:sp>
        <p:nvSpPr>
          <p:cNvPr id="345"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error "veo el broker pero no me conecto" reproducido y comprendido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Diagnóstico realizado con evidencia: qué dirección se anunció y por qué falló</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advertised.listeners corregido para clientes internos y externos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Conectividad verificada desde ambos mundos (red Docker y host)</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05 · Operación de tópicos</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La flota de NovaTech emite eventos con personalidades distintas: el GPS es efímero (importa el ahora),</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las entregas son historia contable (importan por meses). Hoy creas tópicos a la medida de cada caso</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observas a Kafka purgar por segmentos, en vivo, exactamente como lo prometió la teoría.</a:t>
            </a:r>
            <a:endParaRPr lang="es-MX" sz="1300" b="0" strike="noStrike" spc="-1">
              <a:solidFill>
                <a:schemeClr val="dk1"/>
              </a:solidFill>
              <a:latin typeface="Calibri"/>
            </a:endParaRPr>
          </a:p>
        </p:txBody>
      </p:sp>
      <p:sp>
        <p:nvSpPr>
          <p:cNvPr id="347"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Administrar tópicos con kafka-topics.sh y observar retención, segmentación y compresión en vivo.</a:t>
            </a:r>
            <a:endParaRPr lang="es-MX" sz="1400" b="0" strike="noStrike" spc="-1">
              <a:solidFill>
                <a:schemeClr val="dk1"/>
              </a:solidFill>
              <a:latin typeface="Calibri"/>
            </a:endParaRPr>
          </a:p>
        </p:txBody>
      </p:sp>
      <p:sp>
        <p:nvSpPr>
          <p:cNvPr id="348"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05; crear tópicos con distinta personalidad; modificar configuraciones en caliente; observar la purga por segmentos; intentar reducir particiones y analizar el rechazo; validar con bin/90-test-lab.sh.</a:t>
            </a:r>
            <a:endParaRPr lang="es-MX" sz="1300" b="0" strike="noStrike" spc="-1">
              <a:solidFill>
                <a:schemeClr val="dk1"/>
              </a:solidFill>
              <a:latin typeface="Calibri"/>
            </a:endParaRPr>
          </a:p>
        </p:txBody>
      </p:sp>
      <p:sp>
        <p:nvSpPr>
          <p:cNvPr id="349"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05 · Resultado esperado</a:t>
            </a:r>
            <a:endParaRPr lang="es-MX" sz="2800" b="0" strike="noStrike" spc="-1">
              <a:solidFill>
                <a:schemeClr val="dk1"/>
              </a:solidFill>
              <a:latin typeface="Calibri"/>
            </a:endParaRPr>
          </a:p>
        </p:txBody>
      </p:sp>
      <p:sp>
        <p:nvSpPr>
          <p:cNvPr id="351"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Tópicos creados con particiones, RF y retención acordes a cada caso de uso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Configuración modificada en caliente sobre tópicos existentes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La retención observada eliminando segmentos vencidos en vivo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intento de reducir particiones rechazado por Kafka — y el porqué, explicado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06 · Producción y consumo desde la consola</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Antes de escribir una sola línea de código, un administrador domina el flujo con las manos desnudas.</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Hoy inyectas eventos de la flota con la consola, los consumes desde el principio y desde el final,</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ves al offset registrar cada avance: la memoria del consumidor, en tiempo real.</a:t>
            </a:r>
            <a:endParaRPr lang="es-MX" sz="1300" b="0" strike="noStrike" spc="-1">
              <a:solidFill>
                <a:schemeClr val="dk1"/>
              </a:solidFill>
              <a:latin typeface="Calibri"/>
            </a:endParaRPr>
          </a:p>
        </p:txBody>
      </p:sp>
      <p:sp>
        <p:nvSpPr>
          <p:cNvPr id="353"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Ingerir y descargar mensajes con las herramientas de consola, observando el log y el manejo de offsets.</a:t>
            </a:r>
            <a:endParaRPr lang="es-MX" sz="1400" b="0" strike="noStrike" spc="-1">
              <a:solidFill>
                <a:schemeClr val="dk1"/>
              </a:solidFill>
              <a:latin typeface="Calibri"/>
            </a:endParaRPr>
          </a:p>
        </p:txBody>
      </p:sp>
      <p:sp>
        <p:nvSpPr>
          <p:cNvPr id="354"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06; producir a los tópicos de la flota; consumir con y sin --from-beginning; observar el avance de offsets por consumidor; validar con bin/90-test-lab.sh.</a:t>
            </a:r>
            <a:endParaRPr lang="es-MX" sz="1300" b="0" strike="noStrike" spc="-1">
              <a:solidFill>
                <a:schemeClr val="dk1"/>
              </a:solidFill>
              <a:latin typeface="Calibri"/>
            </a:endParaRPr>
          </a:p>
        </p:txBody>
      </p:sp>
      <p:sp>
        <p:nvSpPr>
          <p:cNvPr id="355"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06 · Resultado esperado</a:t>
            </a:r>
            <a:endParaRPr lang="es-MX" sz="2800" b="0" strike="noStrike" spc="-1">
              <a:solidFill>
                <a:schemeClr val="dk1"/>
              </a:solidFill>
              <a:latin typeface="Calibri"/>
            </a:endParaRPr>
          </a:p>
        </p:txBody>
      </p:sp>
      <p:sp>
        <p:nvSpPr>
          <p:cNvPr id="357"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Mensajes producidos y consumidos por consola sobre los tópicos de la flota</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Diferencia práctica entre leer desde el inicio y solo lo nuevo, demostrada</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offset de cada consumidor observado avanzando de forma independiente</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Dos consumidores leyendo el mismo log sin estorbarse</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07 · Pruebas de rendimiento</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El directorio de NovaTech pregunta cuánto aguanta la plataforma — y "depende" no es una respuesta</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profesional sin números. Hoy generas carga sintética con las herramientas de perf, mueves las perillas</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(batch, linger, compresión, fetch) y mides el impacto real de cada ajuste sobre throughput y latencia.</a:t>
            </a:r>
            <a:endParaRPr lang="es-MX" sz="1300" b="0" strike="noStrike" spc="-1">
              <a:solidFill>
                <a:schemeClr val="dk1"/>
              </a:solidFill>
              <a:latin typeface="Calibri"/>
            </a:endParaRPr>
          </a:p>
        </p:txBody>
      </p:sp>
      <p:sp>
        <p:nvSpPr>
          <p:cNvPr id="359"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Medir throughput y latencia con kafka-producer-perf-test y kafka-consumer-perf-test.</a:t>
            </a:r>
            <a:endParaRPr lang="es-MX" sz="1400" b="0" strike="noStrike" spc="-1">
              <a:solidFill>
                <a:schemeClr val="dk1"/>
              </a:solidFill>
              <a:latin typeface="Calibri"/>
            </a:endParaRPr>
          </a:p>
        </p:txBody>
      </p:sp>
      <p:sp>
        <p:nvSpPr>
          <p:cNvPr id="360"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07; establecer una línea base; variar parámetros del productor y consumidor; comparar los deltas medidos entre configuraciones; validar con bin/90-test-lab.sh.</a:t>
            </a:r>
            <a:endParaRPr lang="es-MX" sz="1300" b="0" strike="noStrike" spc="-1">
              <a:solidFill>
                <a:schemeClr val="dk1"/>
              </a:solidFill>
              <a:latin typeface="Calibri"/>
            </a:endParaRPr>
          </a:p>
        </p:txBody>
      </p:sp>
      <p:sp>
        <p:nvSpPr>
          <p:cNvPr id="361"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07 · Resultado esperado</a:t>
            </a:r>
            <a:endParaRPr lang="es-MX" sz="2800" b="0" strike="noStrike" spc="-1">
              <a:solidFill>
                <a:schemeClr val="dk1"/>
              </a:solidFill>
              <a:latin typeface="Calibri"/>
            </a:endParaRPr>
          </a:p>
        </p:txBody>
      </p:sp>
      <p:sp>
        <p:nvSpPr>
          <p:cNvPr id="363"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Línea base de throughput y latencia establecida con carga sintética</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Efecto de batch.size y linger.ms medido con números propios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Impacto de la compresión evaluado: CPU a cambio de red y disco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Los deltas entre configuraciones documentados y explicados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08 · Cambio de configuración de brokers en caliente</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NovaTech crece y el clúster necesita más músculo — pero la flota no deja de reportar ni un segundo.</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Hoy sumas y quitas brokers con el servicio activo, reasignas particiones para reequilibrar la carga</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verificas que ni un solo mensaje se detuvo mientras el clúster se reorganizaba bajo tus manos.</a:t>
            </a:r>
            <a:endParaRPr lang="es-MX" sz="1300" b="0" strike="noStrike" spc="-1">
              <a:solidFill>
                <a:schemeClr val="dk1"/>
              </a:solidFill>
              <a:latin typeface="Calibri"/>
            </a:endParaRPr>
          </a:p>
        </p:txBody>
      </p:sp>
      <p:sp>
        <p:nvSpPr>
          <p:cNvPr id="365"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Añadir y eliminar brokers y aplicar reconfiguraciones dinámicas sin downtime.</a:t>
            </a:r>
            <a:endParaRPr lang="es-MX" sz="1400" b="0" strike="noStrike" spc="-1">
              <a:solidFill>
                <a:schemeClr val="dk1"/>
              </a:solidFill>
              <a:latin typeface="Calibri"/>
            </a:endParaRPr>
          </a:p>
        </p:txBody>
      </p:sp>
      <p:sp>
        <p:nvSpPr>
          <p:cNvPr id="366"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08; incorporar un broker nuevo; ejecutar la reasignación de particiones; verificar la continuidad del servicio durante todo el proceso; validar con bin/90-test-lab.sh.</a:t>
            </a:r>
            <a:endParaRPr lang="es-MX" sz="1300" b="0" strike="noStrike" spc="-1">
              <a:solidFill>
                <a:schemeClr val="dk1"/>
              </a:solidFill>
              <a:latin typeface="Calibri"/>
            </a:endParaRPr>
          </a:p>
        </p:txBody>
      </p:sp>
      <p:sp>
        <p:nvSpPr>
          <p:cNvPr id="367"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08 · Resultado esperado</a:t>
            </a:r>
            <a:endParaRPr lang="es-MX" sz="2800" b="0" strike="noStrike" spc="-1">
              <a:solidFill>
                <a:schemeClr val="dk1"/>
              </a:solidFill>
              <a:latin typeface="Calibri"/>
            </a:endParaRPr>
          </a:p>
        </p:txBody>
      </p:sp>
      <p:sp>
        <p:nvSpPr>
          <p:cNvPr id="369"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Un broker nuevo incorporado al clúster con el servicio activo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Particiones reasignadas y balance verificado antes/después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Continuidad del servicio comprobada durante toda la operación</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Un broker retirado limpiamente sin pérdida ni interrupción</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p:nvPr>
        </p:nvSpPr>
        <p:spPr>
          <a:xfrm>
            <a:off x="371160" y="2803680"/>
            <a:ext cx="7919640" cy="3421440"/>
          </a:xfrm>
          <a:prstGeom prst="rect">
            <a:avLst/>
          </a:prstGeom>
          <a:noFill/>
          <a:ln w="0">
            <a:noFill/>
          </a:ln>
        </p:spPr>
        <p:txBody>
          <a:bodyPr lIns="91440" tIns="45720" rIns="91440" bIns="45720" anchor="t">
            <a:noAutofit/>
          </a:bodyPr>
          <a:lstStyle/>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Apache Kafka — Operations (configuración, tópicos, reasignación) — kafka.apache.org/documentation</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Confluent Platform — Optimización y benchmarking — docs.confluent.io/platform/current</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Shapira, Palino, Sivaram &amp; Petty — Kafka: The Definitive Guide, 2ª ed. (O’Reilly)</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Kafbat UI — exploración visual del clúster — github.com/kafbat/kafka-ui</a:t>
            </a:r>
            <a:endParaRPr lang="es-MX" sz="1400" b="0" strike="noStrike" spc="-1">
              <a:solidFill>
                <a:schemeClr val="dk1"/>
              </a:solidFill>
              <a:latin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PlaceHolder 1"/>
          <p:cNvSpPr>
            <a:spLocks noGrp="1"/>
          </p:cNvSpPr>
          <p:nvPr>
            <p:ph/>
          </p:nvPr>
        </p:nvSpPr>
        <p:spPr>
          <a:xfrm>
            <a:off x="6240240" y="1011240"/>
            <a:ext cx="5278320" cy="1694520"/>
          </a:xfrm>
          <a:prstGeom prst="rect">
            <a:avLst/>
          </a:prstGeom>
          <a:noFill/>
          <a:ln w="0">
            <a:noFill/>
          </a:ln>
        </p:spPr>
        <p:txBody>
          <a:bodyPr lIns="91440" tIns="45720" rIns="91440" bIns="45720" anchor="t">
            <a:noAutofit/>
          </a:bodyPr>
          <a:lstStyle/>
          <a:p>
            <a:pPr marL="228600" indent="-228600" algn="just" defTabSz="914400">
              <a:lnSpc>
                <a:spcPct val="100000"/>
              </a:lnSpc>
              <a:buClr>
                <a:srgbClr val="4472C4"/>
              </a:buClr>
              <a:buFont typeface="Arial"/>
              <a:buChar char="•"/>
            </a:pPr>
            <a:r>
              <a:rPr lang="es-MX" sz="1400" b="1" strike="noStrike" spc="-1">
                <a:solidFill>
                  <a:srgbClr val="4472C4"/>
                </a:solidFill>
                <a:latin typeface="Neue Haas Grotesk Text Pro"/>
              </a:rPr>
              <a:t>Al terminar este capítulo:</a:t>
            </a:r>
            <a:endParaRPr lang="es-MX" sz="14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Escalar consumo con particiones y grupos</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Conectar aplicaciones reales: Java, Spring y REST</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Gobernar la forma de los datos con Schema Registry</a:t>
            </a:r>
            <a:endParaRPr lang="es-MX" sz="1200" b="0" strike="noStrike" spc="-1">
              <a:solidFill>
                <a:schemeClr val="dk1"/>
              </a:solidFill>
              <a:latin typeface="Calibri"/>
            </a:endParaRPr>
          </a:p>
        </p:txBody>
      </p:sp>
      <p:sp>
        <p:nvSpPr>
          <p:cNvPr id="372" name="PlaceHolder 2"/>
          <p:cNvSpPr>
            <a:spLocks noGrp="1"/>
          </p:cNvSpPr>
          <p:nvPr>
            <p:ph type="title"/>
          </p:nvPr>
        </p:nvSpPr>
        <p:spPr>
          <a:xfrm>
            <a:off x="576000" y="1124640"/>
            <a:ext cx="5375160" cy="3172680"/>
          </a:xfrm>
          <a:prstGeom prst="rect">
            <a:avLst/>
          </a:prstGeom>
          <a:noFill/>
          <a:ln w="0">
            <a:noFill/>
          </a:ln>
        </p:spPr>
        <p:txBody>
          <a:bodyPr lIns="91440" tIns="45720" rIns="91440" bIns="45720" anchor="b">
            <a:noAutofit/>
          </a:bodyPr>
          <a:lstStyle/>
          <a:p>
            <a:pPr indent="0" defTabSz="914400">
              <a:lnSpc>
                <a:spcPct val="90000"/>
              </a:lnSpc>
              <a:buNone/>
            </a:pPr>
            <a:r>
              <a:rPr lang="es-MX" sz="8000" b="1" strike="noStrike" spc="-1">
                <a:solidFill>
                  <a:schemeClr val="dk1"/>
                </a:solidFill>
                <a:latin typeface="Neue Haas Grotesk Text Pro"/>
              </a:rPr>
              <a:t>Capítulo 4</a:t>
            </a:r>
            <a:endParaRPr lang="es-MX" sz="8000" b="0" strike="noStrike" spc="-1">
              <a:solidFill>
                <a:schemeClr val="dk1"/>
              </a:solidFill>
              <a:latin typeface="Calibri"/>
            </a:endParaRPr>
          </a:p>
        </p:txBody>
      </p:sp>
      <p:sp>
        <p:nvSpPr>
          <p:cNvPr id="373" name="PlaceHolder 3"/>
          <p:cNvSpPr>
            <a:spLocks noGrp="1"/>
          </p:cNvSpPr>
          <p:nvPr>
            <p:ph/>
          </p:nvPr>
        </p:nvSpPr>
        <p:spPr>
          <a:xfrm>
            <a:off x="576000" y="4689360"/>
            <a:ext cx="11025000" cy="14871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2800" b="0" strike="noStrike" spc="-1">
                <a:solidFill>
                  <a:srgbClr val="1F3864"/>
                </a:solidFill>
                <a:latin typeface="Neue Haas Grotesk Text Pro"/>
              </a:rPr>
              <a:t>Ecosistema de clientes, REST y esquemas</a:t>
            </a:r>
            <a:endParaRPr lang="es-MX" sz="2800" b="0" strike="noStrike" spc="-1">
              <a:solidFill>
                <a:schemeClr val="dk1"/>
              </a:solidFill>
              <a:latin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2600" b="1" strike="noStrike" spc="-1">
                <a:solidFill>
                  <a:srgbClr val="1F3864"/>
                </a:solidFill>
                <a:latin typeface="Neue Haas Grotesk Text Pro"/>
              </a:rPr>
              <a:t>4.1. Escalamiento y tuning de productores y consumidores</a:t>
            </a:r>
            <a:endParaRPr lang="es-MX" sz="2600" b="0" strike="noStrike" spc="-1">
              <a:solidFill>
                <a:schemeClr val="dk1"/>
              </a:solidFill>
              <a:latin typeface="Calibri"/>
            </a:endParaRPr>
          </a:p>
        </p:txBody>
      </p:sp>
      <p:sp>
        <p:nvSpPr>
          <p:cNvPr id="375"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Las cajas de peaje: particiones y paralelismo</a:t>
            </a:r>
            <a:endParaRPr lang="es-MX" sz="2400" b="0" strike="noStrike" spc="-1">
              <a:solidFill>
                <a:schemeClr val="dk1"/>
              </a:solidFill>
              <a:latin typeface="Calibri"/>
            </a:endParaRPr>
          </a:p>
        </p:txBody>
      </p:sp>
      <p:sp>
        <p:nvSpPr>
          <p:cNvPr id="377"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78" name="Picture 3" descr="c4-particiones.png"/>
          <p:cNvPicPr/>
          <p:nvPr/>
        </p:nvPicPr>
        <p:blipFill>
          <a:blip r:embed="rId3"/>
          <a:stretch/>
        </p:blipFill>
        <p:spPr>
          <a:xfrm>
            <a:off x="1325160" y="1554480"/>
            <a:ext cx="9541080" cy="4571640"/>
          </a:xfrm>
          <a:prstGeom prst="rect">
            <a:avLst/>
          </a:prstGeom>
          <a:ln w="0">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Las perillas del productor y del consumidor</a:t>
            </a:r>
            <a:endParaRPr lang="es-MX" sz="2400" b="0" strike="noStrike" spc="-1">
              <a:solidFill>
                <a:schemeClr val="dk1"/>
              </a:solidFill>
              <a:latin typeface="Calibri"/>
            </a:endParaRPr>
          </a:p>
        </p:txBody>
      </p:sp>
      <p:sp>
        <p:nvSpPr>
          <p:cNvPr id="38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Productor: acks (durabilidad) · batch.size y linger.ms (throughput vs latencia) · compression.type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Consumidor: fetch.min.bytes y max.poll.records (cuánto trae por viaje) · enable.auto.commit (cómo confirma)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Cada perilla es un trade-off, no un "más es mejor"</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Se calibra según la prioridad del caso: latencia, throughput o durabilidad</a:t>
            </a:r>
            <a:endParaRPr lang="es-MX" sz="1600" b="0" strike="noStrike" spc="-1">
              <a:solidFill>
                <a:schemeClr val="dk1"/>
              </a:solidFill>
              <a:latin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Rebalanceo: cuando el grupo se reorganiza</a:t>
            </a:r>
            <a:endParaRPr lang="es-MX" sz="2800" b="0" strike="noStrike" spc="-1">
              <a:solidFill>
                <a:schemeClr val="dk1"/>
              </a:solidFill>
              <a:latin typeface="Calibri"/>
            </a:endParaRPr>
          </a:p>
        </p:txBody>
      </p:sp>
      <p:sp>
        <p:nvSpPr>
          <p:cNvPr id="38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consumidor entra o sale → Kafka redistribuye las particiones entre los miembros vivos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Durante el rebalanceo hay una pausa breve</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Estrategias modernas (cooperative sticky) minimizan la interrupción</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anti-patrón: consumidores inestables que provocan "rebalance storms"</a:t>
            </a:r>
            <a:endParaRPr lang="es-MX" sz="1600" b="0" strike="noStrike" spc="-1">
              <a:solidFill>
                <a:schemeClr val="dk1"/>
              </a:solidFill>
              <a:latin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600" b="1" strike="noStrike" spc="-1">
                <a:solidFill>
                  <a:srgbClr val="1F3864"/>
                </a:solidFill>
                <a:latin typeface="Neue Haas Grotesk Text Pro"/>
              </a:rPr>
              <a:t>4.2. Clientes Java y Spring</a:t>
            </a:r>
            <a:endParaRPr lang="es-MX" sz="3600" b="0" strike="noStrike" spc="-1">
              <a:solidFill>
                <a:schemeClr val="dk1"/>
              </a:solidFill>
              <a:latin typeface="Calibri"/>
            </a:endParaRPr>
          </a:p>
        </p:txBody>
      </p:sp>
      <p:sp>
        <p:nvSpPr>
          <p:cNvPr id="384"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De la CLI al código: el cliente Java</a:t>
            </a:r>
            <a:endParaRPr lang="es-MX" sz="2800" b="0" strike="noStrike" spc="-1">
              <a:solidFill>
                <a:schemeClr val="dk1"/>
              </a:solidFill>
              <a:latin typeface="Calibri"/>
            </a:endParaRPr>
          </a:p>
        </p:txBody>
      </p:sp>
      <p:sp>
        <p:nvSpPr>
          <p:cNvPr id="38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Las herramientas de consola fueron para aprender; las aplicaciones reales usan kafka-clients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KafkaProducer envía registros; KafkaConsumer los lee en un loop de poll()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 configuración de la CLI ahora son propiedades del cliente en código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kafka-clients 4.2.1 sobre Java 21; el cliente Spring corre sobre Spring Boot 4.1 + spring-kafka 4</a:t>
            </a:r>
            <a:endParaRPr lang="es-MX" sz="1600" b="0" strike="noStrike" spc="-1">
              <a:solidFill>
                <a:schemeClr val="dk1"/>
              </a:solidFill>
              <a:latin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Caja manual vs automática: kafka-clients y Spring</a:t>
            </a:r>
            <a:endParaRPr lang="es-MX" sz="2400" b="0" strike="noStrike" spc="-1">
              <a:solidFill>
                <a:schemeClr val="dk1"/>
              </a:solidFill>
              <a:latin typeface="Calibri"/>
            </a:endParaRPr>
          </a:p>
        </p:txBody>
      </p:sp>
      <p:sp>
        <p:nvSpPr>
          <p:cNvPr id="388"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89" name="Picture 3" descr="c4-clientes.png"/>
          <p:cNvPicPr/>
          <p:nvPr/>
        </p:nvPicPr>
        <p:blipFill>
          <a:blip r:embed="rId3"/>
          <a:stretch/>
        </p:blipFill>
        <p:spPr>
          <a:xfrm>
            <a:off x="1219320" y="1554480"/>
            <a:ext cx="9753120" cy="4571640"/>
          </a:xfrm>
          <a:prstGeom prst="rect">
            <a:avLst/>
          </a:prstGeom>
          <a:ln w="0">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600" b="1" strike="noStrike" spc="-1">
                <a:solidFill>
                  <a:srgbClr val="1F3864"/>
                </a:solidFill>
                <a:latin typeface="Neue Haas Grotesk Text Pro"/>
              </a:rPr>
              <a:t>4.3. REST Proxy y exploración visual</a:t>
            </a:r>
            <a:endParaRPr lang="es-MX" sz="3600" b="0" strike="noStrike" spc="-1">
              <a:solidFill>
                <a:schemeClr val="dk1"/>
              </a:solidFill>
              <a:latin typeface="Calibri"/>
            </a:endParaRPr>
          </a:p>
        </p:txBody>
      </p:sp>
      <p:sp>
        <p:nvSpPr>
          <p:cNvPr id="391"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REST Proxy: el traductor de la reunión internacional</a:t>
            </a:r>
            <a:endParaRPr lang="es-MX" sz="2400" b="0" strike="noStrike" spc="-1">
              <a:solidFill>
                <a:schemeClr val="dk1"/>
              </a:solidFill>
              <a:latin typeface="Calibri"/>
            </a:endParaRPr>
          </a:p>
        </p:txBody>
      </p:sp>
      <p:sp>
        <p:nvSpPr>
          <p:cNvPr id="393"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394" name="Picture 3" descr="c4-restproxy.png"/>
          <p:cNvPicPr/>
          <p:nvPr/>
        </p:nvPicPr>
        <p:blipFill>
          <a:blip r:embed="rId3"/>
          <a:stretch/>
        </p:blipFill>
        <p:spPr>
          <a:xfrm>
            <a:off x="992520" y="1554480"/>
            <a:ext cx="10206720" cy="4571640"/>
          </a:xfrm>
          <a:prstGeom prst="rect">
            <a:avLst/>
          </a:prstGeom>
          <a:ln w="0">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Exploración visual del clúster</a:t>
            </a:r>
            <a:endParaRPr lang="es-MX" sz="3200" b="0" strike="noStrike" spc="-1">
              <a:solidFill>
                <a:schemeClr val="dk1"/>
              </a:solidFill>
              <a:latin typeface="Calibri"/>
            </a:endParaRPr>
          </a:p>
        </p:txBody>
      </p:sp>
      <p:sp>
        <p:nvSpPr>
          <p:cNvPr id="39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Inspeccionar tópicos, mensajes, consumer groups y offsets sin línea de comandos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temario nombra "Landoop" → descontinuado e incompatible con Kafka 4.x</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curso usa Kafbat UI, su sucesor comunitario activo (ADR-001)</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La misma UI que usaron para observar la retención en el Lab 05, formalizada como herramienta</a:t>
            </a:r>
            <a:endParaRPr lang="es-MX" sz="1600" b="0" strike="noStrike" spc="-1">
              <a:solidFill>
                <a:schemeClr val="dk1"/>
              </a:solidFill>
              <a:latin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4.4. Schema Registry: el contrato de los datos</a:t>
            </a:r>
            <a:endParaRPr lang="es-MX" sz="3000" b="0" strike="noStrike" spc="-1">
              <a:solidFill>
                <a:schemeClr val="dk1"/>
              </a:solidFill>
              <a:latin typeface="Calibri"/>
            </a:endParaRPr>
          </a:p>
        </p:txBody>
      </p:sp>
      <p:sp>
        <p:nvSpPr>
          <p:cNvPr id="398"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problema: los datos cambian de forma</a:t>
            </a:r>
            <a:endParaRPr lang="es-MX" sz="2800" b="0" strike="noStrike" spc="-1">
              <a:solidFill>
                <a:schemeClr val="dk1"/>
              </a:solidFill>
              <a:latin typeface="Calibri"/>
            </a:endParaRPr>
          </a:p>
        </p:txBody>
      </p:sp>
      <p:sp>
        <p:nvSpPr>
          <p:cNvPr id="40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Productor y consumidor acuerdan tácitamente la forma de los eventos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productor evoluciona: agrega un campo, cambia un tipo, renombra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Si el consumidor no está preparado, se rompe en producción — a veces en silencio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¿Quién protege ese contrato?</a:t>
            </a:r>
            <a:endParaRPr lang="es-MX" sz="1600" b="0" strike="noStrike" spc="-1">
              <a:solidFill>
                <a:schemeClr val="dk1"/>
              </a:solidFill>
              <a:latin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notario y sus tres garantías</a:t>
            </a:r>
            <a:endParaRPr lang="es-MX" sz="2800" b="0" strike="noStrike" spc="-1">
              <a:solidFill>
                <a:schemeClr val="dk1"/>
              </a:solidFill>
              <a:latin typeface="Calibri"/>
            </a:endParaRPr>
          </a:p>
        </p:txBody>
      </p:sp>
      <p:sp>
        <p:nvSpPr>
          <p:cNvPr id="40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403" name="Picture 3" descr="c4-compatibilidad.png"/>
          <p:cNvPicPr/>
          <p:nvPr/>
        </p:nvPicPr>
        <p:blipFill>
          <a:blip r:embed="rId3"/>
          <a:stretch/>
        </p:blipFill>
        <p:spPr>
          <a:xfrm>
            <a:off x="1426680" y="1554480"/>
            <a:ext cx="9338040" cy="4571640"/>
          </a:xfrm>
          <a:prstGeom prst="rect">
            <a:avLst/>
          </a:prstGeom>
          <a:ln w="0">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p:nvPr>
        </p:nvSpPr>
        <p:spPr>
          <a:xfrm>
            <a:off x="950760" y="2004840"/>
            <a:ext cx="7555320" cy="3573360"/>
          </a:xfrm>
          <a:prstGeom prst="rect">
            <a:avLst/>
          </a:prstGeom>
          <a:noFill/>
          <a:ln w="0">
            <a:noFill/>
          </a:ln>
        </p:spPr>
        <p:txBody>
          <a:bodyPr lIns="91440" tIns="45720" rIns="91440" bIns="45720" anchor="t">
            <a:noAutofit/>
          </a:bodyPr>
          <a:lstStyle/>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1 · El paralelismo de consumo tiene techo: el número de particiones</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2 · Las perillas del cliente son trade-offs que se calibran, no se maximizan</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3 · kafka-clients da control; Spring da ergonomía — ambos con serialización cuidada</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4 · REST Proxy abre Kafka a cualquier lenguaje, con costo de traducción</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5 · Schema Registry protege el contrato: lo incompatible rebota</a:t>
            </a:r>
            <a:endParaRPr lang="es-MX" sz="1600" b="0" strike="noStrike" spc="-1">
              <a:solidFill>
                <a:schemeClr val="dk1"/>
              </a:solidFill>
              <a:latin typeface="Calibri"/>
            </a:endParaRPr>
          </a:p>
          <a:p>
            <a:pPr marL="228600" indent="-228600" algn="just" defTabSz="914400">
              <a:lnSpc>
                <a:spcPct val="100000"/>
              </a:lnSpc>
              <a:spcBef>
                <a:spcPts val="1001"/>
              </a:spcBef>
              <a:buClr>
                <a:srgbClr val="7F7F7F"/>
              </a:buClr>
              <a:buFont typeface="Arial"/>
              <a:buChar char="•"/>
            </a:pPr>
            <a:r>
              <a:rPr lang="es-MX" sz="1500" b="0" strike="noStrike" spc="-1">
                <a:solidFill>
                  <a:srgbClr val="7F7F7F"/>
                </a:solidFill>
                <a:latin typeface="Neue Haas Grotesk Text Pro"/>
              </a:rPr>
              <a:t>Ahora: Labs 09, 10 y 11</a:t>
            </a:r>
            <a:endParaRPr lang="es-MX" sz="1500" b="0" strike="noStrike" spc="-1">
              <a:solidFill>
                <a:schemeClr val="dk1"/>
              </a:solidFill>
              <a:latin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09 · Clientes Java y Spring</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Los equipos de desarrollo de NovaTech necesitan conectar sus aplicaciones a la plataforma —</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la consola no es una opción para producción. Hoy escribes un productor y un consumidor con</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kafka-clients, luego repites el viaje con Spring, y comparas con criterio: control contra ergonomía.</a:t>
            </a:r>
            <a:endParaRPr lang="es-MX" sz="1300" b="0" strike="noStrike" spc="-1">
              <a:solidFill>
                <a:schemeClr val="dk1"/>
              </a:solidFill>
              <a:latin typeface="Calibri"/>
            </a:endParaRPr>
          </a:p>
        </p:txBody>
      </p:sp>
      <p:sp>
        <p:nvSpPr>
          <p:cNvPr id="406"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Producir y consumir mensajes programáticamente con kafka-clients y Spring for Apache Kafka.</a:t>
            </a:r>
            <a:endParaRPr lang="es-MX" sz="1400" b="0" strike="noStrike" spc="-1">
              <a:solidFill>
                <a:schemeClr val="dk1"/>
              </a:solidFill>
              <a:latin typeface="Calibri"/>
            </a:endParaRPr>
          </a:p>
        </p:txBody>
      </p:sp>
      <p:sp>
        <p:nvSpPr>
          <p:cNvPr id="407"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09; construir el productor y el consumidor nativos; repetir con KafkaTemplate y @KafkaListener; configurar la serialización de tipos (Jackson 3); validar con bin/90-test-lab.sh.</a:t>
            </a:r>
            <a:endParaRPr lang="es-MX" sz="1300" b="0" strike="noStrike" spc="-1">
              <a:solidFill>
                <a:schemeClr val="dk1"/>
              </a:solidFill>
              <a:latin typeface="Calibri"/>
            </a:endParaRPr>
          </a:p>
        </p:txBody>
      </p:sp>
      <p:sp>
        <p:nvSpPr>
          <p:cNvPr id="408"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09 · Resultado esperado</a:t>
            </a:r>
            <a:endParaRPr lang="es-MX" sz="2800" b="0" strike="noStrike" spc="-1">
              <a:solidFill>
                <a:schemeClr val="dk1"/>
              </a:solidFill>
              <a:latin typeface="Calibri"/>
            </a:endParaRPr>
          </a:p>
        </p:txBody>
      </p:sp>
      <p:sp>
        <p:nvSpPr>
          <p:cNvPr id="410"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Productor y consumidor nativos (kafka-clients 4.2) funcionando contra el clúster</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mismo flujo resuelto con Spring: KafkaTemplate y @KafkaListener</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Serialización de tipos configurada correctamente (sin sorpresas de Jackson 3)</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Comparación argumentada: cuándo conviene el control nativo y cuándo la ergonomía Spring</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10 · REST Proxy y exploración visual</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Un sistema legado de NovaTech, escrito en un lenguaje sin cliente Kafka, necesita publicar eventos.</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Hoy le das voz por HTTP a través del REST Proxy: produces con un POST, consumes con un GET,</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navegas el resultado en Kafbat UI — comparando en carne propia el costo de la traducción.</a:t>
            </a:r>
            <a:endParaRPr lang="es-MX" sz="1300" b="0" strike="noStrike" spc="-1">
              <a:solidFill>
                <a:schemeClr val="dk1"/>
              </a:solidFill>
              <a:latin typeface="Calibri"/>
            </a:endParaRPr>
          </a:p>
        </p:txBody>
      </p:sp>
      <p:sp>
        <p:nvSpPr>
          <p:cNvPr id="412"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Exponer Kafka por HTTP con el REST Proxy y explorar el clúster visualmente.</a:t>
            </a:r>
            <a:endParaRPr lang="es-MX" sz="1400" b="0" strike="noStrike" spc="-1">
              <a:solidFill>
                <a:schemeClr val="dk1"/>
              </a:solidFill>
              <a:latin typeface="Calibri"/>
            </a:endParaRPr>
          </a:p>
        </p:txBody>
      </p:sp>
      <p:sp>
        <p:nvSpPr>
          <p:cNvPr id="413"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10; producir y consumir vía llamadas REST; navegar tópicos, mensajes y consumidores en Kafbat UI; contrastar el esfuerzo REST vs cliente nativo; validar con bin/90-test-lab.sh.</a:t>
            </a:r>
            <a:endParaRPr lang="es-MX" sz="1300" b="0" strike="noStrike" spc="-1">
              <a:solidFill>
                <a:schemeClr val="dk1"/>
              </a:solidFill>
              <a:latin typeface="Calibri"/>
            </a:endParaRPr>
          </a:p>
        </p:txBody>
      </p:sp>
      <p:sp>
        <p:nvSpPr>
          <p:cNvPr id="414"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10 · Resultado esperado</a:t>
            </a:r>
            <a:endParaRPr lang="es-MX" sz="2800" b="0" strike="noStrike" spc="-1">
              <a:solidFill>
                <a:schemeClr val="dk1"/>
              </a:solidFill>
              <a:latin typeface="Calibri"/>
            </a:endParaRPr>
          </a:p>
        </p:txBody>
      </p:sp>
      <p:sp>
        <p:nvSpPr>
          <p:cNvPr id="416"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Mensajes producidos y consumidos exclusivamente vía HTTP (REST Proxy)</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flujo completo verificado visualmente en Kafbat UI</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Tópicos, consumer groups y offsets explorados desde la interfaz</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costo de la traducción HTTP comprendido frente al cliente nativo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11 · Schema Registry</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El incidente ya ocurrió una vez en NovaTech: un productor cambió la forma de sus eventos y un consumidor</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murió en silencio. No va a ocurrir dos veces. Hoy registras esquemas, los evolucionas de forma compatible,</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luego intentas deliberadamente un cambio que rompe el contrato — para ver al notario rechazarlo en vivo.</a:t>
            </a:r>
            <a:endParaRPr lang="es-MX" sz="1300" b="0" strike="noStrike" spc="-1">
              <a:solidFill>
                <a:schemeClr val="dk1"/>
              </a:solidFill>
              <a:latin typeface="Calibri"/>
            </a:endParaRPr>
          </a:p>
        </p:txBody>
      </p:sp>
      <p:sp>
        <p:nvSpPr>
          <p:cNvPr id="418"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Registrar esquemas y comprobar los modos de compatibilidad del Schema Registry.</a:t>
            </a:r>
            <a:endParaRPr lang="es-MX" sz="1400" b="0" strike="noStrike" spc="-1">
              <a:solidFill>
                <a:schemeClr val="dk1"/>
              </a:solidFill>
              <a:latin typeface="Calibri"/>
            </a:endParaRPr>
          </a:p>
        </p:txBody>
      </p:sp>
      <p:sp>
        <p:nvSpPr>
          <p:cNvPr id="419"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11; registrar el esquema inicial; evolucionarlo de forma compatible; intentar un cambio incompatible y analizar el rechazo; validar con bin/90-test-lab.sh.</a:t>
            </a:r>
            <a:endParaRPr lang="es-MX" sz="1300" b="0" strike="noStrike" spc="-1">
              <a:solidFill>
                <a:schemeClr val="dk1"/>
              </a:solidFill>
              <a:latin typeface="Calibri"/>
            </a:endParaRPr>
          </a:p>
        </p:txBody>
      </p:sp>
      <p:sp>
        <p:nvSpPr>
          <p:cNvPr id="420"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11 · Resultado esperado</a:t>
            </a:r>
            <a:endParaRPr lang="es-MX" sz="2800" b="0" strike="noStrike" spc="-1">
              <a:solidFill>
                <a:schemeClr val="dk1"/>
              </a:solidFill>
              <a:latin typeface="Calibri"/>
            </a:endParaRPr>
          </a:p>
        </p:txBody>
      </p:sp>
      <p:sp>
        <p:nvSpPr>
          <p:cNvPr id="422"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Esquema inicial registrado y versionado en el Schema Registry</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Evolución compatible aplicada y aceptada (nueva versión conviviendo con la anterior)</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El cambio incompatible rechazado por el registro — con el porqué, explicado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Los modos BACKWARD, FORWARD y FULL comprendidos con evidencia propia</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p:cNvSpPr>
          <p:nvPr>
            <p:ph/>
          </p:nvPr>
        </p:nvSpPr>
        <p:spPr>
          <a:xfrm>
            <a:off x="371160" y="2803680"/>
            <a:ext cx="7919640" cy="3421440"/>
          </a:xfrm>
          <a:prstGeom prst="rect">
            <a:avLst/>
          </a:prstGeom>
          <a:noFill/>
          <a:ln w="0">
            <a:noFill/>
          </a:ln>
        </p:spPr>
        <p:txBody>
          <a:bodyPr lIns="91440" tIns="45720" rIns="91440" bIns="45720" anchor="t">
            <a:noAutofit/>
          </a:bodyPr>
          <a:lstStyle/>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Confluent — Schema Registry y REST Proxy — docs.confluent.io/platform/current</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Spring for Apache Kafka — documentación oficial — spring.io/projects/spring-kafka</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Apache Kafka — Producer y Consumer configs — kafka.apache.org/documentation</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Kafbat UI — exploración visual — github.com/kafbat/kafka-ui · docs: ui.docs.kafbat.io</a:t>
            </a:r>
            <a:endParaRPr lang="es-MX" sz="1400" b="0" strike="noStrike" spc="-1">
              <a:solidFill>
                <a:schemeClr val="dk1"/>
              </a:solidFill>
              <a:latin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p:cNvSpPr>
          <p:nvPr>
            <p:ph/>
          </p:nvPr>
        </p:nvSpPr>
        <p:spPr>
          <a:xfrm>
            <a:off x="6240240" y="1011240"/>
            <a:ext cx="5278320" cy="1694520"/>
          </a:xfrm>
          <a:prstGeom prst="rect">
            <a:avLst/>
          </a:prstGeom>
          <a:noFill/>
          <a:ln w="0">
            <a:noFill/>
          </a:ln>
        </p:spPr>
        <p:txBody>
          <a:bodyPr lIns="91440" tIns="45720" rIns="91440" bIns="45720" anchor="t">
            <a:noAutofit/>
          </a:bodyPr>
          <a:lstStyle/>
          <a:p>
            <a:pPr marL="228600" indent="-228600" algn="just" defTabSz="914400">
              <a:lnSpc>
                <a:spcPct val="100000"/>
              </a:lnSpc>
              <a:buClr>
                <a:srgbClr val="4472C4"/>
              </a:buClr>
              <a:buFont typeface="Arial"/>
              <a:buChar char="•"/>
            </a:pPr>
            <a:r>
              <a:rPr lang="es-MX" sz="1400" b="1" strike="noStrike" spc="-1">
                <a:solidFill>
                  <a:srgbClr val="4472C4"/>
                </a:solidFill>
                <a:latin typeface="Neue Haas Grotesk Text Pro"/>
              </a:rPr>
              <a:t>Al terminar este capítulo:</a:t>
            </a:r>
            <a:endParaRPr lang="es-MX" sz="14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Procesar flujos en tiempo real con SQL (ksqlDB)</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Integrar Kafka con el mundo exterior (Connect)</a:t>
            </a:r>
            <a:endParaRPr lang="es-MX" sz="1200" b="0" strike="noStrike" spc="-1">
              <a:solidFill>
                <a:schemeClr val="dk1"/>
              </a:solidFill>
              <a:latin typeface="Calibri"/>
            </a:endParaRPr>
          </a:p>
          <a:p>
            <a:pPr marL="228600" indent="-228600" algn="just" defTabSz="914400">
              <a:lnSpc>
                <a:spcPct val="100000"/>
              </a:lnSpc>
              <a:buClr>
                <a:srgbClr val="7F7F7F"/>
              </a:buClr>
              <a:buFont typeface="Arial"/>
              <a:buChar char="•"/>
            </a:pPr>
            <a:r>
              <a:rPr lang="es-MX" sz="1200" b="0" strike="noStrike" spc="-1">
                <a:solidFill>
                  <a:srgbClr val="7F7F7F"/>
                </a:solidFill>
                <a:latin typeface="Neue Haas Grotesk Text Pro"/>
              </a:rPr>
              <a:t>Observar, blindar y cerrar el curso con el capstone</a:t>
            </a:r>
            <a:endParaRPr lang="es-MX" sz="1200" b="0" strike="noStrike" spc="-1">
              <a:solidFill>
                <a:schemeClr val="dk1"/>
              </a:solidFill>
              <a:latin typeface="Calibri"/>
            </a:endParaRPr>
          </a:p>
        </p:txBody>
      </p:sp>
      <p:sp>
        <p:nvSpPr>
          <p:cNvPr id="425" name="PlaceHolder 2"/>
          <p:cNvSpPr>
            <a:spLocks noGrp="1"/>
          </p:cNvSpPr>
          <p:nvPr>
            <p:ph type="title"/>
          </p:nvPr>
        </p:nvSpPr>
        <p:spPr>
          <a:xfrm>
            <a:off x="576000" y="1124640"/>
            <a:ext cx="5375160" cy="3172680"/>
          </a:xfrm>
          <a:prstGeom prst="rect">
            <a:avLst/>
          </a:prstGeom>
          <a:noFill/>
          <a:ln w="0">
            <a:noFill/>
          </a:ln>
        </p:spPr>
        <p:txBody>
          <a:bodyPr lIns="91440" tIns="45720" rIns="91440" bIns="45720" anchor="b">
            <a:noAutofit/>
          </a:bodyPr>
          <a:lstStyle/>
          <a:p>
            <a:pPr indent="0" defTabSz="914400">
              <a:lnSpc>
                <a:spcPct val="90000"/>
              </a:lnSpc>
              <a:buNone/>
            </a:pPr>
            <a:r>
              <a:rPr lang="es-MX" sz="8000" b="1" strike="noStrike" spc="-1">
                <a:solidFill>
                  <a:schemeClr val="dk1"/>
                </a:solidFill>
                <a:latin typeface="Neue Haas Grotesk Text Pro"/>
              </a:rPr>
              <a:t>Capítulo 5</a:t>
            </a:r>
            <a:endParaRPr lang="es-MX" sz="8000" b="0" strike="noStrike" spc="-1">
              <a:solidFill>
                <a:schemeClr val="dk1"/>
              </a:solidFill>
              <a:latin typeface="Calibri"/>
            </a:endParaRPr>
          </a:p>
        </p:txBody>
      </p:sp>
      <p:sp>
        <p:nvSpPr>
          <p:cNvPr id="426" name="PlaceHolder 3"/>
          <p:cNvSpPr>
            <a:spLocks noGrp="1"/>
          </p:cNvSpPr>
          <p:nvPr>
            <p:ph/>
          </p:nvPr>
        </p:nvSpPr>
        <p:spPr>
          <a:xfrm>
            <a:off x="576000" y="4689360"/>
            <a:ext cx="11025000" cy="14871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2800" b="0" strike="noStrike" spc="-1">
                <a:solidFill>
                  <a:srgbClr val="1F3864"/>
                </a:solidFill>
                <a:latin typeface="Neue Haas Grotesk Text Pro"/>
              </a:rPr>
              <a:t>Procesamiento, integración, HA/DR y seguridad</a:t>
            </a:r>
            <a:endParaRPr lang="es-MX" sz="2800" b="0" strike="noStrike" spc="-1">
              <a:solidFill>
                <a:schemeClr val="dk1"/>
              </a:solidFill>
              <a:latin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5.1. ksqlDB: procesamiento de flujos con SQL</a:t>
            </a:r>
            <a:endParaRPr lang="es-MX" sz="3000" b="0" strike="noStrike" spc="-1">
              <a:solidFill>
                <a:schemeClr val="dk1"/>
              </a:solidFill>
              <a:latin typeface="Calibri"/>
            </a:endParaRPr>
          </a:p>
        </p:txBody>
      </p:sp>
      <p:sp>
        <p:nvSpPr>
          <p:cNvPr id="428"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Del evento suelto al flujo con sentido</a:t>
            </a:r>
            <a:endParaRPr lang="es-MX" sz="2800" b="0" strike="noStrike" spc="-1">
              <a:solidFill>
                <a:schemeClr val="dk1"/>
              </a:solidFill>
              <a:latin typeface="Calibri"/>
            </a:endParaRPr>
          </a:p>
        </p:txBody>
      </p:sp>
      <p:sp>
        <p:nvSpPr>
          <p:cNvPr id="430"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Hasta ahora movimos eventos; procesarlos exigía escribir aplicaciones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ksqlDB permite filtrar, agrupar, unir y agregar con SQL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Consultas que corren para siempre sobre flujos en movimiento</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El SQL que ya saben, aplicado a datos que nunca dejan de llegar</a:t>
            </a:r>
            <a:endParaRPr lang="es-MX" sz="1600" b="0" strike="noStrike" spc="-1">
              <a:solidFill>
                <a:schemeClr val="dk1"/>
              </a:solidFill>
              <a:latin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STREAM y TABLE: el extracto y el saldo</a:t>
            </a:r>
            <a:endParaRPr lang="es-MX" sz="2800" b="0" strike="noStrike" spc="-1">
              <a:solidFill>
                <a:schemeClr val="dk1"/>
              </a:solidFill>
              <a:latin typeface="Calibri"/>
            </a:endParaRPr>
          </a:p>
        </p:txBody>
      </p:sp>
      <p:sp>
        <p:nvSpPr>
          <p:cNvPr id="432"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433" name="Picture 3" descr="c5-stream-table.png"/>
          <p:cNvPicPr/>
          <p:nvPr/>
        </p:nvPicPr>
        <p:blipFill>
          <a:blip r:embed="rId3"/>
          <a:stretch/>
        </p:blipFill>
        <p:spPr>
          <a:xfrm>
            <a:off x="1219320" y="1554480"/>
            <a:ext cx="9753120" cy="4571640"/>
          </a:xfrm>
          <a:prstGeom prst="rect">
            <a:avLst/>
          </a:prstGeom>
          <a:ln w="0">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Consultas persistentes: SQL que no termina</a:t>
            </a:r>
            <a:endParaRPr lang="es-MX" sz="2800" b="0" strike="noStrike" spc="-1">
              <a:solidFill>
                <a:schemeClr val="dk1"/>
              </a:solidFill>
              <a:latin typeface="Calibri"/>
            </a:endParaRPr>
          </a:p>
        </p:txBody>
      </p:sp>
      <p:sp>
        <p:nvSpPr>
          <p:cNvPr id="435"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Una consulta normal responde una vez y termina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Una consulta persistente corre indefinidamente: cada evento nuevo la reevalúa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CREATE STREAM ... AS SELECT ... define una transformación que vive mientras el flujo viva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NovaTech: detectar en vivo vehículos que exceden velocidad, alimentando el sistema de anomalías</a:t>
            </a:r>
            <a:endParaRPr lang="es-MX" sz="1600" b="0" strike="noStrike" spc="-1">
              <a:solidFill>
                <a:schemeClr val="dk1"/>
              </a:solidFill>
              <a:latin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5.2. Kafka Connect: integración industrializada</a:t>
            </a:r>
            <a:endParaRPr lang="es-MX" sz="3000" b="0" strike="noStrike" spc="-1">
              <a:solidFill>
                <a:schemeClr val="dk1"/>
              </a:solidFill>
              <a:latin typeface="Calibri"/>
            </a:endParaRPr>
          </a:p>
        </p:txBody>
      </p:sp>
      <p:sp>
        <p:nvSpPr>
          <p:cNvPr id="437"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problema: Kafka no vive solo</a:t>
            </a:r>
            <a:endParaRPr lang="es-MX" sz="2800" b="0" strike="noStrike" spc="-1">
              <a:solidFill>
                <a:schemeClr val="dk1"/>
              </a:solidFill>
              <a:latin typeface="Calibri"/>
            </a:endParaRPr>
          </a:p>
        </p:txBody>
      </p:sp>
      <p:sp>
        <p:nvSpPr>
          <p:cNvPr id="43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Los datos valiosos nacen fuera (bases de datos, sistemas legados) y terminan fuera (warehouses, índices)</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Escribir integradores a mano para cada sistema es repetitivo y frágil</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Kafka Connect industrializa ese movimiento: integración por configuración, no por código</a:t>
            </a:r>
            <a:endParaRPr lang="es-MX" sz="1600" b="0" strike="noStrike" spc="-1">
              <a:solidFill>
                <a:schemeClr val="dk1"/>
              </a:solidFill>
              <a:latin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La cinta transportadora: Source, Sink, workers y tasks</a:t>
            </a:r>
            <a:endParaRPr lang="es-MX" sz="2400" b="0" strike="noStrike" spc="-1">
              <a:solidFill>
                <a:schemeClr val="dk1"/>
              </a:solidFill>
              <a:latin typeface="Calibri"/>
            </a:endParaRPr>
          </a:p>
        </p:txBody>
      </p:sp>
      <p:sp>
        <p:nvSpPr>
          <p:cNvPr id="44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442" name="Picture 3" descr="c5-connect.png"/>
          <p:cNvPicPr/>
          <p:nvPr/>
        </p:nvPicPr>
        <p:blipFill>
          <a:blip r:embed="rId3"/>
          <a:stretch/>
        </p:blipFill>
        <p:spPr>
          <a:xfrm>
            <a:off x="762120" y="1554480"/>
            <a:ext cx="10667520" cy="4571640"/>
          </a:xfrm>
          <a:prstGeom prst="rect">
            <a:avLst/>
          </a:prstGeom>
          <a:ln w="0">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000" b="1" strike="noStrike" spc="-1">
                <a:solidFill>
                  <a:srgbClr val="1F3864"/>
                </a:solidFill>
                <a:latin typeface="Neue Haas Grotesk Text Pro"/>
              </a:rPr>
              <a:t>5.3. Observabilidad y alta disponibilidad</a:t>
            </a:r>
            <a:endParaRPr lang="es-MX" sz="3000" b="0" strike="noStrike" spc="-1">
              <a:solidFill>
                <a:schemeClr val="dk1"/>
              </a:solidFill>
              <a:latin typeface="Calibri"/>
            </a:endParaRPr>
          </a:p>
        </p:txBody>
      </p:sp>
      <p:sp>
        <p:nvSpPr>
          <p:cNvPr id="444"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El tablero del avión: Prometheus y Grafana</a:t>
            </a:r>
            <a:endParaRPr lang="es-MX" sz="2800" b="0" strike="noStrike" spc="-1">
              <a:solidFill>
                <a:schemeClr val="dk1"/>
              </a:solidFill>
              <a:latin typeface="Calibri"/>
            </a:endParaRPr>
          </a:p>
        </p:txBody>
      </p:sp>
      <p:sp>
        <p:nvSpPr>
          <p:cNvPr id="44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447" name="Picture 3" descr="c5-observabilidad.png"/>
          <p:cNvPicPr/>
          <p:nvPr/>
        </p:nvPicPr>
        <p:blipFill>
          <a:blip r:embed="rId3"/>
          <a:stretch/>
        </p:blipFill>
        <p:spPr>
          <a:xfrm>
            <a:off x="992520" y="1554480"/>
            <a:ext cx="10206720" cy="4571640"/>
          </a:xfrm>
          <a:prstGeom prst="rect">
            <a:avLst/>
          </a:prstGeom>
          <a:ln w="0">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400" b="1" strike="noStrike" spc="-1">
                <a:solidFill>
                  <a:srgbClr val="1F3864"/>
                </a:solidFill>
                <a:latin typeface="Neue Haas Grotesk Text Pro"/>
              </a:rPr>
              <a:t>HA y DR: dos capas distintas de resiliencia</a:t>
            </a:r>
            <a:endParaRPr lang="es-MX" sz="2400" b="0" strike="noStrike" spc="-1">
              <a:solidFill>
                <a:schemeClr val="dk1"/>
              </a:solidFill>
              <a:latin typeface="Calibri"/>
            </a:endParaRPr>
          </a:p>
        </p:txBody>
      </p:sp>
      <p:sp>
        <p:nvSpPr>
          <p:cNvPr id="449"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HA (alta disponibilidad): sobrevivir a fallos locales — réplicas, ISR, elección de líder</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DR (recuperación ante desastres): sobrevivir a la pérdida de un sitio completo — replicar a otro clúster/región</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HA la vieron en vivo (Lab 02, Lab 08); DR se diseña a nivel de arquitectura</a:t>
            </a:r>
            <a:endParaRPr lang="es-MX" sz="1600" b="0" strike="noStrike" spc="-1">
              <a:solidFill>
                <a:schemeClr val="dk1"/>
              </a:solidFill>
              <a:latin typeface="Calibri"/>
            </a:endParaRPr>
          </a:p>
          <a:p>
            <a:pPr marL="228600" indent="-228600" algn="just" defTabSz="914400">
              <a:lnSpc>
                <a:spcPct val="100000"/>
              </a:lnSpc>
              <a:spcBef>
                <a:spcPts val="1001"/>
              </a:spcBef>
              <a:buClr>
                <a:srgbClr val="262626"/>
              </a:buClr>
              <a:buFont typeface="Arial"/>
              <a:buChar char="•"/>
            </a:pPr>
            <a:r>
              <a:rPr lang="es-MX" sz="1600" b="0" strike="noStrike" spc="-1">
                <a:solidFill>
                  <a:srgbClr val="262626"/>
                </a:solidFill>
                <a:latin typeface="Neue Haas Grotesk Text Pro"/>
              </a:rPr>
              <a:t>Un plan serio contempla ambas</a:t>
            </a:r>
            <a:endParaRPr lang="es-MX" sz="1600" b="0" strike="noStrike" spc="-1">
              <a:solidFill>
                <a:schemeClr val="dk1"/>
              </a:solidFill>
              <a:latin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3200" b="1" strike="noStrike" spc="-1">
                <a:solidFill>
                  <a:srgbClr val="1F3864"/>
                </a:solidFill>
                <a:latin typeface="Neue Haas Grotesk Text Pro"/>
              </a:rPr>
              <a:t>La tríada, en serio esta vez</a:t>
            </a:r>
            <a:endParaRPr lang="es-MX" sz="3200" b="0" strike="noStrike" spc="-1">
              <a:solidFill>
                <a:schemeClr val="dk1"/>
              </a:solidFill>
              <a:latin typeface="Calibri"/>
            </a:endParaRPr>
          </a:p>
        </p:txBody>
      </p:sp>
      <p:sp>
        <p:nvSpPr>
          <p:cNvPr id="451"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452" name="Picture 3" descr="c5-triada.png"/>
          <p:cNvPicPr/>
          <p:nvPr/>
        </p:nvPicPr>
        <p:blipFill>
          <a:blip r:embed="rId3"/>
          <a:stretch/>
        </p:blipFill>
        <p:spPr>
          <a:xfrm>
            <a:off x="1108440" y="1554480"/>
            <a:ext cx="9974880" cy="4571640"/>
          </a:xfrm>
          <a:prstGeom prst="rect">
            <a:avLst/>
          </a:prstGeom>
          <a:ln w="0">
            <a:noFill/>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PlaceHolder 1"/>
          <p:cNvSpPr>
            <a:spLocks noGrp="1"/>
          </p:cNvSpPr>
          <p:nvPr>
            <p:ph/>
          </p:nvPr>
        </p:nvSpPr>
        <p:spPr>
          <a:xfrm>
            <a:off x="831960" y="384840"/>
            <a:ext cx="10491480" cy="229356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s-MX" sz="3600" b="1" strike="noStrike" spc="-1">
                <a:solidFill>
                  <a:srgbClr val="1F3864"/>
                </a:solidFill>
                <a:latin typeface="Neue Haas Grotesk Text Pro"/>
              </a:rPr>
              <a:t>5.4. Seguridad: TLS, SASL y ACLs</a:t>
            </a:r>
            <a:endParaRPr lang="es-MX" sz="3600" b="0" strike="noStrike" spc="-1">
              <a:solidFill>
                <a:schemeClr val="dk1"/>
              </a:solidFill>
              <a:latin typeface="Calibri"/>
            </a:endParaRPr>
          </a:p>
        </p:txBody>
      </p:sp>
      <p:sp>
        <p:nvSpPr>
          <p:cNvPr id="454" name="PlaceHolder 2"/>
          <p:cNvSpPr>
            <a:spLocks noGrp="1"/>
          </p:cNvSpPr>
          <p:nvPr>
            <p:ph/>
          </p:nvPr>
        </p:nvSpPr>
        <p:spPr>
          <a:xfrm>
            <a:off x="831960" y="3063960"/>
            <a:ext cx="10491480" cy="340848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PlaceHolder 1"/>
          <p:cNvSpPr>
            <a:spLocks noGrp="1"/>
          </p:cNvSpPr>
          <p:nvPr>
            <p:ph/>
          </p:nvPr>
        </p:nvSpPr>
        <p:spPr>
          <a:xfrm>
            <a:off x="664920" y="0"/>
            <a:ext cx="10935360" cy="119988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s-MX" sz="2800" b="1" strike="noStrike" spc="-1">
                <a:solidFill>
                  <a:srgbClr val="1F3864"/>
                </a:solidFill>
                <a:latin typeface="Neue Haas Grotesk Text Pro"/>
              </a:rPr>
              <a:t>Las tres puertas del edificio seguro</a:t>
            </a:r>
            <a:endParaRPr lang="es-MX" sz="2800" b="0" strike="noStrike" spc="-1">
              <a:solidFill>
                <a:schemeClr val="dk1"/>
              </a:solidFill>
              <a:latin typeface="Calibri"/>
            </a:endParaRPr>
          </a:p>
        </p:txBody>
      </p:sp>
      <p:sp>
        <p:nvSpPr>
          <p:cNvPr id="456" name="PlaceHolder 2"/>
          <p:cNvSpPr>
            <a:spLocks noGrp="1"/>
          </p:cNvSpPr>
          <p:nvPr>
            <p:ph/>
          </p:nvPr>
        </p:nvSpPr>
        <p:spPr>
          <a:xfrm>
            <a:off x="665280" y="1330200"/>
            <a:ext cx="10936080" cy="4744800"/>
          </a:xfrm>
          <a:prstGeom prst="rect">
            <a:avLst/>
          </a:prstGeom>
          <a:noFill/>
          <a:ln w="0">
            <a:noFill/>
          </a:ln>
        </p:spPr>
        <p:txBody>
          <a:bodyPr lIns="91440" tIns="45720" rIns="91440" bIns="45720" anchor="ctr">
            <a:noAutofit/>
          </a:bodyPr>
          <a:lstStyle/>
          <a:p>
            <a:pPr indent="0">
              <a:lnSpc>
                <a:spcPct val="90000"/>
              </a:lnSpc>
              <a:spcBef>
                <a:spcPts val="1417"/>
              </a:spcBef>
              <a:buNone/>
            </a:pPr>
            <a:endParaRPr lang="es-MX" sz="2200" b="0" strike="noStrike" spc="-1">
              <a:solidFill>
                <a:schemeClr val="dk1"/>
              </a:solidFill>
              <a:latin typeface="Neue Haas Grotesk Text Pro"/>
            </a:endParaRPr>
          </a:p>
        </p:txBody>
      </p:sp>
      <p:pic>
        <p:nvPicPr>
          <p:cNvPr id="457" name="Picture 3" descr="c5-seguridad.png"/>
          <p:cNvPicPr/>
          <p:nvPr/>
        </p:nvPicPr>
        <p:blipFill>
          <a:blip r:embed="rId3"/>
          <a:stretch/>
        </p:blipFill>
        <p:spPr>
          <a:xfrm>
            <a:off x="1004400" y="1554480"/>
            <a:ext cx="10182600" cy="4571640"/>
          </a:xfrm>
          <a:prstGeom prst="rect">
            <a:avLst/>
          </a:prstGeom>
          <a:ln w="0">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PlaceHolder 1"/>
          <p:cNvSpPr>
            <a:spLocks noGrp="1"/>
          </p:cNvSpPr>
          <p:nvPr>
            <p:ph/>
          </p:nvPr>
        </p:nvSpPr>
        <p:spPr>
          <a:xfrm>
            <a:off x="950760" y="2004840"/>
            <a:ext cx="7555320" cy="3573360"/>
          </a:xfrm>
          <a:prstGeom prst="rect">
            <a:avLst/>
          </a:prstGeom>
          <a:noFill/>
          <a:ln w="0">
            <a:noFill/>
          </a:ln>
        </p:spPr>
        <p:txBody>
          <a:bodyPr lIns="91440" tIns="45720" rIns="91440" bIns="45720" anchor="t">
            <a:noAutofit/>
          </a:bodyPr>
          <a:lstStyle/>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1 · ksqlDB: SQL sobre flujos — STREAM (la historia) y TABLE (el ahora)</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2 · Connect industrializa la integración: configuración, no código</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3 · Observabilidad: Prometheus + Grafana, con el consumer lag como indicador rey</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4 · La tríada con números: RF=3, min.ISR=2, acks=all</a:t>
            </a:r>
            <a:endParaRPr lang="es-MX" sz="1600" b="0" strike="noStrike" spc="-1">
              <a:solidFill>
                <a:schemeClr val="dk1"/>
              </a:solidFill>
              <a:latin typeface="Calibri"/>
            </a:endParaRPr>
          </a:p>
          <a:p>
            <a:pPr marL="228600" indent="-228600" algn="just" defTabSz="914400">
              <a:lnSpc>
                <a:spcPct val="100000"/>
              </a:lnSpc>
              <a:spcBef>
                <a:spcPts val="1001"/>
              </a:spcBef>
              <a:buClr>
                <a:srgbClr val="1F3864"/>
              </a:buClr>
              <a:buFont typeface="Arial"/>
              <a:buChar char="•"/>
            </a:pPr>
            <a:r>
              <a:rPr lang="es-MX" sz="1600" b="1" strike="noStrike" spc="-1">
                <a:solidFill>
                  <a:srgbClr val="1F3864"/>
                </a:solidFill>
                <a:latin typeface="Neue Haas Grotesk Text Pro"/>
              </a:rPr>
              <a:t>5 · Seguridad en tres puertas: TLS, SASL, ACLs</a:t>
            </a:r>
            <a:endParaRPr lang="es-MX" sz="1600" b="0" strike="noStrike" spc="-1">
              <a:solidFill>
                <a:schemeClr val="dk1"/>
              </a:solidFill>
              <a:latin typeface="Calibri"/>
            </a:endParaRPr>
          </a:p>
          <a:p>
            <a:pPr marL="228600" indent="-228600" algn="just" defTabSz="914400">
              <a:lnSpc>
                <a:spcPct val="100000"/>
              </a:lnSpc>
              <a:spcBef>
                <a:spcPts val="1001"/>
              </a:spcBef>
              <a:buClr>
                <a:srgbClr val="7F7F7F"/>
              </a:buClr>
              <a:buFont typeface="Arial"/>
              <a:buChar char="•"/>
            </a:pPr>
            <a:r>
              <a:rPr lang="es-MX" sz="1500" b="0" strike="noStrike" spc="-1">
                <a:solidFill>
                  <a:srgbClr val="7F7F7F"/>
                </a:solidFill>
                <a:latin typeface="Neue Haas Grotesk Text Pro"/>
              </a:rPr>
              <a:t>El cierre: Labs 12, 13 y el capstone</a:t>
            </a:r>
            <a:endParaRPr lang="es-MX" sz="1500" b="0" strike="noStrike" spc="-1">
              <a:solidFill>
                <a:schemeClr val="dk1"/>
              </a:solidFill>
              <a:latin typeface="Calibri"/>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12 · ksqlDB</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Operaciones de NovaTech quiere saber, en tiempo real, qué vehículos exceden la velocidad — sin escribir</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ni desplegar una aplicación. Hoy creas streams sobre los tópicos de la flota, derivas tablas de estado,</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y dejas corriendo una consulta persistente que transforma los datos en vivo, para siempre.</a:t>
            </a:r>
            <a:endParaRPr lang="es-MX" sz="1300" b="0" strike="noStrike" spc="-1">
              <a:solidFill>
                <a:schemeClr val="dk1"/>
              </a:solidFill>
              <a:latin typeface="Calibri"/>
            </a:endParaRPr>
          </a:p>
        </p:txBody>
      </p:sp>
      <p:sp>
        <p:nvSpPr>
          <p:cNvPr id="460"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Consultar y transformar flujos en tiempo real con SQL: STREAM, TABLE y consultas persistentes.</a:t>
            </a:r>
            <a:endParaRPr lang="es-MX" sz="1400" b="0" strike="noStrike" spc="-1">
              <a:solidFill>
                <a:schemeClr val="dk1"/>
              </a:solidFill>
              <a:latin typeface="Calibri"/>
            </a:endParaRPr>
          </a:p>
        </p:txBody>
      </p:sp>
      <p:sp>
        <p:nvSpPr>
          <p:cNvPr id="461"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12; crear un STREAM sobre los tópicos de la flota; derivar una TABLE de estado; dejar corriendo una consulta persistente y verla reaccionar a eventos nuevos; validar con bin/90-test-lab.sh.</a:t>
            </a:r>
            <a:endParaRPr lang="es-MX" sz="1300" b="0" strike="noStrike" spc="-1">
              <a:solidFill>
                <a:schemeClr val="dk1"/>
              </a:solidFill>
              <a:latin typeface="Calibri"/>
            </a:endParaRPr>
          </a:p>
        </p:txBody>
      </p:sp>
      <p:sp>
        <p:nvSpPr>
          <p:cNvPr id="462"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12 · Resultado esperado</a:t>
            </a:r>
            <a:endParaRPr lang="es-MX" sz="2800" b="0" strike="noStrike" spc="-1">
              <a:solidFill>
                <a:schemeClr val="dk1"/>
              </a:solidFill>
              <a:latin typeface="Calibri"/>
            </a:endParaRPr>
          </a:p>
        </p:txBody>
      </p:sp>
      <p:sp>
        <p:nvSpPr>
          <p:cNvPr id="464"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STREAM creado sobre los eventos de la flota, consultable con SQL</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TABLE de estado derivada: el último valor por clave, actualizándose sola</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Consulta persistente en ejecución continua, transformando datos en vuelo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La relación extracto→saldo (STREAM→TABLE) demostrada con eventos propios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13 · Kafka Connect</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El core legado de NovaTech vive en una base de datos que nadie quiere tocar — y sus datos se necesitan</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en la plataforma de eventos hoy. Escribir un integrador a mano queda prohibido: hoy despliegas Kafka</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Connect, configuras un connector, y ves los datos fluir sin haber escrito una sola línea de integración.</a:t>
            </a:r>
            <a:endParaRPr lang="es-MX" sz="1300" b="0" strike="noStrike" spc="-1">
              <a:solidFill>
                <a:schemeClr val="dk1"/>
              </a:solidFill>
              <a:latin typeface="Calibri"/>
            </a:endParaRPr>
          </a:p>
        </p:txBody>
      </p:sp>
      <p:sp>
        <p:nvSpPr>
          <p:cNvPr id="466"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Desplegar Kafka Connect e implementar una integración de datos con sistemas externos.</a:t>
            </a:r>
            <a:endParaRPr lang="es-MX" sz="1400" b="0" strike="noStrike" spc="-1">
              <a:solidFill>
                <a:schemeClr val="dk1"/>
              </a:solidFill>
              <a:latin typeface="Calibri"/>
            </a:endParaRPr>
          </a:p>
        </p:txBody>
      </p:sp>
      <p:sp>
        <p:nvSpPr>
          <p:cNvPr id="467"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13; levantar el worker de Connect; desplegar y configurar el connector; gestionar tasks y offsets; verificar el flujo de datos de extremo a extremo; validar con bin/90-test-lab.sh.</a:t>
            </a:r>
            <a:endParaRPr lang="es-MX" sz="1300" b="0" strike="noStrike" spc="-1">
              <a:solidFill>
                <a:schemeClr val="dk1"/>
              </a:solidFill>
              <a:latin typeface="Calibri"/>
            </a:endParaRPr>
          </a:p>
        </p:txBody>
      </p:sp>
      <p:sp>
        <p:nvSpPr>
          <p:cNvPr id="468"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13 · Resultado esperado</a:t>
            </a:r>
            <a:endParaRPr lang="es-MX" sz="2800" b="0" strike="noStrike" spc="-1">
              <a:solidFill>
                <a:schemeClr val="dk1"/>
              </a:solidFill>
              <a:latin typeface="Calibri"/>
            </a:endParaRPr>
          </a:p>
        </p:txBody>
      </p:sp>
      <p:sp>
        <p:nvSpPr>
          <p:cNvPr id="470"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Worker de Kafka Connect desplegado y operativo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Connector configurado y en ejecución (source y/o sink según el escenario)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Datos fluyendo de extremo a extremo sin código de integración</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Tasks y offsets del connector gestionados e inspeccionados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a:t>
            </a:r>
            <a:endParaRPr lang="es-MX" sz="1550" b="0" strike="noStrike" spc="-1">
              <a:solidFill>
                <a:schemeClr val="dk1"/>
              </a:solidFill>
              <a:latin typeface="Calibri"/>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PlaceHolder 1"/>
          <p:cNvSpPr>
            <a:spLocks noGrp="1"/>
          </p:cNvSpPr>
          <p:nvPr>
            <p:ph type="title"/>
          </p:nvPr>
        </p:nvSpPr>
        <p:spPr>
          <a:xfrm>
            <a:off x="838080" y="365040"/>
            <a:ext cx="10515240" cy="2239200"/>
          </a:xfrm>
          <a:prstGeom prst="rect">
            <a:avLst/>
          </a:prstGeom>
          <a:noFill/>
          <a:ln w="0">
            <a:noFill/>
          </a:ln>
        </p:spPr>
        <p:txBody>
          <a:bodyPr lIns="91440" tIns="45720" rIns="91440" bIns="45720" anchor="ctr">
            <a:noAutofit/>
          </a:bodyPr>
          <a:lstStyle/>
          <a:p>
            <a:pPr indent="0" algn="ctr" defTabSz="914400">
              <a:lnSpc>
                <a:spcPct val="90000"/>
              </a:lnSpc>
              <a:spcAft>
                <a:spcPts val="1001"/>
              </a:spcAft>
              <a:buNone/>
            </a:pPr>
            <a:r>
              <a:rPr lang="es-MX" sz="2400" b="1" strike="noStrike" spc="-1">
                <a:solidFill>
                  <a:srgbClr val="1F3864"/>
                </a:solidFill>
                <a:latin typeface="Neue Haas Grotesk Text Pro"/>
              </a:rPr>
              <a:t>Lab 14 · Capstone: resiliencia y seguridad</a:t>
            </a:r>
            <a:endParaRPr lang="es-MX" sz="2400" b="0" strike="noStrike" spc="-1">
              <a:solidFill>
                <a:schemeClr val="dk1"/>
              </a:solidFill>
              <a:latin typeface="Calibri"/>
            </a:endParaRPr>
          </a:p>
          <a:p>
            <a:pPr indent="0" algn="ctr" defTabSz="914400">
              <a:lnSpc>
                <a:spcPct val="115000"/>
              </a:lnSpc>
              <a:spcBef>
                <a:spcPts val="400"/>
              </a:spcBef>
              <a:buNone/>
            </a:pPr>
            <a:r>
              <a:rPr lang="es-MX" sz="1300" b="1" i="1" strike="noStrike" spc="-1">
                <a:solidFill>
                  <a:srgbClr val="262626"/>
                </a:solidFill>
                <a:latin typeface="Neue Haas Grotesk Text Pro"/>
              </a:rPr>
              <a:t>El examen final de NovaTech, y el tuyo: el clúster completo, cerrado con llave y bajo fuego. Cifras el</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tráfico con TLS, autenticas con SASL, autorizas con ACLs diferenciadas, provocas una denegación,</a:t>
            </a:r>
            <a:endParaRPr lang="es-MX" sz="1300" b="0" strike="noStrike" spc="-1">
              <a:solidFill>
                <a:schemeClr val="dk1"/>
              </a:solidFill>
              <a:latin typeface="Calibri"/>
            </a:endParaRPr>
          </a:p>
          <a:p>
            <a:pPr indent="0" algn="ctr" defTabSz="914400">
              <a:lnSpc>
                <a:spcPct val="115000"/>
              </a:lnSpc>
              <a:buNone/>
            </a:pPr>
            <a:r>
              <a:rPr lang="es-MX" sz="1300" b="1" i="1" strike="noStrike" spc="-1">
                <a:solidFill>
                  <a:srgbClr val="262626"/>
                </a:solidFill>
                <a:latin typeface="Neue Haas Grotesk Text Pro"/>
              </a:rPr>
              <a:t>ajustas la tríada de durabilidad — y ejecutas el failover definitivo: un broker cae y ni un mensaje se pierde.</a:t>
            </a:r>
            <a:endParaRPr lang="es-MX" sz="1300" b="0" strike="noStrike" spc="-1">
              <a:solidFill>
                <a:schemeClr val="dk1"/>
              </a:solidFill>
              <a:latin typeface="Calibri"/>
            </a:endParaRPr>
          </a:p>
        </p:txBody>
      </p:sp>
      <p:sp>
        <p:nvSpPr>
          <p:cNvPr id="472" name="PlaceHolder 2"/>
          <p:cNvSpPr>
            <a:spLocks noGrp="1"/>
          </p:cNvSpPr>
          <p:nvPr>
            <p:ph/>
          </p:nvPr>
        </p:nvSpPr>
        <p:spPr>
          <a:xfrm>
            <a:off x="1052640" y="3768840"/>
            <a:ext cx="10067400" cy="7110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es-MX" sz="1400" b="1" strike="noStrike" spc="-1">
                <a:solidFill>
                  <a:srgbClr val="1F3864"/>
                </a:solidFill>
                <a:latin typeface="Neue Haas Grotesk Text Pro"/>
              </a:rPr>
              <a:t>Integrar todo lo aprendido: autenticación TLS/SASL, autorización con ACLs y failover sin pérdida de datos.</a:t>
            </a:r>
            <a:endParaRPr lang="es-MX" sz="1400" b="0" strike="noStrike" spc="-1">
              <a:solidFill>
                <a:schemeClr val="dk1"/>
              </a:solidFill>
              <a:latin typeface="Calibri"/>
            </a:endParaRPr>
          </a:p>
        </p:txBody>
      </p:sp>
      <p:sp>
        <p:nvSpPr>
          <p:cNvPr id="473" name="PlaceHolder 3"/>
          <p:cNvSpPr>
            <a:spLocks noGrp="1"/>
          </p:cNvSpPr>
          <p:nvPr>
            <p:ph/>
          </p:nvPr>
        </p:nvSpPr>
        <p:spPr>
          <a:xfrm>
            <a:off x="1052640" y="4906800"/>
            <a:ext cx="10067400" cy="1188360"/>
          </a:xfrm>
          <a:prstGeom prst="rect">
            <a:avLst/>
          </a:prstGeom>
          <a:noFill/>
          <a:ln w="0">
            <a:noFill/>
          </a:ln>
        </p:spPr>
        <p:txBody>
          <a:bodyPr lIns="91440" tIns="45720" rIns="91440" bIns="45720" anchor="t">
            <a:noAutofit/>
          </a:bodyPr>
          <a:lstStyle/>
          <a:p>
            <a:pPr indent="0" defTabSz="914400">
              <a:lnSpc>
                <a:spcPct val="110000"/>
              </a:lnSpc>
              <a:spcBef>
                <a:spcPts val="1001"/>
              </a:spcBef>
              <a:buNone/>
              <a:tabLst>
                <a:tab pos="0" algn="l"/>
              </a:tabLst>
            </a:pPr>
            <a:r>
              <a:rPr lang="es-MX" sz="1300" b="0" strike="noStrike" spc="-1">
                <a:solidFill>
                  <a:srgbClr val="262626"/>
                </a:solidFill>
                <a:latin typeface="Neue Haas Grotesk Text Pro"/>
              </a:rPr>
              <a:t>Seguir el README del Lab 14; habilitar TLS y SASL; definir ACLs diferenciadas por usuario; provocar y analizar la denegación de autorización; configurar RF/min.ISR/acks; ejecutar la prueba de failover de extremo a extremo; validar con bin/90-test-lab.sh.</a:t>
            </a:r>
            <a:endParaRPr lang="es-MX" sz="1300" b="0" strike="noStrike" spc="-1">
              <a:solidFill>
                <a:schemeClr val="dk1"/>
              </a:solidFill>
              <a:latin typeface="Calibri"/>
            </a:endParaRPr>
          </a:p>
        </p:txBody>
      </p:sp>
      <p:sp>
        <p:nvSpPr>
          <p:cNvPr id="474" name="PlaceHolder 4"/>
          <p:cNvSpPr>
            <a:spLocks noGrp="1"/>
          </p:cNvSpPr>
          <p:nvPr>
            <p:ph/>
          </p:nvPr>
        </p:nvSpPr>
        <p:spPr>
          <a:xfrm>
            <a:off x="8459640" y="6243480"/>
            <a:ext cx="2893680" cy="248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200" b="0" strike="noStrike" spc="-1">
                <a:solidFill>
                  <a:srgbClr val="7F7F7F"/>
                </a:solidFill>
                <a:latin typeface="Neue Haas Grotesk Text Pro"/>
              </a:rPr>
              <a:t>60 min.</a:t>
            </a:r>
            <a:endParaRPr lang="es-MX" sz="1200" b="0" strike="noStrike" spc="-1">
              <a:solidFill>
                <a:schemeClr val="dk1"/>
              </a:solidFill>
              <a:latin typeface="Calibri"/>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MX" sz="2800" b="1" strike="noStrike" spc="-1">
                <a:solidFill>
                  <a:schemeClr val="dk1"/>
                </a:solidFill>
                <a:latin typeface="Neue Haas Grotesk Text Pro"/>
              </a:rPr>
              <a:t>Lab 14 · Resultado esperado</a:t>
            </a:r>
            <a:endParaRPr lang="es-MX" sz="2800" b="0" strike="noStrike" spc="-1">
              <a:solidFill>
                <a:schemeClr val="dk1"/>
              </a:solidFill>
              <a:latin typeface="Calibri"/>
            </a:endParaRPr>
          </a:p>
        </p:txBody>
      </p:sp>
      <p:sp>
        <p:nvSpPr>
          <p:cNvPr id="476" name="PlaceHolder 2"/>
          <p:cNvSpPr>
            <a:spLocks noGrp="1"/>
          </p:cNvSpPr>
          <p:nvPr>
            <p:ph/>
          </p:nvPr>
        </p:nvSpPr>
        <p:spPr>
          <a:xfrm>
            <a:off x="581040" y="1860480"/>
            <a:ext cx="10515240" cy="4470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MX" sz="1550" b="0" strike="noStrike" spc="-1">
                <a:solidFill>
                  <a:srgbClr val="262626"/>
                </a:solidFill>
                <a:latin typeface="Neue Haas Grotesk Text Pro"/>
              </a:rPr>
              <a:t>Tráfico cifrado con TLS y usuarios autenticados vía SASL</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ACLs diferenciadas aplicadas: cada identidad con sus permisos exactos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Un acceso no autorizado correctamente DENEGADO — la tercera puerta funcionando</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Failover ejecutado con RF=3, min.ISR=2 y acks=all: cero mensajes perdidos</a:t>
            </a:r>
            <a:endParaRPr lang="es-MX" sz="1550" b="0" strike="noStrike" spc="-1">
              <a:solidFill>
                <a:schemeClr val="dk1"/>
              </a:solidFill>
              <a:latin typeface="Calibri"/>
            </a:endParaRPr>
          </a:p>
          <a:p>
            <a:pPr indent="0" defTabSz="914400">
              <a:lnSpc>
                <a:spcPct val="90000"/>
              </a:lnSpc>
              <a:spcBef>
                <a:spcPts val="1001"/>
              </a:spcBef>
              <a:buNone/>
              <a:tabLst>
                <a:tab pos="0" algn="l"/>
              </a:tabLst>
            </a:pPr>
            <a:r>
              <a:rPr lang="es-MX" sz="1550" b="0" strike="noStrike" spc="-1">
                <a:solidFill>
                  <a:srgbClr val="262626"/>
                </a:solidFill>
                <a:latin typeface="Neue Haas Grotesk Text Pro"/>
              </a:rPr>
              <a:t>Validación bin/90-test-lab.sh en verde: el curso cerrado con evidencia</a:t>
            </a:r>
            <a:endParaRPr lang="es-MX" sz="1550" b="0" strike="noStrike" spc="-1">
              <a:solidFill>
                <a:schemeClr val="dk1"/>
              </a:solidFill>
              <a:latin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PlaceHolder 1"/>
          <p:cNvSpPr>
            <a:spLocks noGrp="1"/>
          </p:cNvSpPr>
          <p:nvPr>
            <p:ph/>
          </p:nvPr>
        </p:nvSpPr>
        <p:spPr>
          <a:xfrm>
            <a:off x="371160" y="2803680"/>
            <a:ext cx="7919640" cy="3421440"/>
          </a:xfrm>
          <a:prstGeom prst="rect">
            <a:avLst/>
          </a:prstGeom>
          <a:noFill/>
          <a:ln w="0">
            <a:noFill/>
          </a:ln>
        </p:spPr>
        <p:txBody>
          <a:bodyPr lIns="91440" tIns="45720" rIns="91440" bIns="45720" anchor="t">
            <a:noAutofit/>
          </a:bodyPr>
          <a:lstStyle/>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Confluent — ksqlDB y Kafka Connect — docs.confluent.io/platform/current</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Apache Kafka — Security (TLS, SASL, autorización) — kafka.apache.org/documentation/#security</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Prometheus (prometheus.io) y Grafana (grafana.com) — documentación oficial</a:t>
            </a:r>
            <a:endParaRPr lang="es-MX" sz="1400" b="0" strike="noStrike" spc="-1">
              <a:solidFill>
                <a:schemeClr val="dk1"/>
              </a:solidFill>
              <a:latin typeface="Calibri"/>
            </a:endParaRPr>
          </a:p>
          <a:p>
            <a:pPr marL="285840" indent="-285840" algn="just" defTabSz="914400">
              <a:lnSpc>
                <a:spcPct val="100000"/>
              </a:lnSpc>
              <a:spcBef>
                <a:spcPts val="1001"/>
              </a:spcBef>
              <a:buClr>
                <a:srgbClr val="262626"/>
              </a:buClr>
              <a:buFont typeface="Arial"/>
              <a:buChar char="•"/>
            </a:pPr>
            <a:r>
              <a:rPr lang="es-MX" sz="1400" b="0" strike="noStrike" spc="-1">
                <a:solidFill>
                  <a:srgbClr val="262626"/>
                </a:solidFill>
                <a:latin typeface="Neue Haas Grotesk Text Pro"/>
              </a:rPr>
              <a:t>Shapira, Palino, Sivaram &amp; Petty — Kafka: The Definitive Guide, 2ª ed. (O’Reilly): seguridad y monitoreo</a:t>
            </a:r>
            <a:endParaRPr lang="es-MX" sz="1400" b="0" strike="noStrike" spc="-1">
              <a:solidFill>
                <a:schemeClr val="dk1"/>
              </a:solidFill>
              <a:latin typeface="Calibri"/>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0.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7.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Desarrollo Basico - Aumentado (4)</Template>
  <TotalTime>17066</TotalTime>
  <Words>11417</Words>
  <Application>Microsoft Macintosh PowerPoint</Application>
  <PresentationFormat>Panorámica</PresentationFormat>
  <Paragraphs>841</Paragraphs>
  <Slides>147</Slides>
  <Notes>135</Notes>
  <HiddenSlides>0</HiddenSlides>
  <MMClips>0</MMClips>
  <ScaleCrop>false</ScaleCrop>
  <HeadingPairs>
    <vt:vector size="6" baseType="variant">
      <vt:variant>
        <vt:lpstr>Fuentes usadas</vt:lpstr>
      </vt:variant>
      <vt:variant>
        <vt:i4>7</vt:i4>
      </vt:variant>
      <vt:variant>
        <vt:lpstr>Tema</vt:lpstr>
      </vt:variant>
      <vt:variant>
        <vt:i4>27</vt:i4>
      </vt:variant>
      <vt:variant>
        <vt:lpstr>Títulos de diapositiva</vt:lpstr>
      </vt:variant>
      <vt:variant>
        <vt:i4>147</vt:i4>
      </vt:variant>
    </vt:vector>
  </HeadingPairs>
  <TitlesOfParts>
    <vt:vector size="181" baseType="lpstr">
      <vt:lpstr>Arial</vt:lpstr>
      <vt:lpstr>Calibri</vt:lpstr>
      <vt:lpstr>Consolas</vt:lpstr>
      <vt:lpstr>Neue Haas Grotesk Text Pro</vt:lpstr>
      <vt:lpstr>Symbol</vt:lpstr>
      <vt:lpstr>Times New Roman</vt:lpstr>
      <vt:lpstr>Wingdings</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Capítulo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Práctica: validación del entorno de laboratorio NovaTech contrató a tu equipo para operar su nueva plataforma de eventos. Antes de tocar un solo broker, un operador profesional certifica su herramienta de trabajo: si el entorno falla a mitad de un despliegue, el problema deja de ser Kafka y pasa a ser tu máquina. Hoy blindamos ese frente.</vt:lpstr>
      <vt:lpstr>Resultado esperado</vt:lpstr>
      <vt:lpstr>Presentación de PowerPoint</vt:lpstr>
      <vt:lpstr>Capítulo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Lab 01 · Inicialización KRaft NovaTech aprobó la plataforma de eventos. El primer encargo de tu equipo: dar a luz el clúster. Hoy generas el folio único del clúster (cluster id), inscribes a cada nodo bajo ese folio con kafka-storage.sh y haces el bootstrap del quorum de tres controladores — sin ZooKeeper.</vt:lpstr>
      <vt:lpstr>Lab 01 · Resultado esperado</vt:lpstr>
      <vt:lpstr>Lab 02 · Validación de quorum y prueba de resiliencia El clúster de NovaTech ya respira. Pero un clúster que no ha demostrado sobrevivir a un fallo es una promesa, no una garantía. Hoy inspeccionas el quorum por dentro con kafka-metadata-quorum.sh y luego haces lo impensable: apagas un controlador en vivo — para ver la reelección con tus propios ojos.</vt:lpstr>
      <vt:lpstr>Lab 02 · Resultado esperado</vt:lpstr>
      <vt:lpstr>Presentación de PowerPoint</vt:lpstr>
      <vt:lpstr>Capítulo 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Lab 03 · Configuración e inicialización de brokers NovaTech necesita ambientes reproducibles: el clúster debe poder nacer, morir y renacer idéntico en la máquina de cualquier operador. Hoy declaras el clúster como código con Docker Compose y lees los archivos de configuración que definen la identidad de cada broker.</vt:lpstr>
      <vt:lpstr>Lab 03 · Resultado esperado</vt:lpstr>
      <vt:lpstr>Lab 04 · Clúster multi-broker y advertised.listeners Los clientes externos de NovaTech no logran conectarse: ven el clúster pero las conexiones expiran. El síntoma clásico del conserje que da mal la dirección. Hoy reproduces ese error a propósito, lo diagnosticas con evidencia y lo corriges configurando advertised.listeners como corresponde.</vt:lpstr>
      <vt:lpstr>Lab 04 · Resultado esperado</vt:lpstr>
      <vt:lpstr>Lab 05 · Operación de tópicos La flota de NovaTech emite eventos con personalidades distintas: el GPS es efímero (importa el ahora), las entregas son historia contable (importan por meses). Hoy creas tópicos a la medida de cada caso y observas a Kafka purgar por segmentos, en vivo, exactamente como lo prometió la teoría.</vt:lpstr>
      <vt:lpstr>Lab 05 · Resultado esperado</vt:lpstr>
      <vt:lpstr>Lab 06 · Producción y consumo desde la consola Antes de escribir una sola línea de código, un administrador domina el flujo con las manos desnudas. Hoy inyectas eventos de la flota con la consola, los consumes desde el principio y desde el final, y ves al offset registrar cada avance: la memoria del consumidor, en tiempo real.</vt:lpstr>
      <vt:lpstr>Lab 06 · Resultado esperado</vt:lpstr>
      <vt:lpstr>Lab 07 · Pruebas de rendimiento El directorio de NovaTech pregunta cuánto aguanta la plataforma — y "depende" no es una respuesta profesional sin números. Hoy generas carga sintética con las herramientas de perf, mueves las perillas (batch, linger, compresión, fetch) y mides el impacto real de cada ajuste sobre throughput y latencia.</vt:lpstr>
      <vt:lpstr>Lab 07 · Resultado esperado</vt:lpstr>
      <vt:lpstr>Lab 08 · Cambio de configuración de brokers en caliente NovaTech crece y el clúster necesita más músculo — pero la flota no deja de reportar ni un segundo. Hoy sumas y quitas brokers con el servicio activo, reasignas particiones para reequilibrar la carga y verificas que ni un solo mensaje se detuvo mientras el clúster se reorganizaba bajo tus manos.</vt:lpstr>
      <vt:lpstr>Lab 08 · Resultado esperado</vt:lpstr>
      <vt:lpstr>Presentación de PowerPoint</vt:lpstr>
      <vt:lpstr>Capítulo 4</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Lab 09 · Clientes Java y Spring Los equipos de desarrollo de NovaTech necesitan conectar sus aplicaciones a la plataforma — y la consola no es una opción para producción. Hoy escribes un productor y un consumidor con kafka-clients, luego repites el viaje con Spring, y comparas con criterio: control contra ergonomía.</vt:lpstr>
      <vt:lpstr>Lab 09 · Resultado esperado</vt:lpstr>
      <vt:lpstr>Lab 10 · REST Proxy y exploración visual Un sistema legado de NovaTech, escrito en un lenguaje sin cliente Kafka, necesita publicar eventos. Hoy le das voz por HTTP a través del REST Proxy: produces con un POST, consumes con un GET, y navegas el resultado en Kafbat UI — comparando en carne propia el costo de la traducción.</vt:lpstr>
      <vt:lpstr>Lab 10 · Resultado esperado</vt:lpstr>
      <vt:lpstr>Lab 11 · Schema Registry El incidente ya ocurrió una vez en NovaTech: un productor cambió la forma de sus eventos y un consumidor murió en silencio. No va a ocurrir dos veces. Hoy registras esquemas, los evolucionas de forma compatible, y luego intentas deliberadamente un cambio que rompe el contrato — para ver al notario rechazarlo en vivo.</vt:lpstr>
      <vt:lpstr>Lab 11 · Resultado esperado</vt:lpstr>
      <vt:lpstr>Presentación de PowerPoint</vt:lpstr>
      <vt:lpstr>Capítulo 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Lab 12 · ksqlDB Operaciones de NovaTech quiere saber, en tiempo real, qué vehículos exceden la velocidad — sin escribir ni desplegar una aplicación. Hoy creas streams sobre los tópicos de la flota, derivas tablas de estado, y dejas corriendo una consulta persistente que transforma los datos en vivo, para siempre.</vt:lpstr>
      <vt:lpstr>Lab 12 · Resultado esperado</vt:lpstr>
      <vt:lpstr>Lab 13 · Kafka Connect El core legado de NovaTech vive en una base de datos que nadie quiere tocar — y sus datos se necesitan en la plataforma de eventos hoy. Escribir un integrador a mano queda prohibido: hoy despliegas Kafka Connect, configuras un connector, y ves los datos fluir sin haber escrito una sola línea de integración.</vt:lpstr>
      <vt:lpstr>Lab 13 · Resultado esperado</vt:lpstr>
      <vt:lpstr>Lab 14 · Capstone: resiliencia y seguridad El examen final de NovaTech, y el tuyo: el clúster completo, cerrado con llave y bajo fuego. Cifras el tráfico con TLS, autenticas con SASL, autorizas con ACLs diferenciadas, provocas una denegación, ajustas la tríada de durabilidad — y ejecutas el failover definitivo: un broker cae y ni un mensaje se pierde.</vt:lpstr>
      <vt:lpstr>Lab 14 · Resultado esperado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Administración de Confluent Apache Kafka (SUNAT)</dc:title>
  <dc:creator>Rodrigo Silva</dc:creator>
  <cp:lastModifiedBy>Rodrigo Silva</cp:lastModifiedBy>
  <cp:revision>2</cp:revision>
  <dcterms:modified xsi:type="dcterms:W3CDTF">2026-07-08T02:46:53Z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0x0101006DDA8F6D7AA6E5489021B3A9BFE1B690</vt:lpwstr>
  </property>
  <property fmtid="{D5CDD505-2E9C-101B-9397-08002B2CF9AE}" pid="3" name="MSIP_Label_5961e708-1402-4612-a13a-d4cd7db65271_ActionId">
    <vt:lpwstr>d57eb1a8-d285-4338-92ca-6c977db92a6a</vt:lpwstr>
  </property>
  <property fmtid="{D5CDD505-2E9C-101B-9397-08002B2CF9AE}" pid="4" name="MSIP_Label_5961e708-1402-4612-a13a-d4cd7db65271_ContentBits">
    <vt:lpwstr>0</vt:lpwstr>
  </property>
  <property fmtid="{D5CDD505-2E9C-101B-9397-08002B2CF9AE}" pid="5" name="MSIP_Label_5961e708-1402-4612-a13a-d4cd7db65271_Enabled">
    <vt:lpwstr>true</vt:lpwstr>
  </property>
  <property fmtid="{D5CDD505-2E9C-101B-9397-08002B2CF9AE}" pid="6" name="MSIP_Label_5961e708-1402-4612-a13a-d4cd7db65271_Method">
    <vt:lpwstr>Privileged</vt:lpwstr>
  </property>
  <property fmtid="{D5CDD505-2E9C-101B-9397-08002B2CF9AE}" pid="7" name="MSIP_Label_5961e708-1402-4612-a13a-d4cd7db65271_Name">
    <vt:lpwstr>Público</vt:lpwstr>
  </property>
  <property fmtid="{D5CDD505-2E9C-101B-9397-08002B2CF9AE}" pid="8" name="MSIP_Label_5961e708-1402-4612-a13a-d4cd7db65271_SetDate">
    <vt:lpwstr>2026-06-09T22:36:04Z</vt:lpwstr>
  </property>
  <property fmtid="{D5CDD505-2E9C-101B-9397-08002B2CF9AE}" pid="9" name="MSIP_Label_5961e708-1402-4612-a13a-d4cd7db65271_SiteId">
    <vt:lpwstr>c0d4f0b3-9edd-4cee-b7f9-caf9a448f665</vt:lpwstr>
  </property>
  <property fmtid="{D5CDD505-2E9C-101B-9397-08002B2CF9AE}" pid="10" name="MSIP_Label_5961e708-1402-4612-a13a-d4cd7db65271_Tag">
    <vt:lpwstr>10, 0, 1, 1</vt:lpwstr>
  </property>
  <property fmtid="{D5CDD505-2E9C-101B-9397-08002B2CF9AE}" pid="11" name="PresentationFormat">
    <vt:lpwstr>Panorámica</vt:lpwstr>
  </property>
  <property fmtid="{D5CDD505-2E9C-101B-9397-08002B2CF9AE}" pid="12" name="Slides">
    <vt:r8>69</vt:r8>
  </property>
</Properties>
</file>