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8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6.xml" ContentType="application/vnd.openxmlformats-officedocument.presentationml.slideLayout+xml"/>
  <Override PartName="/ppt/media/image13.svg" ContentType="image/svg"/>
  <Override PartName="/ppt/slideMasters/slideMaster1.xml" ContentType="application/vnd.openxmlformats-officedocument.presentationml.slideMaster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lang="es-MX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move the slide</a:t>
            </a:r>
            <a:endParaRPr lang="es-MX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073FB24-B7B7-45C4-8CD2-C900895D0569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Presentación breve. CCAAK + experiencia. Encuadre para esta audiencia: "ustedes ya administran infraestructura; acá hablamos de operar Kafka 4.2 en serio, en KRaft, sin ZooKeeper".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27B00E1-68F0-453B-A33D-606681019EF5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Vender el arco: "al final inicializan un clúster KRaft desde cero, lo tunean, lo escalan en caliente y lo cierran con seguridad y failover sin pérdida". Aclarar: la Unidad 1 es la única de teoría pura.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18353A4-CCD0-48D7-9981-A4ACABBBDEDC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"Esto les va a sonar a algo que ya vivieron". Sembrar los tópicos reales: `novatech.fleet.events`, `novatech.fleet.gps`.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C48D3B6-2F72-4645-A84B-50DAE52DF16A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Analogía ancla — **la centralita telefónica de los años 20**: una operadora conectaba cables a mano; sumar un abonado era re-cablear el tablero. Kafka es el salto a la central automática: marcas a un número (un tópico) y no te importa quién contesta.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[PIZARRA] la telaraña (6 cajas todas-contra-todas) → al lado, las mismas 6 colgando de un bus central. El contraste en vivo pega más que renderizado.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F71690-B2AF-4FF6-9C06-828BF53A1A33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Ejemplo NovaTech: si registrar un evento GPS exige respuesta de facturación y facturación se cae, la flota deja de reportar. Absurdo. Pregunta a la sala: "¿cuántos incidentes suyos fueron un timeout en cascada?".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EDA401E-F248-4CB5-BE62-F09C6F0E8668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Recalcar el de flujo: productor rápido + consumidor lento coexisten porque el log amortigua. Reaparece literal en el Lab 07 (rendimiento).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2E51B6C-858E-4588-A39B-CA6472C7CA4E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malentendido #1 de quien viene de colas. Analogía: la cola es **un buzón de correo** (sacas la carta y ya no está); el log es **el diario mural del edificio** (la noticia queda, la leen todos, cada uno recuerda por dónde iba). El offset es ese "por dónde iba".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97065C7-B8F4-4750-B16F-418CC16706BE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Fusiona inmutabilidad + estructura. Sembrar para la Unidad 3: "la clave decide la partición; cuando en el Lab 05 vean por qué no se pueden reducir particiones, esta slide cobra sentido".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5E4844-CD4F-483E-B7F1-BFB68E2985DB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Analogía — **el libro de bitácora de un barco**: nadie borra ni reordena; solo se escribe la siguiente línea con hora. Frase para pizarra: "Kafka es un archivo al que se le agrega al final, hecho a escala planetaria".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767DDF7-0DE7-44CA-AE17-0B010D2AA47A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Cierre 5 min. Puente: "¿qué sistema suyo se beneficiaría más de desacoplar en el tiempo?". Recoger 2-3 respuestas.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C8A19AC-ECE8-4F61-9B35-7A9F00DAA125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Presentar todo antes de ir pieza por pieza. "Todo lo que aparezca acá lo levantan con sus manos desde mañana".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28861DE-3E28-47A8-8568-F0345CEF57F7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Fusiona 3 conceptos. Analogía de la partición — **las cajas de un supermercado**: abrir más cajas atiende a más gente en paralelo, pero el orden solo existe dentro de la fila de cada caja; la clave del evento decide a qué caja va cada cliente (y así los eventos de un mismo vehículo mantienen orden).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[PIZARRA] dibujar `novatech.fleet.events` abriéndose en 3 particiones con eventos de distinta clave cayendo cada uno a la suya.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D37E7B-8000-4710-BAC9-CDB5154BC869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Sembrar el consumer group sin agotarlo (tiene su tratamiento en Unidad 4): "un grupo es un equipo que se reparte las particiones; entra un miembro y Kafka reasigna solo". Conecta con el desacoplamiento de flujo.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318297D-6802-4457-A4EF-12D7E3C23EC9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Reforzar el contraste con la cola (diario mural vs buzón). Aterrizar en operación: "un consumidor cae y vuelve → retoma desde su último offset confirmado, no desde cero". Base de la resiliencia prometida.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8FBEB30-E894-474B-9B2E-0D928ECE1221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min de síntesis antes de entrar a durabilidad.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58459E3-A1AE-4935-A99B-B73289F02FD6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Fusiona replicación + ISR. Analogía — **el escriba y sus copistas**: el escriba (líder) redacta el acta; los copistas al día (ISR) transcriben; si el escriba enferma, un copista *al día* toma la pluma. Frase: "estar replicado no basta; hay que estar replicado Y al día".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9441B27-0C57-47BC-BCF5-3AA10E45876B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agotar números (eso es Unidad 3 / Lab 14). Instalar el modelo mental: "durabilidad y disponibilidad son una balanza; estas tres perillas la ajustan". Prometer el experimento en vivo del capstone.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[PIZARRA] la balanza — platillo "Durabilidad" (RF alto, min.ISR alto, acks=all) vs "Disponibilidad/latencia", con las 3 perillas como pesas. Perfecta para dibujar moviendo las pesas en vivo.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5F9D3DA-38F1-4BD3-A718-BCC76249A1E3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"wow" honesto. NovaTech: "el broker de la zona norte se apaga; en segundos otro es líder de esas particiones y los camiones siguen reportando, sin llamar a soporte". Este flujo EXACTO se prueba en el Lab 14 — venderlo.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[PIZARRA] 3 viñetas (sano → líder tachado con flecha de elección → nuevo líder), el ISR bajando de 3 a 2. Ideal para animarlo con el plumón.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09D0286-9B83-4A91-96C8-5EBDCCD4D501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Honestidad de ingeniería para esta audiencia: no vender Kafka como indestructible. Conecta con el dimensionamiento del quorum de la Unidad 2 (3 vs 5) — hilo tendido.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CB6AD9C-B2B0-4E4A-9E64-3D497953BE45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Cerrar Sesión 2 con hambre: "mañana dejamos de dibujar y encendemos el primer clúster; antes, la próxima sesión cierra la teoría con el ecosistema Confluent". Transición a Sesión 3.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B9909B4-7E0A-40A3-AB1C-2A9A7C8F265A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Transparencia: "el corazón es Apache Kafka; Confluent es la distro que lo rodea de herramientas, como una distro de Linux empaqueta el kernel". Sin marketing.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CE5D74C-D54D-4A99-A544-70E49910B7B9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Este es el mapa de las Unidades 3 y 4. "Cada anillo es uno o más labs que van a hacer". Reaparece al inicio de la Unidad 4.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739D6A2-4EDA-47DA-8EE3-92B609CCBA3C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 ancla — **el ecosistema es un mercado y Kafka es la plaza central**: cada puesto tiene su especialidad, pero todos comercian en la misma plaza. Nadie se la salta. Por eso entender Kafka primero era obligatorio.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4072C4C-D92B-47E7-8617-BF4F21E7F65F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NovaTech: "el core legado vive en una BD; un source connector lleva sus cambios a Kafka sin programar un integrador". Anunciar Lab 13. Frase: "Connect es el equipo de mudanzas: mueve datos, no los transforma".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D639B63-5FB8-4373-85A4-BCEE6A17E698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Analogía — **el notario**: antes de que un productor cambie la forma de sus eventos, verifica que el cambio no deje "sin poder leer" a quienes firmaron el contrato anterior. Anunciar Lab 11, donde el notario *rechaza* un cambio incompatible en vivo.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69133EC-4A2B-4AA5-BE25-710C7B438502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Fusiona dos componentes. ksqlDB: **la foto vs la película** — una tabla tradicional es la foto del estado actual; un STREAM es la película de cómo se llegó ahí; una TABLE es la foto reconstruida desde la película. REST Proxy: cómodo pero con costo de rendimiento, no para alto throughput. Labs 12 y 10.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59F70D0-E7E5-4028-9126-748E11F7ABCB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Transparencia técnica (esta audiencia lo agradece): Landoop quedó descontinuado e incompatible con Kafka 4.x; el curso usa **Kafbat UI**, su sucesor mantenido (ADR-001). Es lo que separa un curso actualizado de uno copiado. Control Center como pieza empresarial; ser claro sobre qué es demo y qué es práctica.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222DF8A-87A0-4F1F-89FE-753322A7AE03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Cierre de credibilidad: "versiones reales y verificadas, no 'la última genérica'; cuando algo cambió —como Landoop— se los decimos y damos el reemplazo". Argumento de venta silencioso.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50A03BB-81A6-4D7A-AD47-A605CCEDE7F6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Recordatorio de prerrequisitos de lab (Docker, recursos, entorno validado). Pedir confirmar el entorno antes de la Unidad 2 (checklist / VM Netec).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03E6E3E-33BC-4629-939C-4FB87EB14F0D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Reservar 10 min. Calibra el tono de las unidades prácticas. La tercera identifica a los veteranos de ZooKeeper, aliados narrativos para la Unidad 2.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52DD6C6-DD36-42EB-8A39-AEA7DB497E04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4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svg"/><Relationship Id="rId5" Type="http://schemas.openxmlformats.org/officeDocument/2006/relationships/image" Target="../media/image4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0.jpeg"/><Relationship Id="rId4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eg"/><Relationship Id="rId3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4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4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tada del curs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8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body" hasCustomPrompt="1"/>
          </p:nvPr>
        </p:nvSpPr>
        <p:spPr>
          <a:xfrm>
            <a:off x="478080" y="1189080"/>
            <a:ext cx="4090680" cy="44791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Nombre del curso</a:t>
            </a:r>
            <a:endParaRPr lang="es-MX" sz="48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4" name="Picture 3" descr="Concepto genético abstracto"/>
          <p:cNvPicPr/>
          <p:nvPr/>
        </p:nvPicPr>
        <p:blipFill>
          <a:blip r:embed="rId3"/>
          <a:srcRect l="0" t="10442" r="-2" b="10443"/>
          <a:stretch/>
        </p:blipFill>
        <p:spPr>
          <a:xfrm>
            <a:off x="5414400" y="818280"/>
            <a:ext cx="6408360" cy="506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Google Shape;3732;p425"/>
          <p:cNvPicPr/>
          <p:nvPr/>
        </p:nvPicPr>
        <p:blipFill>
          <a:blip r:embed="rId4"/>
          <a:stretch/>
        </p:blipFill>
        <p:spPr>
          <a:xfrm>
            <a:off x="8749800" y="5940720"/>
            <a:ext cx="2627640" cy="68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Google Shape;3731;p425"/>
          <p:cNvSpPr/>
          <p:nvPr/>
        </p:nvSpPr>
        <p:spPr>
          <a:xfrm>
            <a:off x="8145360" y="6285960"/>
            <a:ext cx="42742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  <a:ea typeface="Calibri"/>
              </a:rPr>
              <a:t>www.netec.com  |  servicio@netec.com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Imagen 5" descr="Logotipo  Descripción generada automáticamente"/>
          <p:cNvPicPr/>
          <p:nvPr/>
        </p:nvPicPr>
        <p:blipFill>
          <a:blip r:embed="rId5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s-MX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s-MX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s-MX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ombre del tem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body" hasCustomPrompt="1"/>
          </p:nvPr>
        </p:nvSpPr>
        <p:spPr>
          <a:xfrm>
            <a:off x="831960" y="384840"/>
            <a:ext cx="10491480" cy="2293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54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54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1.1 Tema</a:t>
            </a:r>
            <a:endParaRPr lang="es-MX" sz="5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 hasCustomPrompt="1"/>
          </p:nvPr>
        </p:nvSpPr>
        <p:spPr>
          <a:xfrm>
            <a:off x="831960" y="3063960"/>
            <a:ext cx="10491480" cy="340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457200" indent="-4572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Introducción.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12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ombre del tema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 hasCustomPrompt="1"/>
          </p:nvPr>
        </p:nvSpPr>
        <p:spPr>
          <a:xfrm>
            <a:off x="840600" y="4959000"/>
            <a:ext cx="1040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Subtema</a:t>
            </a:r>
            <a:endParaRPr lang="es-MX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 hasCustomPrompt="1"/>
          </p:nvPr>
        </p:nvSpPr>
        <p:spPr>
          <a:xfrm>
            <a:off x="839880" y="1301760"/>
            <a:ext cx="10402560" cy="3404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6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66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Nombre del capítulo</a:t>
            </a:r>
            <a:endParaRPr lang="es-MX" sz="66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16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- Gener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body"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Desarrollo del contenido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19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Haga clic para modificar los estilos de texto del patrón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1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Segundo nivel</a:t>
            </a:r>
            <a:endParaRPr lang="es-MX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2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Tercer nivel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600200" lvl="3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Cuarto nivel</a:t>
            </a:r>
            <a:endParaRPr lang="es-MX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057400" lvl="4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Quinto nivel</a:t>
            </a:r>
            <a:endParaRPr lang="es-MX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s-MX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s-MX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s-MX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- Imagen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body"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Desarrollo del contenido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 hasCustomPrompt="1"/>
          </p:nvPr>
        </p:nvSpPr>
        <p:spPr>
          <a:xfrm>
            <a:off x="664920" y="1336680"/>
            <a:ext cx="5430600" cy="378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Añade alguna imagen. 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 hasCustomPrompt="1"/>
          </p:nvPr>
        </p:nvSpPr>
        <p:spPr>
          <a:xfrm>
            <a:off x="665280" y="5283360"/>
            <a:ext cx="5430600" cy="7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Descripción de la imagen.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 hasCustomPrompt="1"/>
          </p:nvPr>
        </p:nvSpPr>
        <p:spPr>
          <a:xfrm>
            <a:off x="6174360" y="1336680"/>
            <a:ext cx="5430600" cy="469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343080" indent="-34308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Desarrollo del contenido. 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27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- Comparativ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PlaceHolder 1"/>
          <p:cNvSpPr>
            <a:spLocks noGrp="1"/>
          </p:cNvSpPr>
          <p:nvPr>
            <p:ph type="body"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Desarrollo del contenido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 hasCustomPrompt="1"/>
          </p:nvPr>
        </p:nvSpPr>
        <p:spPr>
          <a:xfrm>
            <a:off x="664920" y="1336680"/>
            <a:ext cx="5430600" cy="469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343080" indent="-34308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Elemento 1.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 hasCustomPrompt="1"/>
          </p:nvPr>
        </p:nvSpPr>
        <p:spPr>
          <a:xfrm>
            <a:off x="6174360" y="1336680"/>
            <a:ext cx="5430600" cy="469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343080" indent="-34308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Elemento 2. 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32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- Imagen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 hasCustomPrompt="1"/>
          </p:nvPr>
        </p:nvSpPr>
        <p:spPr>
          <a:xfrm>
            <a:off x="739080" y="743760"/>
            <a:ext cx="412812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s-ES" sz="32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s-ES" sz="32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Título</a:t>
            </a:r>
            <a:endParaRPr lang="es-MX" sz="32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 hasCustomPrompt="1"/>
          </p:nvPr>
        </p:nvSpPr>
        <p:spPr>
          <a:xfrm>
            <a:off x="5089320" y="744480"/>
            <a:ext cx="636408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Desarrollo del contenido.</a:t>
            </a:r>
            <a:endParaRPr lang="es-MX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738360" y="2586240"/>
            <a:ext cx="10715400" cy="3814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the outline text format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- Imagen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title" hasCustomPrompt="1"/>
          </p:nvPr>
        </p:nvSpPr>
        <p:spPr>
          <a:xfrm>
            <a:off x="1911960" y="226440"/>
            <a:ext cx="837720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Título</a:t>
            </a:r>
            <a:endParaRPr lang="es-MX" sz="40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360360" y="1974600"/>
            <a:ext cx="11471040" cy="446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14600" lvl="5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971800" lvl="6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1" name="Imagen 2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- Imagen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 hasCustomPrompt="1"/>
          </p:nvPr>
        </p:nvSpPr>
        <p:spPr>
          <a:xfrm>
            <a:off x="385560" y="937800"/>
            <a:ext cx="341028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ctr" defTabSz="914400">
              <a:lnSpc>
                <a:spcPct val="90000"/>
              </a:lnSpc>
              <a:buNone/>
              <a:defRPr lang="es-ES" sz="2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s-ES" sz="2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Título</a:t>
            </a:r>
            <a:endParaRPr lang="es-MX" sz="28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 hasCustomPrompt="1"/>
          </p:nvPr>
        </p:nvSpPr>
        <p:spPr>
          <a:xfrm>
            <a:off x="385200" y="2641680"/>
            <a:ext cx="3410280" cy="311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Descripción.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701240" y="512640"/>
            <a:ext cx="7104600" cy="5832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Click to edit the outline text format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- 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body"/>
          </p:nvPr>
        </p:nvSpPr>
        <p:spPr>
          <a:xfrm>
            <a:off x="419760" y="406080"/>
            <a:ext cx="11351880" cy="570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s-ES" sz="2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Haga clic para modificar los estilos de texto del patrón</a:t>
            </a:r>
            <a:endParaRPr lang="es-MX" sz="2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s-ES" sz="24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Segundo nivel</a:t>
            </a:r>
            <a:endParaRPr lang="es-MX" sz="24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Tercer nivel</a:t>
            </a:r>
            <a:endParaRPr lang="es-MX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Cuarto nivel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Quinto nivel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48" name="Imagen 1" descr="Logotipo  Descripción generada automáticamente"/>
          <p:cNvPicPr/>
          <p:nvPr/>
        </p:nvPicPr>
        <p:blipFill>
          <a:blip r:embed="rId2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- Código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body"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Desarrollo del contenido</a:t>
            </a:r>
            <a:endParaRPr lang="es-MX" sz="4000" b="0" u="none" strike="noStrike">
              <a:solidFill>
                <a:schemeClr val="lt1"/>
              </a:solidFill>
              <a:effectLst/>
              <a:uFillTx/>
              <a:latin typeface="Consola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 hasCustomPrompt="1"/>
          </p:nvPr>
        </p:nvSpPr>
        <p:spPr>
          <a:xfrm>
            <a:off x="664920" y="1330200"/>
            <a:ext cx="10935360" cy="4968360"/>
          </a:xfrm>
          <a:prstGeom prst="rect">
            <a:avLst/>
          </a:prstGeom>
          <a:solidFill>
            <a:schemeClr val="lt2">
              <a:lumMod val="25000"/>
            </a:schemeClr>
          </a:solidFill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s-ES" sz="1500" b="0" u="none" strike="noStrike">
                <a:solidFill>
                  <a:schemeClr val="lt1"/>
                </a:solidFill>
                <a:effectLst/>
                <a:uFillTx/>
                <a:latin typeface="Consolas"/>
              </a:defRPr>
            </a:lvl1pPr>
            <a:lvl2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s-MX" sz="1500" b="0" u="none" strike="noStrike">
                <a:solidFill>
                  <a:schemeClr val="lt1"/>
                </a:solidFill>
                <a:effectLst/>
                <a:uFillTx/>
                <a:latin typeface="Consolas"/>
              </a:defRPr>
            </a:lvl2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chemeClr val="lt1"/>
                </a:solidFill>
                <a:effectLst/>
                <a:uFillTx/>
                <a:latin typeface="Consolas"/>
              </a:rPr>
              <a:t>Código a desarrollar.</a:t>
            </a:r>
            <a:endParaRPr lang="es-MX" sz="1500" b="0" u="none" strike="noStrike">
              <a:solidFill>
                <a:schemeClr val="lt1"/>
              </a:solidFill>
              <a:effectLst/>
              <a:uFillTx/>
              <a:latin typeface="Consolas"/>
            </a:endParaRPr>
          </a:p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endParaRPr lang="es-MX" sz="1500" b="0" u="none" strike="noStrike">
              <a:solidFill>
                <a:schemeClr val="lt1"/>
              </a:solidFill>
              <a:effectLst/>
              <a:uFillTx/>
              <a:latin typeface="Consolas"/>
            </a:endParaRPr>
          </a:p>
        </p:txBody>
      </p:sp>
      <p:pic>
        <p:nvPicPr>
          <p:cNvPr id="52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opiedad intelectu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magen 8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adroTexto 7"/>
          <p:cNvSpPr/>
          <p:nvPr/>
        </p:nvSpPr>
        <p:spPr>
          <a:xfrm>
            <a:off x="5227920" y="2967480"/>
            <a:ext cx="6345000" cy="367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Material didáctico preparado por la empresa Global K, S.A. de C.V. Registrado en Derechos de Autor.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Todos los contenidos de este Sitio (incluyendo, pero no limitado a: texto, logotipos, contenido, fotografías, audio, botones, nombres comerciales y videos) están sujetos a derechos de propiedad por las leyes de Derechos de Autor de la empresa Global K, S.A. de C.V.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160" algn="just"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Queda prohibido copiar, reproducir, distribuir, publicar, transmitir, difundir, o en cualquier modo explotar cualquier parte de este documento sin la autorización previa por escrito de Global K, S.A. de C.V. o de los titulares correspondientes.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Graphic 7" descr="Contract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57200" y="1283760"/>
            <a:ext cx="4217040" cy="421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Título 1"/>
          <p:cNvSpPr/>
          <p:nvPr/>
        </p:nvSpPr>
        <p:spPr>
          <a:xfrm>
            <a:off x="5297040" y="1076400"/>
            <a:ext cx="6272280" cy="15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s-MX" sz="52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Propiedad intelectual</a:t>
            </a:r>
            <a:endParaRPr lang="es-ES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Imagen 1" descr="Logotipo  Descripción generada automáticamente"/>
          <p:cNvPicPr/>
          <p:nvPr/>
        </p:nvPicPr>
        <p:blipFill>
          <a:blip r:embed="rId5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- Código 50, Descripción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PlaceHolder 1"/>
          <p:cNvSpPr>
            <a:spLocks noGrp="1"/>
          </p:cNvSpPr>
          <p:nvPr>
            <p:ph type="body"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Desarrollo del contenido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 hasCustomPrompt="1"/>
          </p:nvPr>
        </p:nvSpPr>
        <p:spPr>
          <a:xfrm>
            <a:off x="664920" y="1330200"/>
            <a:ext cx="5329080" cy="4968360"/>
          </a:xfrm>
          <a:prstGeom prst="rect">
            <a:avLst/>
          </a:prstGeom>
          <a:solidFill>
            <a:schemeClr val="lt2">
              <a:lumMod val="25000"/>
            </a:schemeClr>
          </a:solidFill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s-ES" sz="1500" b="0" u="none" strike="noStrike">
                <a:solidFill>
                  <a:schemeClr val="lt1"/>
                </a:solidFill>
                <a:effectLst/>
                <a:uFillTx/>
                <a:latin typeface="Consolas"/>
              </a:defRPr>
            </a:lvl1pPr>
            <a:lvl2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s-MX" sz="1500" b="0" u="none" strike="noStrike">
                <a:solidFill>
                  <a:schemeClr val="lt1"/>
                </a:solidFill>
                <a:effectLst/>
                <a:uFillTx/>
                <a:latin typeface="Consolas"/>
              </a:defRPr>
            </a:lvl2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chemeClr val="lt1"/>
                </a:solidFill>
                <a:effectLst/>
                <a:uFillTx/>
                <a:latin typeface="Consolas"/>
              </a:rPr>
              <a:t>Código a desarrollar.</a:t>
            </a:r>
            <a:endParaRPr lang="es-MX" sz="15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endParaRPr lang="es-MX" sz="15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 hasCustomPrompt="1"/>
          </p:nvPr>
        </p:nvSpPr>
        <p:spPr>
          <a:xfrm>
            <a:off x="6197760" y="1330200"/>
            <a:ext cx="5403600" cy="495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just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228600" indent="-228600" algn="just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Explicación del código.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62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2 - Código 50, Descripción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body"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Desarrollo del contenido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 hasCustomPrompt="1"/>
          </p:nvPr>
        </p:nvSpPr>
        <p:spPr>
          <a:xfrm>
            <a:off x="664920" y="3352680"/>
            <a:ext cx="10935360" cy="2681640"/>
          </a:xfrm>
          <a:prstGeom prst="rect">
            <a:avLst/>
          </a:prstGeom>
          <a:solidFill>
            <a:schemeClr val="lt2">
              <a:lumMod val="25000"/>
            </a:schemeClr>
          </a:solidFill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s-ES" sz="1500" b="0" u="none" strike="noStrike">
                <a:solidFill>
                  <a:schemeClr val="lt1"/>
                </a:solidFill>
                <a:effectLst/>
                <a:uFillTx/>
                <a:latin typeface="Consolas"/>
              </a:defRPr>
            </a:lvl1pPr>
            <a:lvl2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s-MX" sz="1500" b="0" u="none" strike="noStrike">
                <a:solidFill>
                  <a:schemeClr val="lt1"/>
                </a:solidFill>
                <a:effectLst/>
                <a:uFillTx/>
                <a:latin typeface="Consolas"/>
              </a:defRPr>
            </a:lvl2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chemeClr val="lt1"/>
                </a:solidFill>
                <a:effectLst/>
                <a:uFillTx/>
                <a:latin typeface="Consolas"/>
              </a:rPr>
              <a:t>Código a desarrollar.</a:t>
            </a:r>
            <a:endParaRPr lang="es-MX" sz="15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endParaRPr lang="es-MX" sz="15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 hasCustomPrompt="1"/>
          </p:nvPr>
        </p:nvSpPr>
        <p:spPr>
          <a:xfrm>
            <a:off x="664920" y="1330200"/>
            <a:ext cx="10936080" cy="190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just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228600" indent="-228600" algn="just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Explicación del código.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67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- 2 códigos vertical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body"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Desarrollo del contenido</a:t>
            </a:r>
            <a:endParaRPr lang="es-MX" sz="4000" b="0" u="none" strike="noStrike">
              <a:solidFill>
                <a:schemeClr val="lt1"/>
              </a:solidFill>
              <a:effectLst/>
              <a:uFillTx/>
              <a:latin typeface="Consolas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 hasCustomPrompt="1"/>
          </p:nvPr>
        </p:nvSpPr>
        <p:spPr>
          <a:xfrm>
            <a:off x="664920" y="1330200"/>
            <a:ext cx="5329080" cy="4968360"/>
          </a:xfrm>
          <a:prstGeom prst="rect">
            <a:avLst/>
          </a:prstGeom>
          <a:solidFill>
            <a:schemeClr val="lt2">
              <a:lumMod val="25000"/>
            </a:schemeClr>
          </a:solidFill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s-ES" sz="1500" b="0" u="none" strike="noStrike">
                <a:solidFill>
                  <a:schemeClr val="lt1"/>
                </a:solidFill>
                <a:effectLst/>
                <a:uFillTx/>
                <a:latin typeface="Consolas"/>
              </a:defRPr>
            </a:lvl1pPr>
            <a:lvl2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s-MX" sz="1500" b="0" u="none" strike="noStrike">
                <a:solidFill>
                  <a:schemeClr val="lt1"/>
                </a:solidFill>
                <a:effectLst/>
                <a:uFillTx/>
                <a:latin typeface="Consolas"/>
              </a:defRPr>
            </a:lvl2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chemeClr val="lt1"/>
                </a:solidFill>
                <a:effectLst/>
                <a:uFillTx/>
                <a:latin typeface="Consolas"/>
              </a:rPr>
              <a:t>Código a desarrollar.</a:t>
            </a:r>
            <a:endParaRPr lang="es-MX" sz="1500" b="0" u="none" strike="noStrike">
              <a:solidFill>
                <a:schemeClr val="lt1"/>
              </a:solidFill>
              <a:effectLst/>
              <a:uFillTx/>
              <a:latin typeface="Consolas"/>
            </a:endParaRPr>
          </a:p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endParaRPr lang="es-MX" sz="1500" b="0" u="none" strike="noStrike">
              <a:solidFill>
                <a:schemeClr val="lt1"/>
              </a:solidFill>
              <a:effectLst/>
              <a:uFillTx/>
              <a:latin typeface="Consolas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 hasCustomPrompt="1"/>
          </p:nvPr>
        </p:nvSpPr>
        <p:spPr>
          <a:xfrm>
            <a:off x="6197760" y="1330200"/>
            <a:ext cx="5403600" cy="4959000"/>
          </a:xfrm>
          <a:prstGeom prst="rect">
            <a:avLst/>
          </a:prstGeom>
          <a:solidFill>
            <a:schemeClr val="lt2">
              <a:lumMod val="25000"/>
            </a:schemeClr>
          </a:solidFill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500" b="0" u="none" strike="noStrike">
                <a:solidFill>
                  <a:schemeClr val="lt1"/>
                </a:solidFill>
                <a:effectLst/>
                <a:uFillTx/>
                <a:latin typeface="Consolas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chemeClr val="lt1"/>
                </a:solidFill>
                <a:effectLst/>
                <a:uFillTx/>
                <a:latin typeface="Consolas"/>
              </a:rPr>
              <a:t>Código a desarrollar 2.</a:t>
            </a:r>
            <a:endParaRPr lang="es-MX" sz="1500" b="0" u="none" strike="noStrike">
              <a:solidFill>
                <a:schemeClr val="lt1"/>
              </a:solidFill>
              <a:effectLst/>
              <a:uFillTx/>
              <a:latin typeface="Consolas"/>
            </a:endParaRPr>
          </a:p>
        </p:txBody>
      </p:sp>
      <p:pic>
        <p:nvPicPr>
          <p:cNvPr id="72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esumen del cap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PlaceHolder 1"/>
          <p:cNvSpPr>
            <a:spLocks noGrp="1"/>
          </p:cNvSpPr>
          <p:nvPr>
            <p:ph type="body" hasCustomPrompt="1"/>
          </p:nvPr>
        </p:nvSpPr>
        <p:spPr>
          <a:xfrm>
            <a:off x="950760" y="2004840"/>
            <a:ext cx="7555320" cy="357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Menciona los puntos más importantes del capítulo.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75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s-MX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s-MX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s-MX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scripción de la práctica.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PlaceHolder 1"/>
          <p:cNvSpPr>
            <a:spLocks noGrp="1"/>
          </p:cNvSpPr>
          <p:nvPr>
            <p:ph type="title" hasCustomPrompt="1"/>
          </p:nvPr>
        </p:nvSpPr>
        <p:spPr>
          <a:xfrm>
            <a:off x="838080" y="365040"/>
            <a:ext cx="10515240" cy="223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buNone/>
              <a:defRPr lang="es-ES" sz="5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s-ES" sz="5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Nombre de la actividad</a:t>
            </a:r>
            <a:endParaRPr lang="es-MX" sz="50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79" name="Título 7"/>
          <p:cNvSpPr/>
          <p:nvPr/>
        </p:nvSpPr>
        <p:spPr>
          <a:xfrm>
            <a:off x="838080" y="4555800"/>
            <a:ext cx="516492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 lnSpcReduction="9999"/>
          </a:bodyPr>
          <a:p>
            <a:pPr defTabSz="914400">
              <a:lnSpc>
                <a:spcPct val="90000"/>
              </a:lnSpc>
            </a:pPr>
            <a:r>
              <a:rPr lang="es-ES" sz="2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Planteamiento e instrucciones: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 hasCustomPrompt="1"/>
          </p:nvPr>
        </p:nvSpPr>
        <p:spPr>
          <a:xfrm>
            <a:off x="1052640" y="3768840"/>
            <a:ext cx="10067400" cy="71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Al finalizar la actividad, serás capaz de…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 hasCustomPrompt="1"/>
          </p:nvPr>
        </p:nvSpPr>
        <p:spPr>
          <a:xfrm>
            <a:off x="1052640" y="4906800"/>
            <a:ext cx="10067400" cy="73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Descripción. </a:t>
            </a:r>
            <a:endParaRPr lang="es-MX" sz="18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body" hasCustomPrompt="1"/>
          </p:nvPr>
        </p:nvSpPr>
        <p:spPr>
          <a:xfrm>
            <a:off x="8459640" y="6243480"/>
            <a:ext cx="2893680" cy="24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6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XX minutos.</a:t>
            </a:r>
            <a:endParaRPr lang="es-MX" sz="16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83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olución de la práctica.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Imagen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PlaceHolder 1"/>
          <p:cNvSpPr>
            <a:spLocks noGrp="1"/>
          </p:cNvSpPr>
          <p:nvPr>
            <p:ph type="title" hasCustomPrompt="1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s-ES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Solución o producto final</a:t>
            </a:r>
            <a:endParaRPr lang="es-MX" sz="40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 hasCustomPrompt="1"/>
          </p:nvPr>
        </p:nvSpPr>
        <p:spPr>
          <a:xfrm>
            <a:off x="581040" y="1860480"/>
            <a:ext cx="10515240" cy="447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Imagen o descripción del posible resultado. 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87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eferencias bibligráficas del capítulo.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Imagen 3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PlaceHolder 1"/>
          <p:cNvSpPr>
            <a:spLocks noGrp="1"/>
          </p:cNvSpPr>
          <p:nvPr>
            <p:ph type="body" hasCustomPrompt="1"/>
          </p:nvPr>
        </p:nvSpPr>
        <p:spPr>
          <a:xfrm>
            <a:off x="371160" y="2803680"/>
            <a:ext cx="7919640" cy="342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285840" indent="-28584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Agrega las referencias bibliográficas. </a:t>
            </a:r>
            <a:endParaRPr lang="es-MX" sz="2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90" name="Título 1"/>
          <p:cNvSpPr/>
          <p:nvPr/>
        </p:nvSpPr>
        <p:spPr>
          <a:xfrm>
            <a:off x="371160" y="1161360"/>
            <a:ext cx="561456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s-MX" sz="28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Referencias 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s-MX" sz="28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Bibliográficas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" name="Imagen 2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inal de la presenta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Imagen 5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ítulo 1"/>
          <p:cNvSpPr/>
          <p:nvPr/>
        </p:nvSpPr>
        <p:spPr>
          <a:xfrm>
            <a:off x="478080" y="1122480"/>
            <a:ext cx="4023000" cy="32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¡Gracias!</a:t>
            </a:r>
            <a:endParaRPr lang="es-E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Marcador de texto 3"/>
          <p:cNvSpPr/>
          <p:nvPr/>
        </p:nvSpPr>
        <p:spPr>
          <a:xfrm>
            <a:off x="478080" y="4872960"/>
            <a:ext cx="3933000" cy="120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1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¿Dudas o comentarios?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n 4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scripción del curs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Imagen 5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body" hasCustomPrompt="1"/>
          </p:nvPr>
        </p:nvSpPr>
        <p:spPr>
          <a:xfrm>
            <a:off x="849600" y="1542600"/>
            <a:ext cx="4968720" cy="4248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just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just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Añade la descripción del curso. Esta debe tener una extensión aproximada de dos párrafos donde se explique qué es lo que se revisará o realizará en todo el curso.  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98" name="Título 1"/>
          <p:cNvSpPr/>
          <p:nvPr/>
        </p:nvSpPr>
        <p:spPr>
          <a:xfrm>
            <a:off x="838080" y="219600"/>
            <a:ext cx="5157000" cy="11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s-MX" sz="36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Descripción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 del curso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Imagen 2" descr="Imagen que contiene foto, mujer, teléfono, hombre  Descripción generada automáticamente"/>
          <p:cNvPicPr/>
          <p:nvPr/>
        </p:nvPicPr>
        <p:blipFill>
          <a:blip r:embed="rId3"/>
          <a:srcRect l="19980" t="0" r="23191" b="0"/>
          <a:stretch/>
        </p:blipFill>
        <p:spPr>
          <a:xfrm>
            <a:off x="6520320" y="727200"/>
            <a:ext cx="4702320" cy="482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Imagen 4" descr="Logotipo  Descripción generada automáticamente"/>
          <p:cNvPicPr/>
          <p:nvPr/>
        </p:nvPicPr>
        <p:blipFill>
          <a:blip r:embed="rId4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tivos del curs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body" hasCustomPrompt="1"/>
          </p:nvPr>
        </p:nvSpPr>
        <p:spPr>
          <a:xfrm>
            <a:off x="2761560" y="1900080"/>
            <a:ext cx="8563320" cy="4481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Añade los objetivos del curso.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102" name="Imagen 1" descr="Logotipo  Descripción generada automáticamente"/>
          <p:cNvPicPr/>
          <p:nvPr/>
        </p:nvPicPr>
        <p:blipFill>
          <a:blip r:embed="rId2"/>
          <a:srcRect l="45833" t="0" r="28181" b="0"/>
          <a:stretch/>
        </p:blipFill>
        <p:spPr>
          <a:xfrm>
            <a:off x="0" y="0"/>
            <a:ext cx="237528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Título 1"/>
          <p:cNvSpPr/>
          <p:nvPr/>
        </p:nvSpPr>
        <p:spPr>
          <a:xfrm>
            <a:off x="2761560" y="253440"/>
            <a:ext cx="8563320" cy="12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s-MX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Objetivos del curso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ángulo 5"/>
          <p:cNvSpPr/>
          <p:nvPr/>
        </p:nvSpPr>
        <p:spPr>
          <a:xfrm>
            <a:off x="2375640" y="524520"/>
            <a:ext cx="127800" cy="703800"/>
          </a:xfrm>
          <a:prstGeom prst="rect">
            <a:avLst/>
          </a:prstGeom>
          <a:solidFill>
            <a:srgbClr val="F5A700"/>
          </a:solidFill>
          <a:ln w="12700">
            <a:solidFill>
              <a:srgbClr val="F5A7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s-MX" sz="1800" b="0" u="none" strike="noStrike">
              <a:solidFill>
                <a:srgbClr val="FFFFFF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105" name="Imagen 3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10140120" y="603288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rrequisitos del curs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Imagen 4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body" hasCustomPrompt="1"/>
          </p:nvPr>
        </p:nvSpPr>
        <p:spPr>
          <a:xfrm>
            <a:off x="619200" y="3139920"/>
            <a:ext cx="6206760" cy="296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457200" indent="-4572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Agrega los prerrequisitos que debería tener el participante.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108" name="Imagen 2" descr="Icono  Descripción generada automáticamente"/>
          <p:cNvPicPr/>
          <p:nvPr/>
        </p:nvPicPr>
        <p:blipFill>
          <a:blip r:embed="rId3"/>
          <a:srcRect l="0" t="0" r="43610" b="0"/>
          <a:stretch/>
        </p:blipFill>
        <p:spPr>
          <a:xfrm>
            <a:off x="9320400" y="0"/>
            <a:ext cx="28710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ítulo 1"/>
          <p:cNvSpPr/>
          <p:nvPr/>
        </p:nvSpPr>
        <p:spPr>
          <a:xfrm>
            <a:off x="612720" y="1078920"/>
            <a:ext cx="6268320" cy="15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s-MX" sz="52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Prerrequisitos</a:t>
            </a:r>
            <a:endParaRPr lang="es-ES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Imagen 3" descr="Logotipo  Descripción generada automáticamente"/>
          <p:cNvPicPr/>
          <p:nvPr/>
        </p:nvPicPr>
        <p:blipFill>
          <a:blip r:embed="rId4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udiencia del curs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Imagen 4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PlaceHolder 1"/>
          <p:cNvSpPr>
            <a:spLocks noGrp="1"/>
          </p:cNvSpPr>
          <p:nvPr>
            <p:ph type="body" hasCustomPrompt="1"/>
          </p:nvPr>
        </p:nvSpPr>
        <p:spPr>
          <a:xfrm>
            <a:off x="878040" y="2262240"/>
            <a:ext cx="5800320" cy="3704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Añade el público objetivo al que está destinado este curso. 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pic>
        <p:nvPicPr>
          <p:cNvPr id="113" name="Picture 2" descr="Beneficios de la segmentación de audiencias"/>
          <p:cNvPicPr/>
          <p:nvPr/>
        </p:nvPicPr>
        <p:blipFill>
          <a:blip r:embed="rId3"/>
          <a:stretch/>
        </p:blipFill>
        <p:spPr>
          <a:xfrm>
            <a:off x="7794000" y="1847520"/>
            <a:ext cx="4097160" cy="316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ítulo 1"/>
          <p:cNvSpPr/>
          <p:nvPr/>
        </p:nvSpPr>
        <p:spPr>
          <a:xfrm>
            <a:off x="841320" y="978480"/>
            <a:ext cx="599076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s-MX" sz="32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Audiencia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Imagen 3" descr="Logotipo  Descripción generada automáticamente"/>
          <p:cNvPicPr/>
          <p:nvPr/>
        </p:nvPicPr>
        <p:blipFill>
          <a:blip r:embed="rId4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mario del curs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Imagen 4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body" hasCustomPrompt="1"/>
          </p:nvPr>
        </p:nvSpPr>
        <p:spPr>
          <a:xfrm>
            <a:off x="955800" y="2235240"/>
            <a:ext cx="10280160" cy="3833280"/>
          </a:xfrm>
          <a:prstGeom prst="rect">
            <a:avLst/>
          </a:prstGeom>
          <a:noFill/>
          <a:ln w="0">
            <a:noFill/>
          </a:ln>
        </p:spPr>
        <p:txBody>
          <a:bodyPr numCol="2" spcCol="0" lIns="91440" tIns="45720" rIns="91440" bIns="4572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  <a:lvl2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2pPr>
            <a:lvl3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3pPr>
            <a:lvl4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4pPr>
            <a:lvl5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5pPr>
          </a:lstStyle>
          <a:p>
            <a:pPr marL="228600" indent="-2286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Capítulo 1: 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Capítulo 2: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Capítulo 3: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Capítulo 4: 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ES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Capítulo 5: 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18" name="Título 1"/>
          <p:cNvSpPr/>
          <p:nvPr/>
        </p:nvSpPr>
        <p:spPr>
          <a:xfrm>
            <a:off x="838080" y="253440"/>
            <a:ext cx="10515240" cy="12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s-MX" sz="4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Temario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n 3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sentación del grup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Imagen 4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Marcador de contenido 2"/>
          <p:cNvSpPr/>
          <p:nvPr/>
        </p:nvSpPr>
        <p:spPr>
          <a:xfrm>
            <a:off x="396720" y="2309040"/>
            <a:ext cx="5065560" cy="36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marL="12600" defTabSz="914400">
              <a:lnSpc>
                <a:spcPct val="110000"/>
              </a:lnSpc>
              <a:spcBef>
                <a:spcPts val="360"/>
              </a:spcBef>
              <a:tabLst>
                <a:tab pos="0" algn="l"/>
              </a:tabLst>
            </a:pPr>
            <a:r>
              <a:rPr lang="es-MX" sz="22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¿Cuál es tu nombre?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1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10000"/>
              </a:lnSpc>
              <a:tabLst>
                <a:tab pos="0" algn="l"/>
              </a:tabLst>
            </a:pPr>
            <a:r>
              <a:rPr lang="es-MX" sz="22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¿Cuál es tu experiencia en desarrollo?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1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10000"/>
              </a:lnSpc>
              <a:tabLst>
                <a:tab pos="0" algn="l"/>
              </a:tabLst>
            </a:pPr>
            <a:r>
              <a:rPr lang="es-MX" sz="22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¿Qué tecnología/idea/software te ha impresionado?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10000"/>
              </a:lnSpc>
              <a:tabLst>
                <a:tab pos="0" algn="l"/>
              </a:tabLst>
            </a:pP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10000"/>
              </a:lnSpc>
              <a:tabLst>
                <a:tab pos="0" algn="l"/>
              </a:tabLst>
            </a:pPr>
            <a:r>
              <a:rPr lang="es-MX" sz="2200" b="0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¿Cuáles son tus expectativas respecto al curso?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ítulo 1"/>
          <p:cNvSpPr/>
          <p:nvPr/>
        </p:nvSpPr>
        <p:spPr>
          <a:xfrm>
            <a:off x="374760" y="856440"/>
            <a:ext cx="4992120" cy="12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s-MX" sz="34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Presentación del grupo</a:t>
            </a:r>
            <a:endParaRPr lang="es-E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n 3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tada del cap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Imagen 2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PlaceHolder 1"/>
          <p:cNvSpPr>
            <a:spLocks noGrp="1"/>
          </p:cNvSpPr>
          <p:nvPr>
            <p:ph type="body" hasCustomPrompt="1"/>
          </p:nvPr>
        </p:nvSpPr>
        <p:spPr>
          <a:xfrm>
            <a:off x="6240240" y="1011240"/>
            <a:ext cx="5278320" cy="1694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marL="228600" indent="-22860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Agrega los objetivos del capítulo.</a:t>
            </a:r>
            <a:endParaRPr lang="es-MX" sz="1800" b="0" u="none" strike="noStrike">
              <a:solidFill>
                <a:srgbClr val="FF0000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title" hasCustomPrompt="1"/>
          </p:nvPr>
        </p:nvSpPr>
        <p:spPr>
          <a:xfrm>
            <a:off x="576000" y="1124640"/>
            <a:ext cx="5375160" cy="3172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es-MX" sz="8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s-MX" sz="8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Capítulo X</a:t>
            </a:r>
            <a:endParaRPr lang="es-MX" sz="80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 hasCustomPrompt="1"/>
          </p:nvPr>
        </p:nvSpPr>
        <p:spPr>
          <a:xfrm>
            <a:off x="576000" y="4689360"/>
            <a:ext cx="11025000" cy="14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MX" sz="2800" b="0" u="none" strike="noStrike">
                <a:solidFill>
                  <a:srgbClr val="FF0000"/>
                </a:solidFill>
                <a:effectLst/>
                <a:uFillTx/>
                <a:latin typeface="Neue Haas Grotesk Text Pro"/>
              </a:defRPr>
            </a:lvl1pPr>
            <a:lvl2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MX" sz="2800" b="0" u="none" strike="noStrike">
                <a:solidFill>
                  <a:srgbClr val="FF0000"/>
                </a:solidFill>
                <a:effectLst/>
                <a:uFillTx/>
                <a:latin typeface="Neue Haas Grotesk Text Pro"/>
              </a:defRPr>
            </a:lvl2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2800" b="0" u="none" strike="noStrike">
                <a:solidFill>
                  <a:srgbClr val="FF0000"/>
                </a:solidFill>
                <a:effectLst/>
                <a:uFillTx/>
                <a:latin typeface="Neue Haas Grotesk Text Pro"/>
              </a:rPr>
              <a:t>Nombre del capítulo</a:t>
            </a:r>
            <a:endParaRPr lang="es-MX" sz="2800" b="0" u="none" strike="noStrike">
              <a:solidFill>
                <a:srgbClr val="FF0000"/>
              </a:solidFill>
              <a:effectLst/>
              <a:uFillTx/>
              <a:latin typeface="Neue Haas Grotesk Text Pro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MX" sz="2800" b="0" u="none" strike="noStrike">
              <a:solidFill>
                <a:srgbClr val="FF0000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28" name="Título 1"/>
          <p:cNvSpPr/>
          <p:nvPr/>
        </p:nvSpPr>
        <p:spPr>
          <a:xfrm>
            <a:off x="6527520" y="592200"/>
            <a:ext cx="49906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algn="r" defTabSz="914400">
              <a:lnSpc>
                <a:spcPct val="90000"/>
              </a:lnSpc>
              <a:tabLst>
                <a:tab pos="0" algn="l"/>
              </a:tabLst>
            </a:pPr>
            <a:r>
              <a:rPr lang="es-MX" sz="2000" b="1" u="none" strike="noStrike">
                <a:solidFill>
                  <a:srgbClr val="000000"/>
                </a:solidFill>
                <a:effectLst/>
                <a:uFillTx/>
                <a:latin typeface="Neue Haas Grotesk Text Pro"/>
              </a:rPr>
              <a:t>Objetivos: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Imagen 1" descr="Logotipo  Descripción generada automáticamente"/>
          <p:cNvPicPr/>
          <p:nvPr/>
        </p:nvPicPr>
        <p:blipFill>
          <a:blip r:embed="rId3"/>
          <a:stretch/>
        </p:blipFill>
        <p:spPr>
          <a:xfrm>
            <a:off x="0" y="6075720"/>
            <a:ext cx="2051640" cy="811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hasCustomPrompt="1"/>
          </p:nvPr>
        </p:nvSpPr>
        <p:spPr>
          <a:xfrm>
            <a:off x="478080" y="1189080"/>
            <a:ext cx="4090680" cy="447912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Administración de Confluent Apache Kafka (SUNAT)</a:t>
            </a:r>
            <a:endParaRPr lang="es-MX" sz="48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Capítulo 1 — Arquitectura, fundamentos y ecosistema</a:t>
            </a:r>
            <a:endParaRPr lang="es-MX" sz="48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8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Unidad 1 · Teoría (Sesiones 1–3)</a:t>
            </a:r>
            <a:endParaRPr lang="es-MX" sz="4800" b="1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Agenda y las reglas del juego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Las 4 unidades en una línea cada una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45% teoría / 55% práctica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14 labs + capstone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Stack: Kafka 4.2 / Confluent Platform 8.2.0 / KRaft / Docker.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NovaTech Logistics: el caso que nos acompaña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0" cy="329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Flota de miles de vehículos emitiendo posición y eventos.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Sistemas hoy acoplados y frágiles.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Decisión: una Plataforma de Eventos sobre Kafka.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curso la construye.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41" name="Rounded Rectangle 3"/>
          <p:cNvSpPr/>
          <p:nvPr/>
        </p:nvSpPr>
        <p:spPr>
          <a:xfrm>
            <a:off x="731520" y="4892040"/>
            <a:ext cx="10698120" cy="155412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s-MX" sz="1200" b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DIAGRAMA — pendiente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MX" sz="11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Flota → Plataforma de Eventos (Kafka) → consumidores (ruteo, facturación por km, tablero de operaciones, detección de anomalías). Mapa narrativo del curso.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cableado directo: la telaraña que se paga cara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N sistemas hablándose directo = N×(N−1) conexiones.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Cada sistema nuevo obliga a tocar los existentes.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Acoplamiento estructural.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Acoplamiento temporal: el tirano invisible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Síncrono = el que llama espera al que responde.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Si el receptor cae, el emisor cae con él.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La disponibilidad de un sistema queda atada a la de todos a los que llama.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Desacoplar en el tiempo, el espacio y el flujo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Asincronía: el emisor deja el evento y sigue; el receptor lo toma cuando puede.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Tres desacoplamientos: temporal (cuándo), espacio (dónde), flujo (a qué ritmo).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Cola vs log de eventos: NO son lo mismo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0" cy="329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Cola clásica: el mensaje se consume y desaparece.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Log (Kafka): el mensaje se queda; muchos consumidores leen el mismo evento a su ritmo, cada uno con su offset.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50" name="Rounded Rectangle 3"/>
          <p:cNvSpPr/>
          <p:nvPr/>
        </p:nvSpPr>
        <p:spPr>
          <a:xfrm>
            <a:off x="731520" y="4892040"/>
            <a:ext cx="10698120" cy="155412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s-MX" sz="1200" b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DIAGRAMA — pendiente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MX" sz="11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arriba una cola vaciándose; abajo un log append-only con 3 consumidores en offsets distintos del MISMO log. Es el concepto que más cuesta.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evento: un hecho inmutable con clave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Un evento es un hecho ya ocurrido ("el vehículo 47 reportó posición X"), no una orden.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Los hechos no se editan: se corrigen con nuevos hechos → el log solo crece.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Estructura mínima: clave (decide orden y destino), valor, timestamp, headers.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log: la estructura más subestimada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Secuencia ordenada, solo-anexar, numerada.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Simple hasta lo aburrido — y por eso rapidísima: escribir es "al final", leer es secuencial.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La genialidad de Kafka es distribuir esa estructura trivial.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Cierre Sesión 1: la promesa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Tres ideas: (1) el acoplamiento síncrono se paga en cascada, (2) el log desacopla en tiempo/espacio/flujo, (3) un evento es un hecho inmutable con clave.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Mañana: cómo Kafka vuelve ese log un sistema distribuido.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Vista de helicóptero de un clúster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0" cy="329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elenco completo en un dibujo: brokers formando clúster, tópicos en particiones repartidas, productores escribiendo, consumidores leyendo, réplicas detrás de cada líder.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59" name="Rounded Rectangle 3"/>
          <p:cNvSpPr/>
          <p:nvPr/>
        </p:nvSpPr>
        <p:spPr>
          <a:xfrm>
            <a:off x="731520" y="4892040"/>
            <a:ext cx="10698120" cy="155412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s-MX" sz="1200" b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DIAGRAMA — pendiente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MX" sz="11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el **mapa maestro del plano de datos** — 3 brokers, un tópico con 3 particiones distribuidas, líderes y réplicas con color. Reaparece iluminada en capítulos siguientes.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Broker, tópico y partición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Broker = proceso que recibe/almacena/sirve eventos (el caballo de carga).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Tópico = nombre lógico.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Partición = unidad física y de paralelismo; cada una es un log independiente y ordenado.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orden se garantiza DENTRO de una partición, no entre particiones.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Productor, consumidor y consumer group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Productor escribe (y vía la clave influye la partición).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Consumidor lee y lleva su offset.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Los consumidores se agrupan para repartirse las particiones y escalar horizontalmente.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offset: la memoria de quién leyó qué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Cada evento tiene un número secuencial: el offset.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consumidor no borra; solo avanza.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Dos consumidores leen el mismo evento sin estorbarse porque cada uno recuerda su posición.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Recap del plano de datos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Diagrama de S11 anotado: broker (trabajo), partición (paralelismo+orden), offset (memoria), y lo que viene: réplicas.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Replicación e ISR: el círculo de confianza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0" cy="329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Cada partición se copia en varios brokers (factor de replicación).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Una es líder; las demás, seguidoras que copian.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Las que están *al día* forman el ISR (in-sync replicas).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Solo una del ISR puede ser promovida a líder.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70" name="Rounded Rectangle 3"/>
          <p:cNvSpPr/>
          <p:nvPr/>
        </p:nvSpPr>
        <p:spPr>
          <a:xfrm>
            <a:off x="731520" y="4892040"/>
            <a:ext cx="10698120" cy="155412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s-MX" sz="1200" b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DIAGRAMA — pendiente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MX" sz="11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una partición con líder en broker-1, seguidoras en broker-2/3, flechas de replicación, y el ISR marcado. Sostiene S17 y S18.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La tríada de la durabilidad: acks, RF y min.ISR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Tres perillas que juntas responden "¿cuán seguro está mi evento?": factor de replicación (cuántas copias), `min.insync.replicas` (cuántas al día para aceptar la escritura), `acks` del productor (cuántas confirmaciones espera).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 calibran en conjunto.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Cuando un broker cae: el momento de la verdad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Secuencia: cae el líder de ciertas particiones → Kafka lo detecta → promueve una réplica del ISR a nueva líder → productores/consumidores redirigen → el servicio continúa.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Sin humanos.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límite honesto de la replicación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Tolerar la caída de N brokers exige más de N réplicas al día — cuesta disco, red, latencia.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Un clúster de 3 con RF 3 tolera perder 1, no 2.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La resiliencia se dimensiona, no se desea.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Quién manda aquí: el plano de control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Alguien lleva la cuenta de qué brokers existen, qué particiones hay, quién es líder, y decide las elecciones.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Eso es el plano de control (metadatos), distinto del plano de datos (los eventos).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Antes lo hacía ZooKeeper; Kafka 4.2 lo hace *dentro*, con KRaft.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La Unidad 2 se dedica a eso.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Apache Kafka vs Confluent Platform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Apache Kafka (open source) = el núcleo: brokers, tópicos, el log.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Confluent Platform 8.2.0 lo empaqueta y le añade componentes empresariales.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Este curso trabaja sobre Confluent Platform, en KRaft.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ecosistema en una imagen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0" cy="329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Capas concéntricas: centro Kafka (brokers + KRaft); anillo 1 conectores (Connect, REST Proxy); anillo 2 gobierno (Schema Registry); anillo 3 procesamiento (ksqlDB); alrededor operación (Control Center, CLI).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83" name="Rounded Rectangle 3"/>
          <p:cNvSpPr/>
          <p:nvPr/>
        </p:nvSpPr>
        <p:spPr>
          <a:xfrm>
            <a:off x="731520" y="4892040"/>
            <a:ext cx="10698120" cy="155412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s-MX" sz="1200" b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DIAGRAMA — pendiente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MX" sz="11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las capas concéntricas alrededor de Kafka. Pieza de orientación clave; reutilizable.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Cómo se conectan: todo pasa por Kafka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Connect escribe/lee tópicos, Schema Registry guarda esquemas en un tópico, ksqlDB consume/produce tópicos, REST Proxy traduce HTTP a protocolo Kafka.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Kafka es el sustrato; el resto, especialistas conectados.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Kafka Connect: integración sin código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Mueve datos entre Kafka y sistemas externos con *connectors* configurables.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Source (hacia Kafka) y Sink (desde Kafka).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Workers, tasks, offsets.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Schema Registry: el notario de los datos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Registra y versiona esquemas.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Verifica compatibilidad (BACKWARD, FORWARD, FULL) e impide publicar mensajes que rompan el contrato con los consumidores existentes.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ksqlDB y REST Proxy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ksqlDB = SQL sobre flujos en movimiento (STREAM, TABLE, consultas persistentes).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REST Proxy = Kafka sobre HTTP, para quien no habla protocolo Kafka nativo.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Exploración visual y operación (Landoop → Kafbat)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Interfaces gráficas para explorar tópicos/mensajes sin CLI.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temario nombra "Landoop"; el curso usa su reemplazo activo, compatible con Kafka 4.x.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Confluent CLI y Control Center para operar y observar.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El stack real, sin humo + mapa componente→lab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0" cy="329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Tabla del stack concreto (Kafka 4.2, CP 8.2.0, KRaft, Java 21, Docker, `cp-kafka:8.2.0`, Kafbat UI) + cada componente anotado con su lab (Connect→13, Schema Registry→11, ksqlDB→12, REST Proxy→10, seguridad→14).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96" name="Rounded Rectangle 3"/>
          <p:cNvSpPr/>
          <p:nvPr/>
        </p:nvSpPr>
        <p:spPr>
          <a:xfrm>
            <a:off x="731520" y="4892040"/>
            <a:ext cx="10698120" cy="155412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s-MX" sz="1200" b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DIAGRAMA — pendiente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MX" sz="11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el ecosistema de S22 con etiquetas de lab sobre cada pieza (reutiliza el ancla, anotado).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hasCustomPrompt="1"/>
          </p:nvPr>
        </p:nvSpPr>
        <p:spPr>
          <a:xfrm>
            <a:off x="950760" y="2004840"/>
            <a:ext cx="7555320" cy="357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Lo que ya sabemos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Síntesis en tres frases: (1) Kafka desacopla sistemas vía un log de eventos, (2) su arquitectura distribuida da durabilidad y tolerancia a fallos, (3) Confluent rodea ese núcleo con un ecosistema de especialistas.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Mañana: manos al clúster con KRaft.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hasCustomPrompt="1"/>
          </p:nvPr>
        </p:nvSpPr>
        <p:spPr>
          <a:xfrm>
            <a:off x="664920" y="0"/>
            <a:ext cx="1093536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MX" sz="4000" b="1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Preguntas y discusión dirigida</a:t>
            </a:r>
            <a:endParaRPr lang="es-MX" sz="40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665280" y="1330200"/>
            <a:ext cx="10936080" cy="474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28600" indent="-228600" algn="just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MX" sz="2200" b="0" u="none" strike="noStrike">
                <a:solidFill>
                  <a:schemeClr val="dk1"/>
                </a:solidFill>
                <a:effectLst/>
                <a:uFillTx/>
                <a:latin typeface="Neue Haas Grotesk Text Pro"/>
              </a:rPr>
              <a:t>Tres preguntas: ¿Qué integran hoy de forma síncrona que dolería desacoplar? ¿Qué componente les resolvería un problema actual? ¿Alguien operó Kafka con ZooKeeper y quiere contrastar con KRaft?</a:t>
            </a:r>
            <a:endParaRPr lang="es-MX" sz="2200" b="0" u="none" strike="noStrike">
              <a:solidFill>
                <a:schemeClr val="dk1"/>
              </a:solidFill>
              <a:effectLst/>
              <a:uFillTx/>
              <a:latin typeface="Neue Haas Grotesk Text Pr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DDA8F6D7AA6E5489021B3A9BFE1B690" ma:contentTypeVersion="6" ma:contentTypeDescription="Crear nuevo documento." ma:contentTypeScope="" ma:versionID="f53228d608ed07a4114ac485427a30f5">
  <xsd:schema xmlns:xsd="http://www.w3.org/2001/XMLSchema" xmlns:xs="http://www.w3.org/2001/XMLSchema" xmlns:p="http://schemas.microsoft.com/office/2006/metadata/properties" xmlns:ns2="ce9bf48c-383f-4cf5-9238-89d01d1a4f24" xmlns:ns3="8b1b9a19-fa78-4837-862b-642c704f22fd" targetNamespace="http://schemas.microsoft.com/office/2006/metadata/properties" ma:root="true" ma:fieldsID="6236275847a3bb9654d9e266710ba071" ns2:_="" ns3:_="">
    <xsd:import namespace="ce9bf48c-383f-4cf5-9238-89d01d1a4f24"/>
    <xsd:import namespace="8b1b9a19-fa78-4837-862b-642c704f22f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9bf48c-383f-4cf5-9238-89d01d1a4f2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1b9a19-fa78-4837-862b-642c704f22f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DDF3AA2-98BA-4389-84C9-25EEDB47308C}">
  <ds:schemaRefs>
    <ds:schemaRef ds:uri="http://purl.org/dc/elements/1.1/"/>
    <ds:schemaRef ds:uri="http://www.w3.org/XML/1998/namespace"/>
    <ds:schemaRef ds:uri="8b1b9a19-fa78-4837-862b-642c704f22fd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ce9bf48c-383f-4cf5-9238-89d01d1a4f2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CE9474C-3776-4A62-9822-26202BD999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E89FD61-8381-4E9F-A8B6-946D727E3BB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e9bf48c-383f-4cf5-9238-89d01d1a4f24"/>
    <ds:schemaRef ds:uri="8b1b9a19-fa78-4837-862b-642c704f22f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Plantilla Desarrollo Basico - Aumentado (4)</Template>
  <TotalTime>17066</TotalTime>
  <Application>LibreOffice/26.2.2.2$MacOSX_AARCH64 LibreOffice_project/1f77d10d6938fd34972958f64b2bcfa54f8b1ba5</Application>
  <AppVersion>15.0000</AppVersion>
  <Words>1054</Words>
  <Paragraphs>79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2023-12-12T18:54:59Z</dcterms:created>
  <dc:creator>Rodrigo Silva</dc:creator>
  <dc:description/>
  <dc:language>es-ES</dc:language>
  <cp:lastModifiedBy>Rodrigo Silva</cp:lastModifiedBy>
  <dcterms:modified xsi:type="dcterms:W3CDTF">2026-06-11T23:35:05Z</dcterms:modified>
  <cp:revision>49</cp:revision>
  <dc:subject/>
  <dc:title>Cap 1 — Arquitectura, fundamentos y ecosistema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0x0101006DDA8F6D7AA6E5489021B3A9BFE1B690</vt:lpwstr>
  </property>
  <property fmtid="{D5CDD505-2E9C-101B-9397-08002B2CF9AE}" pid="3" name="MSIP_Label_5961e708-1402-4612-a13a-d4cd7db65271_ActionId">
    <vt:lpwstr>d57eb1a8-d285-4338-92ca-6c977db92a6a</vt:lpwstr>
  </property>
  <property fmtid="{D5CDD505-2E9C-101B-9397-08002B2CF9AE}" pid="4" name="MSIP_Label_5961e708-1402-4612-a13a-d4cd7db65271_ContentBits">
    <vt:lpwstr>0</vt:lpwstr>
  </property>
  <property fmtid="{D5CDD505-2E9C-101B-9397-08002B2CF9AE}" pid="5" name="MSIP_Label_5961e708-1402-4612-a13a-d4cd7db65271_Enabled">
    <vt:lpwstr>true</vt:lpwstr>
  </property>
  <property fmtid="{D5CDD505-2E9C-101B-9397-08002B2CF9AE}" pid="6" name="MSIP_Label_5961e708-1402-4612-a13a-d4cd7db65271_Method">
    <vt:lpwstr>Privileged</vt:lpwstr>
  </property>
  <property fmtid="{D5CDD505-2E9C-101B-9397-08002B2CF9AE}" pid="7" name="MSIP_Label_5961e708-1402-4612-a13a-d4cd7db65271_Name">
    <vt:lpwstr>Público</vt:lpwstr>
  </property>
  <property fmtid="{D5CDD505-2E9C-101B-9397-08002B2CF9AE}" pid="8" name="MSIP_Label_5961e708-1402-4612-a13a-d4cd7db65271_SetDate">
    <vt:lpwstr>2026-06-09T22:36:04Z</vt:lpwstr>
  </property>
  <property fmtid="{D5CDD505-2E9C-101B-9397-08002B2CF9AE}" pid="9" name="MSIP_Label_5961e708-1402-4612-a13a-d4cd7db65271_SiteId">
    <vt:lpwstr>c0d4f0b3-9edd-4cee-b7f9-caf9a448f665</vt:lpwstr>
  </property>
  <property fmtid="{D5CDD505-2E9C-101B-9397-08002B2CF9AE}" pid="10" name="MSIP_Label_5961e708-1402-4612-a13a-d4cd7db65271_Tag">
    <vt:lpwstr>10, 0, 1, 1</vt:lpwstr>
  </property>
  <property fmtid="{D5CDD505-2E9C-101B-9397-08002B2CF9AE}" pid="11" name="PresentationFormat">
    <vt:lpwstr>Panorámica</vt:lpwstr>
  </property>
  <property fmtid="{D5CDD505-2E9C-101B-9397-08002B2CF9AE}" pid="12" name="Slides">
    <vt:r8>69</vt:r8>
  </property>
</Properties>
</file>